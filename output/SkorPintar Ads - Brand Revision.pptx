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3137cc9cf42be" /><Relationship Type="http://schemas.openxmlformats.org/officeDocument/2006/relationships/extended-properties" Target="/docProps/app.xml" Id="R617e7fa72452478f" /><Relationship Type="http://schemas.openxmlformats.org/officeDocument/2006/relationships/officeDocument" Target="/ppt/presentation.xml" Id="R6fe3742b9cfa4b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ce8346c9c4e33"/>
  </p:sldMasterIdLst>
  <p:notesMasterIdLst>
    <p:notesMasterId xmlns:r="http://schemas.openxmlformats.org/officeDocument/2006/relationships" r:id="R20db8115f8764ff4"/>
  </p:notesMasterIdLst>
  <p:sldIdLst>
    <p:sldId xmlns:r="http://schemas.openxmlformats.org/officeDocument/2006/relationships" id="256" r:id="Ra60793f50e3a4f7b"/>
    <p:sldId xmlns:r="http://schemas.openxmlformats.org/officeDocument/2006/relationships" id="257" r:id="R72a76b9714ed4407"/>
    <p:sldId xmlns:r="http://schemas.openxmlformats.org/officeDocument/2006/relationships" id="258" r:id="R7ea7d9ef639d4f4c"/>
    <p:sldId xmlns:r="http://schemas.openxmlformats.org/officeDocument/2006/relationships" id="259" r:id="R029d30b978914b11"/>
    <p:sldId xmlns:r="http://schemas.openxmlformats.org/officeDocument/2006/relationships" id="260" r:id="Ra91f2135437a4a06"/>
    <p:sldId xmlns:r="http://schemas.openxmlformats.org/officeDocument/2006/relationships" id="261" r:id="R7cc68ff782284430"/>
    <p:sldId xmlns:r="http://schemas.openxmlformats.org/officeDocument/2006/relationships" id="262" r:id="Rda88bb440256486c"/>
    <p:sldId xmlns:r="http://schemas.openxmlformats.org/officeDocument/2006/relationships" id="263" r:id="R04756827a6c04eec"/>
    <p:sldId xmlns:r="http://schemas.openxmlformats.org/officeDocument/2006/relationships" id="264" r:id="R5aced0b116214867"/>
    <p:sldId xmlns:r="http://schemas.openxmlformats.org/officeDocument/2006/relationships" id="265" r:id="Re432be29ed254d69"/>
    <p:sldId xmlns:r="http://schemas.openxmlformats.org/officeDocument/2006/relationships" id="266" r:id="R694257a792f44f1d"/>
    <p:sldId xmlns:r="http://schemas.openxmlformats.org/officeDocument/2006/relationships" id="267" r:id="Rda53df3e0450451d"/>
    <p:sldId xmlns:r="http://schemas.openxmlformats.org/officeDocument/2006/relationships" id="268" r:id="R1e7864fd5e644449"/>
    <p:sldId xmlns:r="http://schemas.openxmlformats.org/officeDocument/2006/relationships" id="269" r:id="Ree0640b419974c92"/>
    <p:sldId xmlns:r="http://schemas.openxmlformats.org/officeDocument/2006/relationships" id="270" r:id="Rde09e7ced66e40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49298a875d47a7" /><Relationship Type="http://schemas.openxmlformats.org/officeDocument/2006/relationships/slideMaster" Target="/ppt/slideMasters/slideMaster1.xml" Id="Rdc3ce8346c9c4e33" /><Relationship Type="http://schemas.openxmlformats.org/officeDocument/2006/relationships/notesMaster" Target="/ppt/notesMasters/notesMaster1.xml" Id="R20db8115f8764ff4" /><Relationship Type="http://schemas.openxmlformats.org/officeDocument/2006/relationships/presProps" Target="/ppt/presProps.xml" Id="R86773c08c16f42bc" /><Relationship Type="http://schemas.openxmlformats.org/officeDocument/2006/relationships/tableStyles" Target="/ppt/tableStyles.xml" Id="R2f67b0f3bc6f475e" /><Relationship Type="http://schemas.openxmlformats.org/officeDocument/2006/relationships/slide" Target="/ppt/slides/slide1.xml" Id="Ra60793f50e3a4f7b" /><Relationship Type="http://schemas.openxmlformats.org/officeDocument/2006/relationships/slide" Target="/ppt/slides/slide2.xml" Id="R72a76b9714ed4407" /><Relationship Type="http://schemas.openxmlformats.org/officeDocument/2006/relationships/slide" Target="/ppt/slides/slide3.xml" Id="R7ea7d9ef639d4f4c" /><Relationship Type="http://schemas.openxmlformats.org/officeDocument/2006/relationships/slide" Target="/ppt/slides/slide4.xml" Id="R029d30b978914b11" /><Relationship Type="http://schemas.openxmlformats.org/officeDocument/2006/relationships/slide" Target="/ppt/slides/slide5.xml" Id="Ra91f2135437a4a06" /><Relationship Type="http://schemas.openxmlformats.org/officeDocument/2006/relationships/slide" Target="/ppt/slides/slide6.xml" Id="R7cc68ff782284430" /><Relationship Type="http://schemas.openxmlformats.org/officeDocument/2006/relationships/slide" Target="/ppt/slides/slide7.xml" Id="Rda88bb440256486c" /><Relationship Type="http://schemas.openxmlformats.org/officeDocument/2006/relationships/slide" Target="/ppt/slides/slide8.xml" Id="R04756827a6c04eec" /><Relationship Type="http://schemas.openxmlformats.org/officeDocument/2006/relationships/slide" Target="/ppt/slides/slide9.xml" Id="R5aced0b116214867" /><Relationship Type="http://schemas.openxmlformats.org/officeDocument/2006/relationships/slide" Target="/ppt/slides/slide10.xml" Id="Re432be29ed254d69" /><Relationship Type="http://schemas.openxmlformats.org/officeDocument/2006/relationships/slide" Target="/ppt/slides/slide11.xml" Id="R694257a792f44f1d" /><Relationship Type="http://schemas.openxmlformats.org/officeDocument/2006/relationships/slide" Target="/ppt/slides/slide12.xml" Id="Rda53df3e0450451d" /><Relationship Type="http://schemas.openxmlformats.org/officeDocument/2006/relationships/slide" Target="/ppt/slides/slide13.xml" Id="R1e7864fd5e644449" /><Relationship Type="http://schemas.openxmlformats.org/officeDocument/2006/relationships/slide" Target="/ppt/slides/slide14.xml" Id="Ree0640b419974c92" /><Relationship Type="http://schemas.openxmlformats.org/officeDocument/2006/relationships/slide" Target="/ppt/slides/slide15.xml" Id="Rde09e7ced66e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faa9278a8b48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195fd7e91476d" /><Relationship Type="http://schemas.openxmlformats.org/officeDocument/2006/relationships/notesMaster" Target="/ppt/notesMasters/notesMaster1.xml" Id="R26a1f16f9722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06285e26d34c7f" /><Relationship Type="http://schemas.openxmlformats.org/officeDocument/2006/relationships/notesMaster" Target="/ppt/notesMasters/notesMaster1.xml" Id="Ref3648028740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7c29f26e54a6e" /><Relationship Type="http://schemas.openxmlformats.org/officeDocument/2006/relationships/notesMaster" Target="/ppt/notesMasters/notesMaster1.xml" Id="R9dad0f627100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f64a0cc104466" /><Relationship Type="http://schemas.openxmlformats.org/officeDocument/2006/relationships/notesMaster" Target="/ppt/notesMasters/notesMaster1.xml" Id="R12d622be20674e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bbac5e85d47d7" /><Relationship Type="http://schemas.openxmlformats.org/officeDocument/2006/relationships/notesMaster" Target="/ppt/notesMasters/notesMaster1.xml" Id="Rf35a5ea859a949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c8bdf30b174044" /><Relationship Type="http://schemas.openxmlformats.org/officeDocument/2006/relationships/notesMaster" Target="/ppt/notesMasters/notesMaster1.xml" Id="R8083a6e9084a45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180dec31e94c2b" /><Relationship Type="http://schemas.openxmlformats.org/officeDocument/2006/relationships/notesMaster" Target="/ppt/notesMasters/notesMaster1.xml" Id="R0fce926f10e04a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94a9d531024018" /><Relationship Type="http://schemas.openxmlformats.org/officeDocument/2006/relationships/notesMaster" Target="/ppt/notesMasters/notesMaster1.xml" Id="R59e23b94b421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5e893ed0284767" /><Relationship Type="http://schemas.openxmlformats.org/officeDocument/2006/relationships/notesMaster" Target="/ppt/notesMasters/notesMaster1.xml" Id="R09cff451e9de42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87734ef78e4449" /><Relationship Type="http://schemas.openxmlformats.org/officeDocument/2006/relationships/notesMaster" Target="/ppt/notesMasters/notesMaster1.xml" Id="Re689bb4013464a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415f809f394e7a" /><Relationship Type="http://schemas.openxmlformats.org/officeDocument/2006/relationships/notesMaster" Target="/ppt/notesMasters/notesMaster1.xml" Id="Rfef36c418b164b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573adc34e04537" /><Relationship Type="http://schemas.openxmlformats.org/officeDocument/2006/relationships/notesMaster" Target="/ppt/notesMasters/notesMaster1.xml" Id="Rcd53892581ad4e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fa17806f104e8e" /><Relationship Type="http://schemas.openxmlformats.org/officeDocument/2006/relationships/notesMaster" Target="/ppt/notesMasters/notesMaster1.xml" Id="R8fc1f71d003b42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9c1baf7e164c79" /><Relationship Type="http://schemas.openxmlformats.org/officeDocument/2006/relationships/notesMaster" Target="/ppt/notesMasters/notesMaster1.xml" Id="Rf97cb8fcde9e41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7cc8dd5ad244f0" /><Relationship Type="http://schemas.openxmlformats.org/officeDocument/2006/relationships/notesMaster" Target="/ppt/notesMasters/notesMaster1.xml" Id="Rf284fd2df6ff4c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SkorPintar Ads menghubungkan data listing dengan penyusunan strategi, produksi creative, dan pengelolaan campaign. AI Strategi Iklan menyusun strategi. AI Produksi Creative mengelola produksi creative.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 iklan saat ini kehilangan banyak waktu mengelola alur informasi antar sistem yang tidak terhubung.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SkorPintar Ads menempatkan AI Strategi Iklan dan AI Produksi Creative di tengah untuk mengelola alur dari hulu (data) ke hilir (iklan tayang).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Alur lengkap: Listing &amp; Knowledge; AI Strategi Iklan; Campaign Plan; structured creative brief; Concepts &amp; Storyboard; Generation; Asset Library; QA; Simulation &amp; Shortlist; Campaign Builder; Meta Preflight; Publish; Performance Feedback. Integrasi end-to-end masih dalam validasi.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akurat adalah kunci. Informasi campaign selalu bersumber dari basis data bisnis Anda.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Strategi Iklan memproses data kasar menjadi draf strategi yang siap ditinjau sebelum eksekusi.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Rekomendasi strategi dari AI Strategi Iklan langsung terhubung ke pengaturan Campaign Builder. Konfigurasi dan budget yang tampil merupakan ilustrasi.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Produksi Creative tidak hanya untuk video. Proses produksinya terstruktur dari konsep hingga aset jadi.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job dan hasil generasi terpantau jelas. Aset dapat dilihat dan ditelusuri versi revisinya. Jumlah job dan aset adalah ilustrasi.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Simulasi memberikan indikator kesiapan creative berdasarkan best practice, bukan jaminan metrik akhir. Ilustrasi: Creative Stress Test &amp; Simulation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Sistem mengecek kelayakan sebelum publish. Jika ada policy blocker, alasan akan ditampilkan agar dapat diperbaiki. Fitur Meta Preflight masih dalam validasi.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Strategi Iklan memberikan alasan dan bukti. Pengguna yang melakukan approve atau reject.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Autonomous berarti AI mengeksekusi dalam batasan aman (guardrails) yang Anda tentukan, tidak tanpa pengawasan. Ilustrasi Growth Settings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Satu listing menjadi titik awal: data masuk, AI Strategi Iklan menyusun strategi, AI Produksi Creative menghasilkan konsep visual, lalu tim meninjau QA dan campaign sebelum mengevaluasi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produk mengikuti materi sumber. AI Strategi Iklan Strategist dan AI Produksi Creative Creative Flow telah didemonstrasikan. Publish end-to-end Meta serta Autonomous Direction masih dalam validasi. Integrasi CRM penuh dan aturan scaling lanjut merupakan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ea93750d34e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8c3ab02a84b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3a95d38a542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2a473035548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bb8f1e9a647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4d9cae64349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AF8CB-C343-4539-80E7-2B5C46C6F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A4B0AD-E508-4999-B670-06F9D82225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13CCA2-2A4A-418B-AE5D-78F5659BA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96D471-808E-4CE6-BF32-CAB8D87B0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36FE3F-1F53-4B04-94F9-EA34A36BB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1FFB0F-437F-43AB-9DB9-C9026EF34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E651EB-554D-47B3-85F8-A99E36C855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981C14-3610-40E6-B84C-5759162194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575B9A-1C4E-40EC-A271-86E3CA78D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CAADA4-AEA7-4799-B917-52CFEB611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fdcea7b0f4848" /><Relationship Type="http://schemas.openxmlformats.org/officeDocument/2006/relationships/slideLayout" Target="/ppt/slideLayouts/slideLayout1.xml" Id="Rc96e5ed94c1e48d8" /><Relationship Type="http://schemas.openxmlformats.org/officeDocument/2006/relationships/slideLayout" Target="/ppt/slideLayouts/slideLayout2.xml" Id="Rcc77d516135e4451" /><Relationship Type="http://schemas.openxmlformats.org/officeDocument/2006/relationships/slideLayout" Target="/ppt/slideLayouts/slideLayout3.xml" Id="R1db6a34e06104468" /><Relationship Type="http://schemas.openxmlformats.org/officeDocument/2006/relationships/slideLayout" Target="/ppt/slideLayouts/slideLayout4.xml" Id="R1af63bfc648148de" /><Relationship Type="http://schemas.openxmlformats.org/officeDocument/2006/relationships/slideLayout" Target="/ppt/slideLayouts/slideLayout5.xml" Id="Rc161dfcf0bba4663" /><Relationship Type="http://schemas.openxmlformats.org/officeDocument/2006/relationships/slideLayout" Target="/ppt/slideLayouts/slideLayout6.xml" Id="R6fc1557665c9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e5ed94c1e48d8"/>
    <p:sldLayoutId xmlns:r="http://schemas.openxmlformats.org/officeDocument/2006/relationships" id="2147483650" r:id="Rcc77d516135e4451"/>
    <p:sldLayoutId xmlns:r="http://schemas.openxmlformats.org/officeDocument/2006/relationships" id="2147483651" r:id="R1db6a34e06104468"/>
    <p:sldLayoutId xmlns:r="http://schemas.openxmlformats.org/officeDocument/2006/relationships" id="2147483652" r:id="R1af63bfc648148de"/>
    <p:sldLayoutId xmlns:r="http://schemas.openxmlformats.org/officeDocument/2006/relationships" id="2147483653" r:id="Rc161dfcf0bba4663"/>
    <p:sldLayoutId xmlns:r="http://schemas.openxmlformats.org/officeDocument/2006/relationships" id="2147483654" r:id="R6fc1557665c9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3c15aa0ce4777" /><Relationship Type="http://schemas.openxmlformats.org/officeDocument/2006/relationships/notesSlide" Target="/ppt/notesSlides/notesSlide1.xml" Id="Ra7b408033f514f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96438d864c4858" /><Relationship Type="http://schemas.openxmlformats.org/officeDocument/2006/relationships/notesSlide" Target="/ppt/notesSlides/notesSlide2.xml" Id="Rcad5c7c07ec544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99e050b384050" /><Relationship Type="http://schemas.openxmlformats.org/officeDocument/2006/relationships/notesSlide" Target="/ppt/notesSlides/notesSlide3.xml" Id="Rfb3fad99ab59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f151667674a67" /><Relationship Type="http://schemas.openxmlformats.org/officeDocument/2006/relationships/notesSlide" Target="/ppt/notesSlides/notesSlide4.xml" Id="R119d44ea2f5741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639d871ec4878" /><Relationship Type="http://schemas.openxmlformats.org/officeDocument/2006/relationships/notesSlide" Target="/ppt/notesSlides/notesSlide5.xml" Id="Rd546a177beda44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cdc8b3eb745f9" /><Relationship Type="http://schemas.openxmlformats.org/officeDocument/2006/relationships/notesSlide" Target="/ppt/notesSlides/notesSlide6.xml" Id="R3fcd001ecfd8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8c5ecc75c4ed6" /><Relationship Type="http://schemas.openxmlformats.org/officeDocument/2006/relationships/notesSlide" Target="/ppt/notesSlides/notesSlide7.xml" Id="R6e6d1d4ccde344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46a7c38304fa9" /><Relationship Type="http://schemas.openxmlformats.org/officeDocument/2006/relationships/notesSlide" Target="/ppt/notesSlides/notesSlide8.xml" Id="R34c0f866bc8b4e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1049770694065" /><Relationship Type="http://schemas.openxmlformats.org/officeDocument/2006/relationships/notesSlide" Target="/ppt/notesSlides/notesSlide9.xml" Id="R96d819743a4d4d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2d406cce048a9" /><Relationship Type="http://schemas.openxmlformats.org/officeDocument/2006/relationships/notesSlide" Target="/ppt/notesSlides/notesSlide10.xml" Id="R63152cd8dea74a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e931116484da4" /><Relationship Type="http://schemas.openxmlformats.org/officeDocument/2006/relationships/notesSlide" Target="/ppt/notesSlides/notesSlide11.xml" Id="Re967fb68309b40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5010e67f94aed" /><Relationship Type="http://schemas.openxmlformats.org/officeDocument/2006/relationships/notesSlide" Target="/ppt/notesSlides/notesSlide12.xml" Id="Rd0eebbf7141849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e0571fac0452b" /><Relationship Type="http://schemas.openxmlformats.org/officeDocument/2006/relationships/notesSlide" Target="/ppt/notesSlides/notesSlide13.xml" Id="R1965aaeb2bf24d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b0418b8094a8e" /><Relationship Type="http://schemas.openxmlformats.org/officeDocument/2006/relationships/notesSlide" Target="/ppt/notesSlides/notesSlide14.xml" Id="R6c671685fd504f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4d995427e45cc" /><Relationship Type="http://schemas.openxmlformats.org/officeDocument/2006/relationships/notesSlide" Target="/ppt/notesSlides/notesSlide15.xml" Id="Rd5b44186d26040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556B6355-E8B4-4573-BE1F-EB30745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A64EC70A-E4CB-47D3-A33C-1966C105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PLATFORM IKLAN PROPERTI">
            <a:extLst xmlns:a="http://schemas.openxmlformats.org/drawingml/2006/main">
              <a:ext uri="{FF2B5EF4-FFF2-40B4-BE49-F238E27FC236}">
                <a16:creationId xmlns:a16="http://schemas.microsoft.com/office/drawing/2014/main" id="{167CE0D0-E794-4735-988B-DA6DB908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PLATFORM IKLAN PROPERTI</a:t>
            </a:r>
          </a:p>
        </p:txBody>
      </p:sp>
      <p:sp>
        <p:nvSpPr>
          <p:cNvPr id="4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1BB863EF-0C3B-416D-A8B3-7A328AB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5" name="Your AI Advertising Team">
            <a:extLst xmlns:a="http://schemas.openxmlformats.org/drawingml/2006/main">
              <a:ext uri="{FF2B5EF4-FFF2-40B4-BE49-F238E27FC236}">
                <a16:creationId xmlns:a16="http://schemas.microsoft.com/office/drawing/2014/main" id="{C0AA3746-4571-4FDA-995F-B4F634FE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Your AI Advertising Team</a:t>
            </a:r>
          </a:p>
        </p:txBody>
      </p:sp>
      <p:sp>
        <p:nvSpPr>
          <p:cNvPr id="6" name="Dari data properti menjadi strategi, creative,&#10;d">
            <a:extLst xmlns:a="http://schemas.openxmlformats.org/drawingml/2006/main">
              <a:ext uri="{FF2B5EF4-FFF2-40B4-BE49-F238E27FC236}">
                <a16:creationId xmlns:a16="http://schemas.microsoft.com/office/drawing/2014/main" id="{2D1E57DC-00E7-4BB6-92E3-EC5A424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904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Dari data properti menjadi strategi, creative,</a:t>
            </a:r>
          </a:p>
          <a:p xmlns:a="http://schemas.openxmlformats.org/drawingml/2006/main">
            <a:pPr>
              <a:defRPr sz="21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dan campaign dalam satu alur kerja.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3CB66-BD98-48CD-82D8-850A0B28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3149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</a:ln>
        </p:spPr>
      </p:sp>
      <p:sp>
        <p:nvSpPr>
          <p:cNvPr id="8" name="AI STRATEGI IKLAN">
            <a:extLst xmlns:a="http://schemas.openxmlformats.org/drawingml/2006/main">
              <a:ext uri="{FF2B5EF4-FFF2-40B4-BE49-F238E27FC236}">
                <a16:creationId xmlns:a16="http://schemas.microsoft.com/office/drawing/2014/main" id="{D3E48D63-2658-46F8-B30F-80E50758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AI STRATEGI IKLAN</a:t>
            </a:r>
          </a:p>
        </p:txBody>
      </p:sp>
      <p:sp>
        <p:nvSpPr>
          <p:cNvPr id="9" name="Strategi &amp; optimasi campaign">
            <a:extLst xmlns:a="http://schemas.openxmlformats.org/drawingml/2006/main">
              <a:ext uri="{FF2B5EF4-FFF2-40B4-BE49-F238E27FC236}">
                <a16:creationId xmlns:a16="http://schemas.microsoft.com/office/drawing/2014/main" id="{25DF2FF8-7F07-43EE-A797-59A8325E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Strategi &amp; optimasi campaign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5296D-95C0-4734-B8C2-B23F955D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54673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</a:ln>
        </p:spPr>
      </p:sp>
      <p:sp>
        <p:nvSpPr>
          <p:cNvPr id="11" name="AI PRODUKSI CREATIVE">
            <a:extLst xmlns:a="http://schemas.openxmlformats.org/drawingml/2006/main">
              <a:ext uri="{FF2B5EF4-FFF2-40B4-BE49-F238E27FC236}">
                <a16:creationId xmlns:a16="http://schemas.microsoft.com/office/drawing/2014/main" id="{FCCF88E8-3E09-450A-BE03-846FF88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AI PRODUKSI CREATIVE</a:t>
            </a:r>
          </a:p>
        </p:txBody>
      </p:sp>
      <p:sp>
        <p:nvSpPr>
          <p:cNvPr id="12" name="Image, video &amp; carousel">
            <a:extLst xmlns:a="http://schemas.openxmlformats.org/drawingml/2006/main">
              <a:ext uri="{FF2B5EF4-FFF2-40B4-BE49-F238E27FC236}">
                <a16:creationId xmlns:a16="http://schemas.microsoft.com/office/drawing/2014/main" id="{ADC6FD41-27CF-47FA-8D03-80968542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72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Image, video &amp; carousel</a:t>
            </a:r>
          </a:p>
        </p:txBody>
      </p:sp>
    </p:spTree>
    <p:extLst>
      <p:ext uri="{BB962C8B-B14F-4D97-AF65-F5344CB8AC3E}">
        <p14:creationId xmlns:p14="http://schemas.microsoft.com/office/powerpoint/2010/main" val="518591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5CC366A3-D3DC-42D5-9FB3-DB0E3F80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E7F274F3-E90C-4B33-8378-50854C9D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ANTANGAN INDUSTRI">
            <a:extLst xmlns:a="http://schemas.openxmlformats.org/drawingml/2006/main">
              <a:ext uri="{FF2B5EF4-FFF2-40B4-BE49-F238E27FC236}">
                <a16:creationId xmlns:a16="http://schemas.microsoft.com/office/drawing/2014/main" id="{423FC59A-0198-4466-BBC0-E989A7BC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TANTANGAN INDUSTRI</a:t>
            </a:r>
          </a:p>
        </p:txBody>
      </p:sp>
      <p:sp>
        <p:nvSpPr>
          <p:cNvPr id="4" name="Proses kerja yang terfragmentasi">
            <a:extLst xmlns:a="http://schemas.openxmlformats.org/drawingml/2006/main">
              <a:ext uri="{FF2B5EF4-FFF2-40B4-BE49-F238E27FC236}">
                <a16:creationId xmlns:a16="http://schemas.microsoft.com/office/drawing/2014/main" id="{3E8DD482-1031-479C-A596-237295D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Proses kerja yang terfragmentasi</a:t>
            </a:r>
          </a:p>
        </p:txBody>
      </p:sp>
      <p:sp>
        <p:nvSpPr>
          <p:cNvPr id="5" name="Informasi berpindah antarsistem. Tim mengulang p">
            <a:extLst xmlns:a="http://schemas.openxmlformats.org/drawingml/2006/main">
              <a:ext uri="{FF2B5EF4-FFF2-40B4-BE49-F238E27FC236}">
                <a16:creationId xmlns:a16="http://schemas.microsoft.com/office/drawing/2014/main" id="{EEE4EDCA-DD49-462E-B6A6-46FA57BE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Informasi berpindah antarsistem. Tim mengulang pekerjaan yang sama.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550D04BF-379F-44E9-802D-34BA8102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Data tersebar">
            <a:extLst xmlns:a="http://schemas.openxmlformats.org/drawingml/2006/main">
              <a:ext uri="{FF2B5EF4-FFF2-40B4-BE49-F238E27FC236}">
                <a16:creationId xmlns:a16="http://schemas.microsoft.com/office/drawing/2014/main" id="{D525D182-85B9-41CF-8D01-C338E46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tersebar</a:t>
            </a:r>
          </a:p>
        </p:txBody>
      </p:sp>
      <p:sp>
        <p:nvSpPr>
          <p:cNvPr id="8" name="Listing properti tidak terhubung langsung dengan">
            <a:extLst xmlns:a="http://schemas.openxmlformats.org/drawingml/2006/main">
              <a:ext uri="{FF2B5EF4-FFF2-40B4-BE49-F238E27FC236}">
                <a16:creationId xmlns:a16="http://schemas.microsoft.com/office/drawing/2014/main" id="{FEAB718C-4E61-498C-9485-EEB7EBC3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Listing properti tidak terhubung langsung dengan iklan.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BE200195-F995-4FB5-8683-8330CD3D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roses berulang">
            <a:extLst xmlns:a="http://schemas.openxmlformats.org/drawingml/2006/main">
              <a:ext uri="{FF2B5EF4-FFF2-40B4-BE49-F238E27FC236}">
                <a16:creationId xmlns:a16="http://schemas.microsoft.com/office/drawing/2014/main" id="{33D5D714-89FD-4354-BD8E-C15995C8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Proses berulang</a:t>
            </a:r>
          </a:p>
        </p:txBody>
      </p:sp>
      <p:sp>
        <p:nvSpPr>
          <p:cNvPr id="11" name="Brief dan aset creative dibuat manual setiap saa">
            <a:extLst xmlns:a="http://schemas.openxmlformats.org/drawingml/2006/main">
              <a:ext uri="{FF2B5EF4-FFF2-40B4-BE49-F238E27FC236}">
                <a16:creationId xmlns:a16="http://schemas.microsoft.com/office/drawing/2014/main" id="{838137B9-D336-4BF9-AA74-F2033513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Brief dan aset creative dibuat manual setiap saat.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BA33A53E-9958-4E85-8662-3F733251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Evaluasi sulit">
            <a:extLst xmlns:a="http://schemas.openxmlformats.org/drawingml/2006/main">
              <a:ext uri="{FF2B5EF4-FFF2-40B4-BE49-F238E27FC236}">
                <a16:creationId xmlns:a16="http://schemas.microsoft.com/office/drawing/2014/main" id="{898CD543-04F0-45F0-910E-47E44FE3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Evaluasi sulit</a:t>
            </a:r>
          </a:p>
        </p:txBody>
      </p:sp>
      <p:sp>
        <p:nvSpPr>
          <p:cNvPr id="14" name="Strategi dan setup campaign berjalan terpisah.">
            <a:extLst xmlns:a="http://schemas.openxmlformats.org/drawingml/2006/main">
              <a:ext uri="{FF2B5EF4-FFF2-40B4-BE49-F238E27FC236}">
                <a16:creationId xmlns:a16="http://schemas.microsoft.com/office/drawing/2014/main" id="{6AE6341B-B19F-4E57-A687-C0F852AE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Strategi dan setup campaign berjalan terpisah.</a:t>
            </a:r>
          </a:p>
        </p:txBody>
      </p:sp>
    </p:spTree>
    <p:extLst>
      <p:ext uri="{BB962C8B-B14F-4D97-AF65-F5344CB8AC3E}">
        <p14:creationId xmlns:p14="http://schemas.microsoft.com/office/powerpoint/2010/main" val="1291109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389AE690-C3BD-422A-8E89-22257A44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B100A474-8F8B-486B-8F10-65E5804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PLATFORM TERPADU">
            <a:extLst xmlns:a="http://schemas.openxmlformats.org/drawingml/2006/main">
              <a:ext uri="{FF2B5EF4-FFF2-40B4-BE49-F238E27FC236}">
                <a16:creationId xmlns:a16="http://schemas.microsoft.com/office/drawing/2014/main" id="{2DF4DE20-39ED-4CE7-8EB5-6CE27710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PLATFORM TERPADU</a:t>
            </a:r>
          </a:p>
        </p:txBody>
      </p:sp>
      <p:sp>
        <p:nvSpPr>
          <p:cNvPr id="4" name="Satu workspace terhubung">
            <a:extLst xmlns:a="http://schemas.openxmlformats.org/drawingml/2006/main">
              <a:ext uri="{FF2B5EF4-FFF2-40B4-BE49-F238E27FC236}">
                <a16:creationId xmlns:a16="http://schemas.microsoft.com/office/drawing/2014/main" id="{860FD18A-8975-4B33-BAD0-8BC61751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Satu workspace terhubung</a:t>
            </a:r>
          </a:p>
        </p:txBody>
      </p:sp>
      <p:sp>
        <p:nvSpPr>
          <p:cNvPr id="5" name="Data terpusat">
            <a:extLst xmlns:a="http://schemas.openxmlformats.org/drawingml/2006/main">
              <a:ext uri="{FF2B5EF4-FFF2-40B4-BE49-F238E27FC236}">
                <a16:creationId xmlns:a16="http://schemas.microsoft.com/office/drawing/2014/main" id="{31979252-9777-4E4B-A094-0F626B70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Data terpusat</a:t>
            </a:r>
          </a:p>
        </p:txBody>
      </p:sp>
      <p:sp>
        <p:nvSpPr>
          <p:cNvPr id="6" name="Strategi otomatis">
            <a:extLst xmlns:a="http://schemas.openxmlformats.org/drawingml/2006/main">
              <a:ext uri="{FF2B5EF4-FFF2-40B4-BE49-F238E27FC236}">
                <a16:creationId xmlns:a16="http://schemas.microsoft.com/office/drawing/2014/main" id="{65F13408-3444-4807-A57B-180B13C7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Strategi otomatis</a:t>
            </a:r>
          </a:p>
        </p:txBody>
      </p:sp>
      <p:sp>
        <p:nvSpPr>
          <p:cNvPr id="7" name="Produksi mandiri">
            <a:extLst xmlns:a="http://schemas.openxmlformats.org/drawingml/2006/main">
              <a:ext uri="{FF2B5EF4-FFF2-40B4-BE49-F238E27FC236}">
                <a16:creationId xmlns:a16="http://schemas.microsoft.com/office/drawing/2014/main" id="{6FD3378A-8A54-4137-9562-09FEB688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Produksi mandiri</a:t>
            </a:r>
          </a:p>
        </p:txBody>
      </p:sp>
      <p:sp>
        <p:nvSpPr>
          <p:cNvPr id="8" name="Evaluasi transparan">
            <a:extLst xmlns:a="http://schemas.openxmlformats.org/drawingml/2006/main">
              <a:ext uri="{FF2B5EF4-FFF2-40B4-BE49-F238E27FC236}">
                <a16:creationId xmlns:a16="http://schemas.microsoft.com/office/drawing/2014/main" id="{8FF1B89A-1603-4C35-8F9B-5FE58E9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Evaluasi transparan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83922-A1E2-4A0A-994C-3373D57B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38425"/>
            <a:ext cx="7343775" cy="3743325"/>
          </a:xfrm>
          <a:prstGeom xmlns:a="http://schemas.openxmlformats.org/drawingml/2006/main" prst="roundRect">
            <a:avLst>
              <a:gd name="adj" fmla="val 35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</a:ln>
        </p:spPr>
      </p:sp>
      <p:sp>
        <p:nvSpPr>
          <p:cNvPr id="10" name="Workspace iklan">
            <a:extLst xmlns:a="http://schemas.openxmlformats.org/drawingml/2006/main">
              <a:ext uri="{FF2B5EF4-FFF2-40B4-BE49-F238E27FC236}">
                <a16:creationId xmlns:a16="http://schemas.microsoft.com/office/drawing/2014/main" id="{492EB9B2-8D42-4D51-8A69-0B21607C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47975"/>
            <a:ext cx="688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Workspace iklan</a:t>
            </a:r>
          </a:p>
        </p:txBody>
      </p:sp>
      <p:sp>
        <p:nvSpPr>
          <p:cNvPr id="11" name="ILUSTRASI">
            <a:extLst xmlns:a="http://schemas.openxmlformats.org/drawingml/2006/main">
              <a:ext uri="{FF2B5EF4-FFF2-40B4-BE49-F238E27FC236}">
                <a16:creationId xmlns:a16="http://schemas.microsoft.com/office/drawing/2014/main" id="{0553E5FF-BBEF-4CD6-8FA2-CFF7E2AB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67075"/>
            <a:ext cx="6886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ILUSTRASI</a:t>
            </a:r>
          </a:p>
        </p:txBody>
      </p:sp>
      <p:sp>
        <p:nvSpPr>
          <p:cNvPr id="12" name="Data bisnis">
            <a:extLst xmlns:a="http://schemas.openxmlformats.org/drawingml/2006/main">
              <a:ext uri="{FF2B5EF4-FFF2-40B4-BE49-F238E27FC236}">
                <a16:creationId xmlns:a16="http://schemas.microsoft.com/office/drawing/2014/main" id="{304CFDD5-0CEE-4750-8A0D-C2F91941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09975"/>
            <a:ext cx="6886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Data bisnis</a:t>
            </a:r>
          </a:p>
        </p:txBody>
      </p:sp>
      <p:sp>
        <p:nvSpPr>
          <p:cNvPr id="13" name="Listing, harga, media, dan dokumen">
            <a:extLst xmlns:a="http://schemas.openxmlformats.org/drawingml/2006/main">
              <a:ext uri="{FF2B5EF4-FFF2-40B4-BE49-F238E27FC236}">
                <a16:creationId xmlns:a16="http://schemas.microsoft.com/office/drawing/2014/main" id="{7C44696D-B0A1-4B98-B995-0BCA13AA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76675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Listing, harga, media, dan dokumen</a:t>
            </a:r>
          </a:p>
        </p:txBody>
      </p:sp>
      <p:sp>
        <p:nvSpPr>
          <p:cNvPr id="14" name="AI Strategi Iklan">
            <a:extLst xmlns:a="http://schemas.openxmlformats.org/drawingml/2006/main">
              <a:ext uri="{FF2B5EF4-FFF2-40B4-BE49-F238E27FC236}">
                <a16:creationId xmlns:a16="http://schemas.microsoft.com/office/drawing/2014/main" id="{1619AF65-CD65-47A7-B20C-FC435F5C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93394"/>
            <a:ext cx="6886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AI Strategi Iklan</a:t>
            </a:r>
          </a:p>
        </p:txBody>
      </p:sp>
      <p:sp>
        <p:nvSpPr>
          <p:cNvPr id="15" name="Draft strategi dan rencana campaign">
            <a:extLst xmlns:a="http://schemas.openxmlformats.org/drawingml/2006/main">
              <a:ext uri="{FF2B5EF4-FFF2-40B4-BE49-F238E27FC236}">
                <a16:creationId xmlns:a16="http://schemas.microsoft.com/office/drawing/2014/main" id="{FB63A803-9A94-49C7-93A7-BAF362F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60094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Draft strategi dan rencana campaign</a:t>
            </a:r>
          </a:p>
        </p:txBody>
      </p:sp>
      <p:sp>
        <p:nvSpPr>
          <p:cNvPr id="16" name="AI Produksi Creative">
            <a:extLst xmlns:a="http://schemas.openxmlformats.org/drawingml/2006/main">
              <a:ext uri="{FF2B5EF4-FFF2-40B4-BE49-F238E27FC236}">
                <a16:creationId xmlns:a16="http://schemas.microsoft.com/office/drawing/2014/main" id="{284C795E-3754-4872-8AC7-6A80B6A3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76813"/>
            <a:ext cx="6886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AI Produksi Creative</a:t>
            </a:r>
          </a:p>
        </p:txBody>
      </p:sp>
      <p:sp>
        <p:nvSpPr>
          <p:cNvPr id="17" name="Brief, konsep, dan aset">
            <a:extLst xmlns:a="http://schemas.openxmlformats.org/drawingml/2006/main">
              <a:ext uri="{FF2B5EF4-FFF2-40B4-BE49-F238E27FC236}">
                <a16:creationId xmlns:a16="http://schemas.microsoft.com/office/drawing/2014/main" id="{C5658B2C-E1D1-416F-B79F-CF7E1A62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43513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Brief, konsep, dan aset</a:t>
            </a:r>
          </a:p>
        </p:txBody>
      </p:sp>
      <p:sp>
        <p:nvSpPr>
          <p:cNvPr id="18" name="Review &amp; operasi">
            <a:extLst xmlns:a="http://schemas.openxmlformats.org/drawingml/2006/main">
              <a:ext uri="{FF2B5EF4-FFF2-40B4-BE49-F238E27FC236}">
                <a16:creationId xmlns:a16="http://schemas.microsoft.com/office/drawing/2014/main" id="{685ED56A-33B4-43C0-B175-A35B2BA5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60231"/>
            <a:ext cx="6886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Review &amp; operasi</a:t>
            </a:r>
          </a:p>
        </p:txBody>
      </p:sp>
      <p:sp>
        <p:nvSpPr>
          <p:cNvPr id="19" name="QA, approval, dan pemantauan">
            <a:extLst xmlns:a="http://schemas.openxmlformats.org/drawingml/2006/main">
              <a:ext uri="{FF2B5EF4-FFF2-40B4-BE49-F238E27FC236}">
                <a16:creationId xmlns:a16="http://schemas.microsoft.com/office/drawing/2014/main" id="{68B18DCB-40A4-4185-8050-BA81DF15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926931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QA, approval, dan pemantauan</a:t>
            </a:r>
          </a:p>
        </p:txBody>
      </p:sp>
      <p:sp>
        <p:nvSpPr>
          <p:cNvPr id="20" name="Ilustrasi workspace iklan">
            <a:extLst xmlns:a="http://schemas.openxmlformats.org/drawingml/2006/main">
              <a:ext uri="{FF2B5EF4-FFF2-40B4-BE49-F238E27FC236}">
                <a16:creationId xmlns:a16="http://schemas.microsoft.com/office/drawing/2014/main" id="{9A37A271-1084-4F39-ADDF-E43F6D2E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484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Ilustrasi workspace iklan</a:t>
            </a:r>
          </a:p>
        </p:txBody>
      </p:sp>
    </p:spTree>
    <p:extLst>
      <p:ext uri="{BB962C8B-B14F-4D97-AF65-F5344CB8AC3E}">
        <p14:creationId xmlns:p14="http://schemas.microsoft.com/office/powerpoint/2010/main" val="489306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8FA89802-1ACF-4FC5-AB76-12294B9E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49E2F87E-0BDB-4D38-AEC5-760BF84B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LUR KERJA UTAMA">
            <a:extLst xmlns:a="http://schemas.openxmlformats.org/drawingml/2006/main">
              <a:ext uri="{FF2B5EF4-FFF2-40B4-BE49-F238E27FC236}">
                <a16:creationId xmlns:a16="http://schemas.microsoft.com/office/drawing/2014/main" id="{50A46349-17CF-47C6-B1EF-5E27100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ALUR KERJA UTAMA</a:t>
            </a:r>
          </a:p>
        </p:txBody>
      </p:sp>
      <p:sp>
        <p:nvSpPr>
          <p:cNvPr id="4" name="Lima tahap dalam satu workflow">
            <a:extLst xmlns:a="http://schemas.openxmlformats.org/drawingml/2006/main">
              <a:ext uri="{FF2B5EF4-FFF2-40B4-BE49-F238E27FC236}">
                <a16:creationId xmlns:a16="http://schemas.microsoft.com/office/drawing/2014/main" id="{8B70BFC9-417B-4BF8-9B2F-698476B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Lima tahap dalam satu workflow</a:t>
            </a:r>
          </a:p>
        </p:txBody>
      </p:sp>
      <p:sp>
        <p:nvSpPr>
          <p:cNvPr id="5" name="Setiap tahap memiliki input dan output yang dapa">
            <a:extLst xmlns:a="http://schemas.openxmlformats.org/drawingml/2006/main">
              <a:ext uri="{FF2B5EF4-FFF2-40B4-BE49-F238E27FC236}">
                <a16:creationId xmlns:a16="http://schemas.microsoft.com/office/drawing/2014/main" id="{6C7D9A4D-91E9-4465-8443-22598653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Setiap tahap memiliki input dan output yang dapat ditelusuri.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4F041-1F34-4E08-AD7A-DE067D4A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891CBD0D-27A7-4267-B9F0-8346FF61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Data input">
            <a:extLst xmlns:a="http://schemas.openxmlformats.org/drawingml/2006/main">
              <a:ext uri="{FF2B5EF4-FFF2-40B4-BE49-F238E27FC236}">
                <a16:creationId xmlns:a16="http://schemas.microsoft.com/office/drawing/2014/main" id="{2BEEF645-F0E5-4C47-B406-7662F14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input</a:t>
            </a:r>
          </a:p>
        </p:txBody>
      </p:sp>
      <p:sp>
        <p:nvSpPr>
          <p:cNvPr id="9" name="Listing &amp;&#10;knowledge">
            <a:extLst xmlns:a="http://schemas.openxmlformats.org/drawingml/2006/main">
              <a:ext uri="{FF2B5EF4-FFF2-40B4-BE49-F238E27FC236}">
                <a16:creationId xmlns:a16="http://schemas.microsoft.com/office/drawing/2014/main" id="{48A12BEB-D94E-4A04-970C-5B08E30A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Listing &amp;</a:t>
            </a:r>
          </a:p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E16B6-DF64-4EB8-B341-D6AFD45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399ADB92-02B6-4812-A5F6-2C55954B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Strategi">
            <a:extLst xmlns:a="http://schemas.openxmlformats.org/drawingml/2006/main">
              <a:ext uri="{FF2B5EF4-FFF2-40B4-BE49-F238E27FC236}">
                <a16:creationId xmlns:a16="http://schemas.microsoft.com/office/drawing/2014/main" id="{258EC4B1-E744-4C77-A035-EDA3C08C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Strategi</a:t>
            </a:r>
          </a:p>
        </p:txBody>
      </p:sp>
      <p:sp>
        <p:nvSpPr>
          <p:cNvPr id="13" name="Rencana&#10;campaign">
            <a:extLst xmlns:a="http://schemas.openxmlformats.org/drawingml/2006/main">
              <a:ext uri="{FF2B5EF4-FFF2-40B4-BE49-F238E27FC236}">
                <a16:creationId xmlns:a16="http://schemas.microsoft.com/office/drawing/2014/main" id="{D97BE9D7-D473-4E74-930D-11A96D9C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Rencana</a:t>
            </a:r>
          </a:p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campaign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8FDDB-A606-4D23-B5B6-32CA6D62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D10473B9-F9FC-479F-AC81-AA2AE51B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roduksi">
            <a:extLst xmlns:a="http://schemas.openxmlformats.org/drawingml/2006/main">
              <a:ext uri="{FF2B5EF4-FFF2-40B4-BE49-F238E27FC236}">
                <a16:creationId xmlns:a16="http://schemas.microsoft.com/office/drawing/2014/main" id="{7063DA75-B724-4C6A-9FFC-D2A91969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Produksi</a:t>
            </a:r>
          </a:p>
        </p:txBody>
      </p:sp>
      <p:sp>
        <p:nvSpPr>
          <p:cNvPr id="17" name="Brief creative&#10;&amp; aset">
            <a:extLst xmlns:a="http://schemas.openxmlformats.org/drawingml/2006/main">
              <a:ext uri="{FF2B5EF4-FFF2-40B4-BE49-F238E27FC236}">
                <a16:creationId xmlns:a16="http://schemas.microsoft.com/office/drawing/2014/main" id="{E2A60BB4-E871-4BBB-8B38-F00578D2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Brief creative</a:t>
            </a:r>
          </a:p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&amp; 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89AF8-4F52-46CF-AFEE-105987D0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BD3D980D-181D-4124-9F4C-E228D503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Validasi">
            <a:extLst xmlns:a="http://schemas.openxmlformats.org/drawingml/2006/main">
              <a:ext uri="{FF2B5EF4-FFF2-40B4-BE49-F238E27FC236}">
                <a16:creationId xmlns:a16="http://schemas.microsoft.com/office/drawing/2014/main" id="{D8D997E0-6763-4DB5-8ECF-803ADCC6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1" name="QA &amp;&#10;simulasi">
            <a:extLst xmlns:a="http://schemas.openxmlformats.org/drawingml/2006/main">
              <a:ext uri="{FF2B5EF4-FFF2-40B4-BE49-F238E27FC236}">
                <a16:creationId xmlns:a16="http://schemas.microsoft.com/office/drawing/2014/main" id="{8E0E8E5C-1627-4A1C-80CB-8D03B9AE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QA &amp;</a:t>
            </a:r>
          </a:p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simulasi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766D6-F362-4088-AECB-311992B5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</a:ln>
        </p:spPr>
      </p:sp>
      <p:sp>
        <p:nvSpPr>
          <p:cNvPr id="23" name="05">
            <a:extLst xmlns:a="http://schemas.openxmlformats.org/drawingml/2006/main">
              <a:ext uri="{FF2B5EF4-FFF2-40B4-BE49-F238E27FC236}">
                <a16:creationId xmlns:a16="http://schemas.microsoft.com/office/drawing/2014/main" id="{70241821-0A8C-4DD8-BB01-7315A688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Eksekusi">
            <a:extLst xmlns:a="http://schemas.openxmlformats.org/drawingml/2006/main">
              <a:ext uri="{FF2B5EF4-FFF2-40B4-BE49-F238E27FC236}">
                <a16:creationId xmlns:a16="http://schemas.microsoft.com/office/drawing/2014/main" id="{41AAB58D-9AFB-4594-B034-A3A4F242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Eksekusi</a:t>
            </a:r>
          </a:p>
        </p:txBody>
      </p:sp>
      <p:sp>
        <p:nvSpPr>
          <p:cNvPr id="25" name="Preflight&#10;&amp; publish">
            <a:extLst xmlns:a="http://schemas.openxmlformats.org/drawingml/2006/main">
              <a:ext uri="{FF2B5EF4-FFF2-40B4-BE49-F238E27FC236}">
                <a16:creationId xmlns:a16="http://schemas.microsoft.com/office/drawing/2014/main" id="{6F546F3C-3761-41C2-80F3-9C47E1F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Preflight</a:t>
            </a:r>
          </a:p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&amp; publish</a:t>
            </a:r>
          </a:p>
        </p:txBody>
      </p:sp>
      <p:sp>
        <p:nvSpPr>
          <p:cNvPr id="26" name="Integrasi end-to-end masih dalam validasi.">
            <a:extLst xmlns:a="http://schemas.openxmlformats.org/drawingml/2006/main">
              <a:ext uri="{FF2B5EF4-FFF2-40B4-BE49-F238E27FC236}">
                <a16:creationId xmlns:a16="http://schemas.microsoft.com/office/drawing/2014/main" id="{2CFD3FF3-0EC5-475C-AF03-B828306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Integrasi end-to-end masih dalam validasi.</a:t>
            </a:r>
          </a:p>
        </p:txBody>
      </p:sp>
    </p:spTree>
    <p:extLst>
      <p:ext uri="{BB962C8B-B14F-4D97-AF65-F5344CB8AC3E}">
        <p14:creationId xmlns:p14="http://schemas.microsoft.com/office/powerpoint/2010/main" val="833091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9D137149-0B72-4A8D-87FE-773C9CB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8662FBD9-ACD5-4BD3-86D1-1D74B8E3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FONDASI DATA">
            <a:extLst xmlns:a="http://schemas.openxmlformats.org/drawingml/2006/main">
              <a:ext uri="{FF2B5EF4-FFF2-40B4-BE49-F238E27FC236}">
                <a16:creationId xmlns:a16="http://schemas.microsoft.com/office/drawing/2014/main" id="{AF96C673-26FF-4DE4-9DF1-16E6FFF5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FONDASI DATA</a:t>
            </a:r>
          </a:p>
        </p:txBody>
      </p:sp>
      <p:sp>
        <p:nvSpPr>
          <p:cNvPr id="4" name="Listing dan knowledge bisnis">
            <a:extLst xmlns:a="http://schemas.openxmlformats.org/drawingml/2006/main">
              <a:ext uri="{FF2B5EF4-FFF2-40B4-BE49-F238E27FC236}">
                <a16:creationId xmlns:a16="http://schemas.microsoft.com/office/drawing/2014/main" id="{7BFD1A0F-3B3A-4211-B58B-4E554029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Listing dan knowledge bisnis</a:t>
            </a:r>
          </a:p>
        </p:txBody>
      </p:sp>
      <p:sp>
        <p:nvSpPr>
          <p:cNvPr id="5" name="Sumber fakta&#10;untuk campaign">
            <a:extLst xmlns:a="http://schemas.openxmlformats.org/drawingml/2006/main">
              <a:ext uri="{FF2B5EF4-FFF2-40B4-BE49-F238E27FC236}">
                <a16:creationId xmlns:a16="http://schemas.microsoft.com/office/drawing/2014/main" id="{06DB9AEF-8F7B-4A18-93A7-CBAFBEC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Sumber fakta</a:t>
            </a:r>
          </a:p>
          <a:p xmlns:a="http://schemas.openxmlformats.org/drawingml/2006/main">
            <a: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untuk campaign</a:t>
            </a:r>
          </a:p>
        </p:txBody>
      </p:sp>
      <p:sp>
        <p:nvSpPr>
          <p:cNvPr id="6" name="Harga, lokasi, dan spesifikasi properti yang aku">
            <a:extLst xmlns:a="http://schemas.openxmlformats.org/drawingml/2006/main">
              <a:ext uri="{FF2B5EF4-FFF2-40B4-BE49-F238E27FC236}">
                <a16:creationId xmlns:a16="http://schemas.microsoft.com/office/drawing/2014/main" id="{8AB8B596-D46F-484A-B187-74BCD4F3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Harga, lokasi, dan spesifikasi properti yang akurat.</a:t>
            </a:r>
          </a:p>
        </p:txBody>
      </p:sp>
      <p:sp>
        <p:nvSpPr>
          <p:cNvPr id="7" name="Hybrid retrieval menggabungkan pencarian semanti">
            <a:extLst xmlns:a="http://schemas.openxmlformats.org/drawingml/2006/main">
              <a:ext uri="{FF2B5EF4-FFF2-40B4-BE49-F238E27FC236}">
                <a16:creationId xmlns:a16="http://schemas.microsoft.com/office/drawing/2014/main" id="{79A8F90A-F89B-47A9-A38F-2E39F54E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Hybrid retrieval menggabungkan pencarian semantic dan keyword.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58A54-95A4-40B6-94FB-93494924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7334250" cy="3581400"/>
          </a:xfrm>
          <a:prstGeom xmlns:a="http://schemas.openxmlformats.org/drawingml/2006/main" prst="roundRect">
            <a:avLst>
              <a:gd name="adj" fmla="val 3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</a:ln>
        </p:spPr>
      </p:sp>
      <p:sp>
        <p:nvSpPr>
          <p:cNvPr id="9" name="Listing &amp; knowledge">
            <a:extLst xmlns:a="http://schemas.openxmlformats.org/drawingml/2006/main">
              <a:ext uri="{FF2B5EF4-FFF2-40B4-BE49-F238E27FC236}">
                <a16:creationId xmlns:a16="http://schemas.microsoft.com/office/drawing/2014/main" id="{ABACAEE3-A931-4DF7-B2A4-0C2D216D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6877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Listing &amp; knowledge</a:t>
            </a:r>
          </a:p>
        </p:txBody>
      </p:sp>
      <p:sp>
        <p:nvSpPr>
          <p:cNvPr id="10" name="ILUSTRASI">
            <a:extLst xmlns:a="http://schemas.openxmlformats.org/drawingml/2006/main">
              <a:ext uri="{FF2B5EF4-FFF2-40B4-BE49-F238E27FC236}">
                <a16:creationId xmlns:a16="http://schemas.microsoft.com/office/drawing/2014/main" id="{4852A483-6DB1-4DF8-BCEE-03952E5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6877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ILUSTRASI</a:t>
            </a:r>
          </a:p>
        </p:txBody>
      </p:sp>
      <p:sp>
        <p:nvSpPr>
          <p:cNvPr id="11" name="Sumber data">
            <a:extLst xmlns:a="http://schemas.openxmlformats.org/drawingml/2006/main">
              <a:ext uri="{FF2B5EF4-FFF2-40B4-BE49-F238E27FC236}">
                <a16:creationId xmlns:a16="http://schemas.microsoft.com/office/drawing/2014/main" id="{2A288A02-FAE3-4089-A213-1F40D8A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Sumber data</a:t>
            </a:r>
          </a:p>
        </p:txBody>
      </p:sp>
      <p:sp>
        <p:nvSpPr>
          <p:cNvPr id="12" name="Lokasi, harga, spesifikasi, dan media">
            <a:extLst xmlns:a="http://schemas.openxmlformats.org/drawingml/2006/main">
              <a:ext uri="{FF2B5EF4-FFF2-40B4-BE49-F238E27FC236}">
                <a16:creationId xmlns:a16="http://schemas.microsoft.com/office/drawing/2014/main" id="{81DCD38E-9FFE-4426-9EA8-BC0107E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687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Lokasi, harga, spesifikasi, dan media</a:t>
            </a:r>
          </a:p>
        </p:txBody>
      </p:sp>
      <p:sp>
        <p:nvSpPr>
          <p:cNvPr id="13" name="Contoh klaim">
            <a:extLst xmlns:a="http://schemas.openxmlformats.org/drawingml/2006/main">
              <a:ext uri="{FF2B5EF4-FFF2-40B4-BE49-F238E27FC236}">
                <a16:creationId xmlns:a16="http://schemas.microsoft.com/office/drawing/2014/main" id="{FEDFEAEB-442F-42DD-A565-41BA81D1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1488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Contoh klaim</a:t>
            </a:r>
          </a:p>
        </p:txBody>
      </p:sp>
      <p:sp>
        <p:nvSpPr>
          <p:cNvPr id="14" name="“DP 10%”">
            <a:extLst xmlns:a="http://schemas.openxmlformats.org/drawingml/2006/main">
              <a:ext uri="{FF2B5EF4-FFF2-40B4-BE49-F238E27FC236}">
                <a16:creationId xmlns:a16="http://schemas.microsoft.com/office/drawing/2014/main" id="{5516F6AD-0A82-4594-8989-B397E9F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48188"/>
            <a:ext cx="687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“DP 10%”</a:t>
            </a:r>
          </a:p>
        </p:txBody>
      </p:sp>
      <p:sp>
        <p:nvSpPr>
          <p:cNvPr id="15" name="Dokumen sumber">
            <a:extLst xmlns:a="http://schemas.openxmlformats.org/drawingml/2006/main">
              <a:ext uri="{FF2B5EF4-FFF2-40B4-BE49-F238E27FC236}">
                <a16:creationId xmlns:a16="http://schemas.microsoft.com/office/drawing/2014/main" id="{51DC378F-E738-468C-A922-B053F4E1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24425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Dokumen sumber</a:t>
            </a:r>
          </a:p>
        </p:txBody>
      </p:sp>
      <p:sp>
        <p:nvSpPr>
          <p:cNvPr id="16" name="Price List BSD September.xlsx">
            <a:extLst xmlns:a="http://schemas.openxmlformats.org/drawingml/2006/main">
              <a:ext uri="{FF2B5EF4-FFF2-40B4-BE49-F238E27FC236}">
                <a16:creationId xmlns:a16="http://schemas.microsoft.com/office/drawing/2014/main" id="{63563355-1C4D-4FED-A42A-A2F444D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91125"/>
            <a:ext cx="687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Price List BSD September.xlsx</a:t>
            </a:r>
          </a:p>
        </p:txBody>
      </p:sp>
      <p:sp>
        <p:nvSpPr>
          <p:cNvPr id="17" name="Lokasi bukti">
            <a:extLst xmlns:a="http://schemas.openxmlformats.org/drawingml/2006/main">
              <a:ext uri="{FF2B5EF4-FFF2-40B4-BE49-F238E27FC236}">
                <a16:creationId xmlns:a16="http://schemas.microsoft.com/office/drawing/2014/main" id="{4210E141-E3AE-44D3-B6AA-016DCAC1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67363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Lokasi bukti</a:t>
            </a:r>
          </a:p>
        </p:txBody>
      </p:sp>
      <p:sp>
        <p:nvSpPr>
          <p:cNvPr id="18" name="Sheet Type 120, row 12">
            <a:extLst xmlns:a="http://schemas.openxmlformats.org/drawingml/2006/main">
              <a:ext uri="{FF2B5EF4-FFF2-40B4-BE49-F238E27FC236}">
                <a16:creationId xmlns:a16="http://schemas.microsoft.com/office/drawing/2014/main" id="{77F09B26-A857-4957-A56B-659AC2A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34063"/>
            <a:ext cx="687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Sheet Type 120, row 12</a:t>
            </a:r>
          </a:p>
        </p:txBody>
      </p:sp>
      <p:sp>
        <p:nvSpPr>
          <p:cNvPr id="19" name="Ilustrasi Property Workspace &amp; Listing Intellige">
            <a:extLst xmlns:a="http://schemas.openxmlformats.org/drawingml/2006/main">
              <a:ext uri="{FF2B5EF4-FFF2-40B4-BE49-F238E27FC236}">
                <a16:creationId xmlns:a16="http://schemas.microsoft.com/office/drawing/2014/main" id="{EA6D01F8-A9EA-4C33-B82B-D4969AE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Ilustrasi Property Workspace &amp; Listing Intelligence</a:t>
            </a:r>
          </a:p>
        </p:txBody>
      </p:sp>
    </p:spTree>
    <p:extLst>
      <p:ext uri="{BB962C8B-B14F-4D97-AF65-F5344CB8AC3E}">
        <p14:creationId xmlns:p14="http://schemas.microsoft.com/office/powerpoint/2010/main" val="347318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0B015B06-94B2-4C2C-9FF7-31489DBC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9A392270-1CD0-4E56-AF9C-DB33784F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I STRATEGI IKLAN">
            <a:extLst xmlns:a="http://schemas.openxmlformats.org/drawingml/2006/main">
              <a:ext uri="{FF2B5EF4-FFF2-40B4-BE49-F238E27FC236}">
                <a16:creationId xmlns:a16="http://schemas.microsoft.com/office/drawing/2014/main" id="{4F0D743B-8626-4033-9C7B-7346005A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AI STRATEGI IKLAN</a:t>
            </a:r>
          </a:p>
        </p:txBody>
      </p:sp>
      <p:sp>
        <p:nvSpPr>
          <p:cNvPr id="4" name="AI Campaign Strategist">
            <a:extLst xmlns:a="http://schemas.openxmlformats.org/drawingml/2006/main">
              <a:ext uri="{FF2B5EF4-FFF2-40B4-BE49-F238E27FC236}">
                <a16:creationId xmlns:a16="http://schemas.microsoft.com/office/drawing/2014/main" id="{A10BA8DF-E1F1-4664-9C14-7AE55286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AI Campaign Strategist</a:t>
            </a:r>
          </a:p>
        </p:txBody>
      </p:sp>
      <p:sp>
        <p:nvSpPr>
          <p:cNvPr id="5" name="Draf strategi berdasarkan data listing, siap unt">
            <a:extLst xmlns:a="http://schemas.openxmlformats.org/drawingml/2006/main">
              <a:ext uri="{FF2B5EF4-FFF2-40B4-BE49-F238E27FC236}">
                <a16:creationId xmlns:a16="http://schemas.microsoft.com/office/drawing/2014/main" id="{B6E967EE-7D1E-422C-BA6E-98388A0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Draf strategi berdasarkan data listing, siap untuk Anda tinjau.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2C296-2654-48C1-900F-88AA66BD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238750" cy="2352675"/>
          </a:xfrm>
          <a:prstGeom xmlns:a="http://schemas.openxmlformats.org/drawingml/2006/main" prst="roundRect">
            <a:avLst>
              <a:gd name="adj" fmla="val 5668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283053C1-115C-420F-8613-613B9FC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Data listing&#10;Harga properti&#10;Data Meta">
            <a:extLst xmlns:a="http://schemas.openxmlformats.org/drawingml/2006/main">
              <a:ext uri="{FF2B5EF4-FFF2-40B4-BE49-F238E27FC236}">
                <a16:creationId xmlns:a16="http://schemas.microsoft.com/office/drawing/2014/main" id="{A6E664B7-212C-4A55-BF3B-68B4724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listing</a:t>
            </a:r>
          </a:p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Harga properti</a:t>
            </a:r>
          </a:p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Meta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89792-D0A5-4603-A9AE-53D7C6B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19475"/>
            <a:ext cx="5467350" cy="2352675"/>
          </a:xfrm>
          <a:prstGeom xmlns:a="http://schemas.openxmlformats.org/drawingml/2006/main" prst="roundRect">
            <a:avLst>
              <a:gd name="adj" fmla="val 566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</a:ln>
        </p:spPr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08BCF4DB-F960-4E70-80E9-03066C00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671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Rencana campaign&#10;Objective &amp; audiens&#10;Creative di">
            <a:extLst xmlns:a="http://schemas.openxmlformats.org/drawingml/2006/main">
              <a:ext uri="{FF2B5EF4-FFF2-40B4-BE49-F238E27FC236}">
                <a16:creationId xmlns:a16="http://schemas.microsoft.com/office/drawing/2014/main" id="{3704E313-5DA7-492A-AD0B-96700C35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991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Rencana campaign</a:t>
            </a:r>
          </a:p>
          <a:p xmlns:a="http://schemas.openxmlformats.org/drawingml/2006/main">
            <a: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Objective &amp; audiens</a:t>
            </a:r>
          </a:p>
          <a:p xmlns:a="http://schemas.openxmlformats.org/drawingml/2006/main">
            <a: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Creative direction &amp; teks iklan</a:t>
            </a:r>
          </a:p>
        </p:txBody>
      </p:sp>
      <p:sp>
        <p:nvSpPr>
          <p:cNvPr id="12" name="Targeting akhir mengikuti ketersediaan dan atura">
            <a:extLst xmlns:a="http://schemas.openxmlformats.org/drawingml/2006/main">
              <a:ext uri="{FF2B5EF4-FFF2-40B4-BE49-F238E27FC236}">
                <a16:creationId xmlns:a16="http://schemas.microsoft.com/office/drawing/2014/main" id="{3C796CF4-4573-453A-9280-AD29E8BD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Targeting akhir mengikuti ketersediaan dan aturan Meta.</a:t>
            </a:r>
          </a:p>
        </p:txBody>
      </p:sp>
    </p:spTree>
    <p:extLst>
      <p:ext uri="{BB962C8B-B14F-4D97-AF65-F5344CB8AC3E}">
        <p14:creationId xmlns:p14="http://schemas.microsoft.com/office/powerpoint/2010/main" val="644227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689E2CDC-A70C-4F5D-B3F3-951E927F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1BB89282-5A50-402C-9953-3F23655C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ETUP IKLAN">
            <a:extLst xmlns:a="http://schemas.openxmlformats.org/drawingml/2006/main">
              <a:ext uri="{FF2B5EF4-FFF2-40B4-BE49-F238E27FC236}">
                <a16:creationId xmlns:a16="http://schemas.microsoft.com/office/drawing/2014/main" id="{6098AC4D-B8A0-430F-A848-FCAC9751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SETUP IKLAN</a:t>
            </a:r>
          </a:p>
        </p:txBody>
      </p:sp>
      <p:sp>
        <p:nvSpPr>
          <p:cNvPr id="4" name="Campaign Builder">
            <a:extLst xmlns:a="http://schemas.openxmlformats.org/drawingml/2006/main">
              <a:ext uri="{FF2B5EF4-FFF2-40B4-BE49-F238E27FC236}">
                <a16:creationId xmlns:a16="http://schemas.microsoft.com/office/drawing/2014/main" id="{012062EC-47C8-4BFD-AD14-3BF9B67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Campaign Builder</a:t>
            </a:r>
          </a:p>
        </p:txBody>
      </p:sp>
      <p:sp>
        <p:nvSpPr>
          <p:cNvPr id="5" name="Strategi menjadi&#10;konfigurasi campaign">
            <a:extLst xmlns:a="http://schemas.openxmlformats.org/drawingml/2006/main">
              <a:ext uri="{FF2B5EF4-FFF2-40B4-BE49-F238E27FC236}">
                <a16:creationId xmlns:a16="http://schemas.microsoft.com/office/drawing/2014/main" id="{1ACFF7A6-BE9D-4661-BBB6-700CB2A4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Strategi menjadi</a:t>
            </a:r>
          </a:p>
          <a:p xmlns:a="http://schemas.openxmlformats.org/drawingml/2006/main">
            <a:pPr>
              <a:defRPr sz="26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konfigurasi campaign</a:t>
            </a:r>
          </a:p>
        </p:txBody>
      </p:sp>
      <p:sp>
        <p:nvSpPr>
          <p:cNvPr id="6" name="Budget dan jadwal&#10;&#10;Audiens dan Page&#10;&#10;WhatsApp de">
            <a:extLst xmlns:a="http://schemas.openxmlformats.org/drawingml/2006/main">
              <a:ext uri="{FF2B5EF4-FFF2-40B4-BE49-F238E27FC236}">
                <a16:creationId xmlns:a16="http://schemas.microsoft.com/office/drawing/2014/main" id="{D1ABE1C8-EBE3-4EA5-8482-6CB6D71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90525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Budget dan jadwal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Audiens dan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WhatsApp destination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9EF98-B64A-4A5A-A228-A342E76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57475"/>
            <a:ext cx="6248400" cy="339090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</a:ln>
        </p:spPr>
      </p:sp>
      <p:sp>
        <p:nvSpPr>
          <p:cNvPr id="8" name="KONFIGURASI CAMPAIGN">
            <a:extLst xmlns:a="http://schemas.openxmlformats.org/drawingml/2006/main">
              <a:ext uri="{FF2B5EF4-FFF2-40B4-BE49-F238E27FC236}">
                <a16:creationId xmlns:a16="http://schemas.microsoft.com/office/drawing/2014/main" id="{B252B95C-327F-4A9D-9706-64BFB88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860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KONFIGURASI CAMPAIGN</a:t>
            </a:r>
          </a:p>
        </p:txBody>
      </p:sp>
      <p:sp>
        <p:nvSpPr>
          <p:cNvPr id="9" name="Listing">
            <a:extLst xmlns:a="http://schemas.openxmlformats.org/drawingml/2006/main">
              <a:ext uri="{FF2B5EF4-FFF2-40B4-BE49-F238E27FC236}">
                <a16:creationId xmlns:a16="http://schemas.microsoft.com/office/drawing/2014/main" id="{29097899-12E2-44B9-9C24-B35719A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76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0" name="Cluster Vanya Park">
            <a:extLst xmlns:a="http://schemas.openxmlformats.org/drawingml/2006/main">
              <a:ext uri="{FF2B5EF4-FFF2-40B4-BE49-F238E27FC236}">
                <a16:creationId xmlns:a16="http://schemas.microsoft.com/office/drawing/2014/main" id="{83A7CB91-572A-43A5-AB1F-4B458F36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76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Cluster Vanya Park</a:t>
            </a:r>
          </a:p>
        </p:txBody>
      </p:sp>
      <p:sp>
        <p:nvSpPr>
          <p:cNvPr id="11" name="Objective">
            <a:extLst xmlns:a="http://schemas.openxmlformats.org/drawingml/2006/main">
              <a:ext uri="{FF2B5EF4-FFF2-40B4-BE49-F238E27FC236}">
                <a16:creationId xmlns:a16="http://schemas.microsoft.com/office/drawing/2014/main" id="{D1C26F2D-CE24-40E6-A06D-A6A45CE1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57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2" name="WhatsApp Leads">
            <a:extLst xmlns:a="http://schemas.openxmlformats.org/drawingml/2006/main">
              <a:ext uri="{FF2B5EF4-FFF2-40B4-BE49-F238E27FC236}">
                <a16:creationId xmlns:a16="http://schemas.microsoft.com/office/drawing/2014/main" id="{4B5429C8-E690-4FD6-86F3-4DE0A914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576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WhatsApp Leads</a:t>
            </a:r>
          </a:p>
        </p:txBody>
      </p:sp>
      <p:sp>
        <p:nvSpPr>
          <p:cNvPr id="13" name="Budget">
            <a:extLst xmlns:a="http://schemas.openxmlformats.org/drawingml/2006/main">
              <a:ext uri="{FF2B5EF4-FFF2-40B4-BE49-F238E27FC236}">
                <a16:creationId xmlns:a16="http://schemas.microsoft.com/office/drawing/2014/main" id="{BAA4B9F8-7E1C-47B1-9DFA-317508B8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38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4" name="Rp 1.000.000 / hari">
            <a:extLst xmlns:a="http://schemas.openxmlformats.org/drawingml/2006/main">
              <a:ext uri="{FF2B5EF4-FFF2-40B4-BE49-F238E27FC236}">
                <a16:creationId xmlns:a16="http://schemas.microsoft.com/office/drawing/2014/main" id="{59ADEEB0-D0F0-4673-A085-4E3299B6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386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Rp 1.000.000 / hari</a:t>
            </a:r>
          </a:p>
        </p:txBody>
      </p:sp>
      <p:sp>
        <p:nvSpPr>
          <p:cNvPr id="15" name="Rekomendasi AI">
            <a:extLst xmlns:a="http://schemas.openxmlformats.org/drawingml/2006/main">
              <a:ext uri="{FF2B5EF4-FFF2-40B4-BE49-F238E27FC236}">
                <a16:creationId xmlns:a16="http://schemas.microsoft.com/office/drawing/2014/main" id="{6C4AFE39-52F8-4C87-B91D-9140150D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Rekomendasi AI</a:t>
            </a:r>
          </a:p>
        </p:txBody>
      </p:sp>
      <p:sp>
        <p:nvSpPr>
          <p:cNvPr id="16" name="Diterapkan">
            <a:extLst xmlns:a="http://schemas.openxmlformats.org/drawingml/2006/main">
              <a:ext uri="{FF2B5EF4-FFF2-40B4-BE49-F238E27FC236}">
                <a16:creationId xmlns:a16="http://schemas.microsoft.com/office/drawing/2014/main" id="{99907C3B-A1B7-45BB-8B1F-816F427C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2197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Diterapkan</a:t>
            </a:r>
          </a:p>
        </p:txBody>
      </p:sp>
      <p:sp>
        <p:nvSpPr>
          <p:cNvPr id="17" name="Ilustrasi konfigurasi, bukan rekomendasi anggara">
            <a:extLst xmlns:a="http://schemas.openxmlformats.org/drawingml/2006/main">
              <a:ext uri="{FF2B5EF4-FFF2-40B4-BE49-F238E27FC236}">
                <a16:creationId xmlns:a16="http://schemas.microsoft.com/office/drawing/2014/main" id="{C027F862-FE3F-4AF9-8B01-BE4CE0C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57925"/>
            <a:ext cx="624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Ilustrasi konfigurasi, bukan rekomendasi anggaran.</a:t>
            </a:r>
          </a:p>
        </p:txBody>
      </p:sp>
    </p:spTree>
    <p:extLst>
      <p:ext uri="{BB962C8B-B14F-4D97-AF65-F5344CB8AC3E}">
        <p14:creationId xmlns:p14="http://schemas.microsoft.com/office/powerpoint/2010/main" val="789193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4FA3F993-DEDF-4C80-860D-7EA1B43C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D1862814-C758-45FC-8F20-777F468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AI PRODUKSI CREATIVE">
            <a:extLst xmlns:a="http://schemas.openxmlformats.org/drawingml/2006/main">
              <a:ext uri="{FF2B5EF4-FFF2-40B4-BE49-F238E27FC236}">
                <a16:creationId xmlns:a16="http://schemas.microsoft.com/office/drawing/2014/main" id="{B80C1239-2C2A-4CBC-B4A7-D5404A5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AI PRODUKSI CREATIVE</a:t>
            </a:r>
          </a:p>
        </p:txBody>
      </p:sp>
      <p:sp>
        <p:nvSpPr>
          <p:cNvPr id="4" name="Creative Producer">
            <a:extLst xmlns:a="http://schemas.openxmlformats.org/drawingml/2006/main">
              <a:ext uri="{FF2B5EF4-FFF2-40B4-BE49-F238E27FC236}">
                <a16:creationId xmlns:a16="http://schemas.microsoft.com/office/drawing/2014/main" id="{21683DA7-B149-476F-B417-8A1FB857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Creative Producer</a:t>
            </a:r>
          </a:p>
        </p:txBody>
      </p:sp>
      <p:sp>
        <p:nvSpPr>
          <p:cNvPr id="5" name="Satu alur produksi untuk tiga format creative.">
            <a:extLst xmlns:a="http://schemas.openxmlformats.org/drawingml/2006/main">
              <a:ext uri="{FF2B5EF4-FFF2-40B4-BE49-F238E27FC236}">
                <a16:creationId xmlns:a16="http://schemas.microsoft.com/office/drawing/2014/main" id="{9F5F4C45-ECA7-46C3-94A2-831AB815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Satu alur produksi untuk tiga format creative.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B8C9B-FE63-4FD0-A840-02E17816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486150" cy="2124075"/>
          </a:xfrm>
          <a:prstGeom xmlns:a="http://schemas.openxmlformats.org/drawingml/2006/main" prst="roundRect">
            <a:avLst>
              <a:gd name="adj" fmla="val 627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</a:ln>
        </p:spPr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96941E8D-D1DB-4ABC-AC86-19CC805D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mage Studio">
            <a:extLst xmlns:a="http://schemas.openxmlformats.org/drawingml/2006/main">
              <a:ext uri="{FF2B5EF4-FFF2-40B4-BE49-F238E27FC236}">
                <a16:creationId xmlns:a16="http://schemas.microsoft.com/office/drawing/2014/main" id="{36C09CA9-328F-40B7-9779-5517E54A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Image Studio</a:t>
            </a:r>
          </a:p>
        </p:txBody>
      </p:sp>
      <p:sp>
        <p:nvSpPr>
          <p:cNvPr id="9" name="Gambar statis dengan layout optimal.">
            <a:extLst xmlns:a="http://schemas.openxmlformats.org/drawingml/2006/main">
              <a:ext uri="{FF2B5EF4-FFF2-40B4-BE49-F238E27FC236}">
                <a16:creationId xmlns:a16="http://schemas.microsoft.com/office/drawing/2014/main" id="{6E9FD29B-0BE7-47A0-BC68-9B81609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Gambar statis dengan layout optimal.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2D257-6628-4772-841B-CB658A37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62325"/>
            <a:ext cx="3486150" cy="2124075"/>
          </a:xfrm>
          <a:prstGeom xmlns:a="http://schemas.openxmlformats.org/drawingml/2006/main" prst="roundRect">
            <a:avLst>
              <a:gd name="adj" fmla="val 6278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E95ECB02-50ED-4F14-A127-9E82781D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81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Video Studio">
            <a:extLst xmlns:a="http://schemas.openxmlformats.org/drawingml/2006/main">
              <a:ext uri="{FF2B5EF4-FFF2-40B4-BE49-F238E27FC236}">
                <a16:creationId xmlns:a16="http://schemas.microsoft.com/office/drawing/2014/main" id="{9AF24EDC-070A-4EE3-A63E-DF88BEA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Video Studio</a:t>
            </a:r>
          </a:p>
        </p:txBody>
      </p:sp>
      <p:sp>
        <p:nvSpPr>
          <p:cNvPr id="13" name="Kombinasi media, teks, dan audio.">
            <a:extLst xmlns:a="http://schemas.openxmlformats.org/drawingml/2006/main">
              <a:ext uri="{FF2B5EF4-FFF2-40B4-BE49-F238E27FC236}">
                <a16:creationId xmlns:a16="http://schemas.microsoft.com/office/drawing/2014/main" id="{C6F76D1C-87BC-438F-A5A6-E57F991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339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Kombinasi media, teks, dan audio.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64040-2D4F-461E-8A32-EBFD243C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62325"/>
            <a:ext cx="3486150" cy="2124075"/>
          </a:xfrm>
          <a:prstGeom xmlns:a="http://schemas.openxmlformats.org/drawingml/2006/main" prst="roundRect">
            <a:avLst>
              <a:gd name="adj" fmla="val 627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6F3A5A0D-71ED-4B52-928B-3F6403BF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Carousel Studio">
            <a:extLst xmlns:a="http://schemas.openxmlformats.org/drawingml/2006/main">
              <a:ext uri="{FF2B5EF4-FFF2-40B4-BE49-F238E27FC236}">
                <a16:creationId xmlns:a16="http://schemas.microsoft.com/office/drawing/2014/main" id="{64A29506-93B1-42B6-94D3-4AB957C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Carousel Studio</a:t>
            </a:r>
          </a:p>
        </p:txBody>
      </p:sp>
      <p:sp>
        <p:nvSpPr>
          <p:cNvPr id="17" name="Seri gambar untuk multi-pesan.">
            <a:extLst xmlns:a="http://schemas.openxmlformats.org/drawingml/2006/main">
              <a:ext uri="{FF2B5EF4-FFF2-40B4-BE49-F238E27FC236}">
                <a16:creationId xmlns:a16="http://schemas.microsoft.com/office/drawing/2014/main" id="{46FD8EDD-50BD-49BD-9E2D-4981976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339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Seri gambar untuk multi-pesan.</a:t>
            </a:r>
          </a:p>
        </p:txBody>
      </p:sp>
      <p:sp>
        <p:nvSpPr>
          <p:cNvPr id="18" name="Brief  /  Konsep  /  Storyboard  /  Asset plan  ">
            <a:extLst xmlns:a="http://schemas.openxmlformats.org/drawingml/2006/main">
              <a:ext uri="{FF2B5EF4-FFF2-40B4-BE49-F238E27FC236}">
                <a16:creationId xmlns:a16="http://schemas.microsoft.com/office/drawing/2014/main" id="{7A99F3E1-D5DD-428B-931E-41813FE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Brief  /  Konsep  /  Storyboard  /  Asset plan  /  Generate  /  QA  /  Final</a:t>
            </a:r>
          </a:p>
        </p:txBody>
      </p:sp>
    </p:spTree>
    <p:extLst>
      <p:ext uri="{BB962C8B-B14F-4D97-AF65-F5344CB8AC3E}">
        <p14:creationId xmlns:p14="http://schemas.microsoft.com/office/powerpoint/2010/main" val="1918861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BD482825-264A-4BA2-B7B7-0EC1354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07B5C8BA-89FD-4F4D-836C-B3F80E7E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MANAJEMEN ASET">
            <a:extLst xmlns:a="http://schemas.openxmlformats.org/drawingml/2006/main">
              <a:ext uri="{FF2B5EF4-FFF2-40B4-BE49-F238E27FC236}">
                <a16:creationId xmlns:a16="http://schemas.microsoft.com/office/drawing/2014/main" id="{FC096DDC-AD21-4E93-9837-F9E47A85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MANAJEMEN ASET</a:t>
            </a:r>
          </a:p>
        </p:txBody>
      </p:sp>
      <p:sp>
        <p:nvSpPr>
          <p:cNvPr id="4" name="Production Queue &amp; Library">
            <a:extLst xmlns:a="http://schemas.openxmlformats.org/drawingml/2006/main">
              <a:ext uri="{FF2B5EF4-FFF2-40B4-BE49-F238E27FC236}">
                <a16:creationId xmlns:a16="http://schemas.microsoft.com/office/drawing/2014/main" id="{59C70C46-AB34-4257-B3F7-4D0CBB8E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Production Queue &amp; Library</a:t>
            </a:r>
          </a:p>
        </p:txBody>
      </p:sp>
      <p:sp>
        <p:nvSpPr>
          <p:cNvPr id="5" name="Status job, hasil generasi, dan versi revisi dal">
            <a:extLst xmlns:a="http://schemas.openxmlformats.org/drawingml/2006/main">
              <a:ext uri="{FF2B5EF4-FFF2-40B4-BE49-F238E27FC236}">
                <a16:creationId xmlns:a16="http://schemas.microsoft.com/office/drawing/2014/main" id="{6F9A6E85-C0A8-40AC-AB00-50A9D15C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Status job, hasil generasi, dan versi revisi dalam satu tempat.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C4B6A-0AF1-4E6C-B310-665BCDDC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8615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7" name="Generating">
            <a:extLst xmlns:a="http://schemas.openxmlformats.org/drawingml/2006/main">
              <a:ext uri="{FF2B5EF4-FFF2-40B4-BE49-F238E27FC236}">
                <a16:creationId xmlns:a16="http://schemas.microsoft.com/office/drawing/2014/main" id="{7EA3AB55-F651-4618-B5B6-C0635006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Generating</a:t>
            </a:r>
          </a:p>
        </p:txBody>
      </p:sp>
      <p:sp>
        <p:nvSpPr>
          <p:cNvPr id="8" name="2 job">
            <a:extLst xmlns:a="http://schemas.openxmlformats.org/drawingml/2006/main">
              <a:ext uri="{FF2B5EF4-FFF2-40B4-BE49-F238E27FC236}">
                <a16:creationId xmlns:a16="http://schemas.microsoft.com/office/drawing/2014/main" id="{9D19959C-E636-476E-A832-2C72B6A0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 job</a:t>
            </a:r>
          </a:p>
        </p:txBody>
      </p:sp>
      <p:sp>
        <p:nvSpPr>
          <p:cNvPr id="9" name="Video: Promo DP">
            <a:extLst xmlns:a="http://schemas.openxmlformats.org/drawingml/2006/main">
              <a:ext uri="{FF2B5EF4-FFF2-40B4-BE49-F238E27FC236}">
                <a16:creationId xmlns:a16="http://schemas.microsoft.com/office/drawing/2014/main" id="{F3F8E19C-B5CA-4AB8-A059-FCA3B0DD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Video: Promo DP</a:t>
            </a:r>
          </a:p>
        </p:txBody>
      </p:sp>
      <p:sp>
        <p:nvSpPr>
          <p:cNvPr id="10" name="Rendering scene 3/5…">
            <a:extLst xmlns:a="http://schemas.openxmlformats.org/drawingml/2006/main">
              <a:ext uri="{FF2B5EF4-FFF2-40B4-BE49-F238E27FC236}">
                <a16:creationId xmlns:a16="http://schemas.microsoft.com/office/drawing/2014/main" id="{3D5E842F-7095-40C0-8A81-375D406D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Rendering scene 3/5…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D1A5F-ECF6-410C-AA5B-5E7AE40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81375"/>
            <a:ext cx="348615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2" name="Needs Review">
            <a:extLst xmlns:a="http://schemas.openxmlformats.org/drawingml/2006/main">
              <a:ext uri="{FF2B5EF4-FFF2-40B4-BE49-F238E27FC236}">
                <a16:creationId xmlns:a16="http://schemas.microsoft.com/office/drawing/2014/main" id="{61BE90E7-BE5E-43EA-9952-CB64FB56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04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Needs Review</a:t>
            </a:r>
          </a:p>
        </p:txBody>
      </p:sp>
      <p:sp>
        <p:nvSpPr>
          <p:cNvPr id="13" name="1 aset">
            <a:extLst xmlns:a="http://schemas.openxmlformats.org/drawingml/2006/main">
              <a:ext uri="{FF2B5EF4-FFF2-40B4-BE49-F238E27FC236}">
                <a16:creationId xmlns:a16="http://schemas.microsoft.com/office/drawing/2014/main" id="{0893965B-4D3D-4AD8-B3CE-82BB08AC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 aset</a:t>
            </a:r>
          </a:p>
        </p:txBody>
      </p:sp>
      <p:sp>
        <p:nvSpPr>
          <p:cNvPr id="14" name="Image: Eksterior">
            <a:extLst xmlns:a="http://schemas.openxmlformats.org/drawingml/2006/main">
              <a:ext uri="{FF2B5EF4-FFF2-40B4-BE49-F238E27FC236}">
                <a16:creationId xmlns:a16="http://schemas.microsoft.com/office/drawing/2014/main" id="{8660B00A-CD1D-4E25-BF55-520968D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Image: Eksterior</a:t>
            </a:r>
          </a:p>
        </p:txBody>
      </p:sp>
      <p:sp>
        <p:nvSpPr>
          <p:cNvPr id="15" name="Menunggu persetujuan QA.">
            <a:extLst xmlns:a="http://schemas.openxmlformats.org/drawingml/2006/main">
              <a:ext uri="{FF2B5EF4-FFF2-40B4-BE49-F238E27FC236}">
                <a16:creationId xmlns:a16="http://schemas.microsoft.com/office/drawing/2014/main" id="{B3E7BA83-276D-4079-A0D5-D1B5F7E9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673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Menunggu persetujuan QA.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AEB85-E12E-4FF7-ACDF-652E7CC6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348615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7" name="Approved">
            <a:extLst xmlns:a="http://schemas.openxmlformats.org/drawingml/2006/main">
              <a:ext uri="{FF2B5EF4-FFF2-40B4-BE49-F238E27FC236}">
                <a16:creationId xmlns:a16="http://schemas.microsoft.com/office/drawing/2014/main" id="{1DB34542-B185-4B9D-83C7-9ED288C7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8" name="4 aset">
            <a:extLst xmlns:a="http://schemas.openxmlformats.org/drawingml/2006/main">
              <a:ext uri="{FF2B5EF4-FFF2-40B4-BE49-F238E27FC236}">
                <a16:creationId xmlns:a16="http://schemas.microsoft.com/office/drawing/2014/main" id="{A3852440-4996-4B7C-AF6C-C28EA438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4 aset</a:t>
            </a:r>
          </a:p>
        </p:txBody>
      </p:sp>
      <p:sp>
        <p:nvSpPr>
          <p:cNvPr id="19" name="Carousel: Tipe Rumah">
            <a:extLst xmlns:a="http://schemas.openxmlformats.org/drawingml/2006/main">
              <a:ext uri="{FF2B5EF4-FFF2-40B4-BE49-F238E27FC236}">
                <a16:creationId xmlns:a16="http://schemas.microsoft.com/office/drawing/2014/main" id="{4151F349-8630-4767-B4A8-4F1967E2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Carousel: Tipe Rumah</a:t>
            </a:r>
          </a:p>
        </p:txBody>
      </p:sp>
      <p:sp>
        <p:nvSpPr>
          <p:cNvPr id="20" name="Siap untuk campaign.">
            <a:extLst xmlns:a="http://schemas.openxmlformats.org/drawingml/2006/main">
              <a:ext uri="{FF2B5EF4-FFF2-40B4-BE49-F238E27FC236}">
                <a16:creationId xmlns:a16="http://schemas.microsoft.com/office/drawing/2014/main" id="{1F1A8E90-4029-4B92-954D-DEDDE10A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Siap untuk campaign.</a:t>
            </a:r>
          </a:p>
        </p:txBody>
      </p:sp>
      <p:sp>
        <p:nvSpPr>
          <p:cNvPr id="21" name="Contoh status dan jumlah aset.">
            <a:extLst xmlns:a="http://schemas.openxmlformats.org/drawingml/2006/main">
              <a:ext uri="{FF2B5EF4-FFF2-40B4-BE49-F238E27FC236}">
                <a16:creationId xmlns:a16="http://schemas.microsoft.com/office/drawing/2014/main" id="{69180B58-E025-4F0F-A59E-C8C2A39D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Contoh status dan jumlah aset.</a:t>
            </a:r>
          </a:p>
        </p:txBody>
      </p:sp>
    </p:spTree>
    <p:extLst>
      <p:ext uri="{BB962C8B-B14F-4D97-AF65-F5344CB8AC3E}">
        <p14:creationId xmlns:p14="http://schemas.microsoft.com/office/powerpoint/2010/main" val="1566787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46A2BB3A-361A-4DA0-9E05-077B195B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FC7AA3A-A160-49A5-9270-F0BEFC42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VALIDASI KUALITAS">
            <a:extLst xmlns:a="http://schemas.openxmlformats.org/drawingml/2006/main">
              <a:ext uri="{FF2B5EF4-FFF2-40B4-BE49-F238E27FC236}">
                <a16:creationId xmlns:a16="http://schemas.microsoft.com/office/drawing/2014/main" id="{50C68BAB-EBC5-4ACB-B161-C9FCCAA9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VALIDASI KUALITAS</a:t>
            </a:r>
          </a:p>
        </p:txBody>
      </p:sp>
      <p:sp>
        <p:nvSpPr>
          <p:cNvPr id="4" name="QA &amp; simulasi creative">
            <a:extLst xmlns:a="http://schemas.openxmlformats.org/drawingml/2006/main">
              <a:ext uri="{FF2B5EF4-FFF2-40B4-BE49-F238E27FC236}">
                <a16:creationId xmlns:a16="http://schemas.microsoft.com/office/drawing/2014/main" id="{5E6AD16D-3F57-4CBB-AC3D-DD7EDA49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QA &amp; simulasi creative</a:t>
            </a:r>
          </a:p>
        </p:txBody>
      </p:sp>
      <p:sp>
        <p:nvSpPr>
          <p:cNvPr id="5" name="Hook, offer,&#10;CTA, dan trust">
            <a:extLst xmlns:a="http://schemas.openxmlformats.org/drawingml/2006/main">
              <a:ext uri="{FF2B5EF4-FFF2-40B4-BE49-F238E27FC236}">
                <a16:creationId xmlns:a16="http://schemas.microsoft.com/office/drawing/2014/main" id="{7FAB8512-4C06-4C9B-96D9-9BC46007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Hook, offer,</a:t>
            </a:r>
          </a:p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CTA, dan trust</a:t>
            </a:r>
          </a:p>
        </p:txBody>
      </p:sp>
      <p:sp>
        <p:nvSpPr>
          <p:cNvPr id="6" name="Fakta harga&#10;Kesesuaian brand brief&#10;Teks visual">
            <a:extLst xmlns:a="http://schemas.openxmlformats.org/drawingml/2006/main">
              <a:ext uri="{FF2B5EF4-FFF2-40B4-BE49-F238E27FC236}">
                <a16:creationId xmlns:a16="http://schemas.microsoft.com/office/drawing/2014/main" id="{EAB38D40-80D7-4ABD-B162-FDF93E1B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Fakta harga</a:t>
            </a:r>
          </a:p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Kesesuaian brand brief</a:t>
            </a:r>
          </a:p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Teks visual</a:t>
            </a:r>
          </a:p>
        </p:txBody>
      </p:sp>
      <p:sp>
        <p:nvSpPr>
          <p:cNvPr id="7" name="Compare Runs&#10;untuk melihat revisi">
            <a:extLst xmlns:a="http://schemas.openxmlformats.org/drawingml/2006/main">
              <a:ext uri="{FF2B5EF4-FFF2-40B4-BE49-F238E27FC236}">
                <a16:creationId xmlns:a16="http://schemas.microsoft.com/office/drawing/2014/main" id="{D19FE476-6306-4F91-A464-2E4F716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Compare Runs</a:t>
            </a:r>
          </a:p>
          <a:p xmlns:a="http://schemas.openxmlformats.org/drawingml/2006/main">
            <a: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untuk melihat revisi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C9534-6558-4BD2-8CCE-7177AE11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14625"/>
            <a:ext cx="7353300" cy="3771900"/>
          </a:xfrm>
          <a:prstGeom xmlns:a="http://schemas.openxmlformats.org/drawingml/2006/main" prst="roundRect">
            <a:avLst>
              <a:gd name="adj" fmla="val 3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</a:ln>
        </p:spPr>
      </p:sp>
      <p:sp>
        <p:nvSpPr>
          <p:cNvPr id="9" name="QA &amp; simulasi">
            <a:extLst xmlns:a="http://schemas.openxmlformats.org/drawingml/2006/main">
              <a:ext uri="{FF2B5EF4-FFF2-40B4-BE49-F238E27FC236}">
                <a16:creationId xmlns:a16="http://schemas.microsoft.com/office/drawing/2014/main" id="{BA7A97CF-890B-42A1-8035-789ADD18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24175"/>
            <a:ext cx="689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QA &amp; simulasi</a:t>
            </a:r>
          </a:p>
        </p:txBody>
      </p:sp>
      <p:sp>
        <p:nvSpPr>
          <p:cNvPr id="10" name="ILUSTRASI">
            <a:extLst xmlns:a="http://schemas.openxmlformats.org/drawingml/2006/main">
              <a:ext uri="{FF2B5EF4-FFF2-40B4-BE49-F238E27FC236}">
                <a16:creationId xmlns:a16="http://schemas.microsoft.com/office/drawing/2014/main" id="{C0C880B9-A1A2-4A83-9AA8-7FA82CC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43275"/>
            <a:ext cx="689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ILUSTRASI</a:t>
            </a:r>
          </a:p>
        </p:txBody>
      </p:sp>
      <p:sp>
        <p:nvSpPr>
          <p:cNvPr id="11" name="QA">
            <a:extLst xmlns:a="http://schemas.openxmlformats.org/drawingml/2006/main">
              <a:ext uri="{FF2B5EF4-FFF2-40B4-BE49-F238E27FC236}">
                <a16:creationId xmlns:a16="http://schemas.microsoft.com/office/drawing/2014/main" id="{F1F0E7E7-3A8C-4B76-A04C-C4A34E0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86175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QA</a:t>
            </a:r>
          </a:p>
        </p:txBody>
      </p:sp>
      <p:sp>
        <p:nvSpPr>
          <p:cNvPr id="12" name="Fakta, klaim, visual, dan brief">
            <a:extLst xmlns:a="http://schemas.openxmlformats.org/drawingml/2006/main">
              <a:ext uri="{FF2B5EF4-FFF2-40B4-BE49-F238E27FC236}">
                <a16:creationId xmlns:a16="http://schemas.microsoft.com/office/drawing/2014/main" id="{16013FE3-0696-4B4E-BC2E-5611BD2D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52875"/>
            <a:ext cx="689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Fakta, klaim, visual, dan brief</a:t>
            </a:r>
          </a:p>
        </p:txBody>
      </p:sp>
      <p:sp>
        <p:nvSpPr>
          <p:cNvPr id="13" name="Simulasi">
            <a:extLst xmlns:a="http://schemas.openxmlformats.org/drawingml/2006/main">
              <a:ext uri="{FF2B5EF4-FFF2-40B4-BE49-F238E27FC236}">
                <a16:creationId xmlns:a16="http://schemas.microsoft.com/office/drawing/2014/main" id="{F3BA821D-305E-4B89-B4F5-A4D7C1CC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76738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Simulasi</a:t>
            </a:r>
          </a:p>
        </p:txBody>
      </p:sp>
      <p:sp>
        <p:nvSpPr>
          <p:cNvPr id="14" name="Hook, offer, CTA, dan trust">
            <a:extLst xmlns:a="http://schemas.openxmlformats.org/drawingml/2006/main">
              <a:ext uri="{FF2B5EF4-FFF2-40B4-BE49-F238E27FC236}">
                <a16:creationId xmlns:a16="http://schemas.microsoft.com/office/drawing/2014/main" id="{0ECF3C9C-8DCD-4639-B6F3-8754C7BB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43438"/>
            <a:ext cx="689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Hook, offer, CTA, dan trust</a:t>
            </a:r>
          </a:p>
        </p:txBody>
      </p:sp>
      <p:sp>
        <p:nvSpPr>
          <p:cNvPr id="15" name="Relevansi">
            <a:extLst xmlns:a="http://schemas.openxmlformats.org/drawingml/2006/main">
              <a:ext uri="{FF2B5EF4-FFF2-40B4-BE49-F238E27FC236}">
                <a16:creationId xmlns:a16="http://schemas.microsoft.com/office/drawing/2014/main" id="{E7DBCD0A-FCF6-47CC-BDEB-7CA15AE1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67300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Relevansi</a:t>
            </a:r>
          </a:p>
        </p:txBody>
      </p:sp>
      <p:sp>
        <p:nvSpPr>
          <p:cNvPr id="16" name="Pesan dan objection handling">
            <a:extLst xmlns:a="http://schemas.openxmlformats.org/drawingml/2006/main">
              <a:ext uri="{FF2B5EF4-FFF2-40B4-BE49-F238E27FC236}">
                <a16:creationId xmlns:a16="http://schemas.microsoft.com/office/drawing/2014/main" id="{F3B0DA33-891F-4A68-BCB8-F95B5DC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34000"/>
            <a:ext cx="689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Pesan dan objection handling</a:t>
            </a:r>
          </a:p>
        </p:txBody>
      </p:sp>
      <p:sp>
        <p:nvSpPr>
          <p:cNvPr id="17" name="Compare Runs">
            <a:extLst xmlns:a="http://schemas.openxmlformats.org/drawingml/2006/main">
              <a:ext uri="{FF2B5EF4-FFF2-40B4-BE49-F238E27FC236}">
                <a16:creationId xmlns:a16="http://schemas.microsoft.com/office/drawing/2014/main" id="{46ABB1A2-5A0F-48A7-AFC6-DB4BCB9E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757863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Compare Runs</a:t>
            </a:r>
          </a:p>
        </p:txBody>
      </p:sp>
      <p:sp>
        <p:nvSpPr>
          <p:cNvPr id="18" name="Original dibandingkan dengan revisi">
            <a:extLst xmlns:a="http://schemas.openxmlformats.org/drawingml/2006/main">
              <a:ext uri="{FF2B5EF4-FFF2-40B4-BE49-F238E27FC236}">
                <a16:creationId xmlns:a16="http://schemas.microsoft.com/office/drawing/2014/main" id="{D1D4F6B7-8FCC-4DC1-BA22-0FDB10C6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24563"/>
            <a:ext cx="689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Original dibandingkan dengan revisi</a:t>
            </a:r>
          </a:p>
        </p:txBody>
      </p:sp>
      <p:sp>
        <p:nvSpPr>
          <p:cNvPr id="19" name="Indikator kesiapan berdasarkan best practice, bu">
            <a:extLst xmlns:a="http://schemas.openxmlformats.org/drawingml/2006/main">
              <a:ext uri="{FF2B5EF4-FFF2-40B4-BE49-F238E27FC236}">
                <a16:creationId xmlns:a16="http://schemas.microsoft.com/office/drawing/2014/main" id="{80A885D1-7691-46BC-89DE-3E96AFA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Indikator kesiapan berdasarkan best practice, bukan jaminan hasil campaign.</a:t>
            </a:r>
          </a:p>
        </p:txBody>
      </p:sp>
    </p:spTree>
    <p:extLst>
      <p:ext uri="{BB962C8B-B14F-4D97-AF65-F5344CB8AC3E}">
        <p14:creationId xmlns:p14="http://schemas.microsoft.com/office/powerpoint/2010/main" val="2436024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0F7D1448-251E-45BF-B5ED-C2E809C9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C15A82A3-088E-43BE-9DDF-9E679668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EKSEKUSI TERAKHIR">
            <a:extLst xmlns:a="http://schemas.openxmlformats.org/drawingml/2006/main">
              <a:ext uri="{FF2B5EF4-FFF2-40B4-BE49-F238E27FC236}">
                <a16:creationId xmlns:a16="http://schemas.microsoft.com/office/drawing/2014/main" id="{D7F2D84E-7993-4E03-8143-C5B6E20A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EKSEKUSI TERAKHIR</a:t>
            </a:r>
          </a:p>
        </p:txBody>
      </p:sp>
      <p:sp>
        <p:nvSpPr>
          <p:cNvPr id="4" name="Meta Preflight">
            <a:extLst xmlns:a="http://schemas.openxmlformats.org/drawingml/2006/main">
              <a:ext uri="{FF2B5EF4-FFF2-40B4-BE49-F238E27FC236}">
                <a16:creationId xmlns:a16="http://schemas.microsoft.com/office/drawing/2014/main" id="{66B14403-5403-4B43-9622-2F1D37B0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Meta Preflight</a:t>
            </a:r>
          </a:p>
        </p:txBody>
      </p:sp>
      <p:sp>
        <p:nvSpPr>
          <p:cNvPr id="5" name="Pengecekan kelayakan sebelum iklan diterbitkan k">
            <a:extLst xmlns:a="http://schemas.openxmlformats.org/drawingml/2006/main">
              <a:ext uri="{FF2B5EF4-FFF2-40B4-BE49-F238E27FC236}">
                <a16:creationId xmlns:a16="http://schemas.microsoft.com/office/drawing/2014/main" id="{FE5A3414-A95A-4387-A5FD-DC7BD12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Pengecekan kelayakan sebelum iklan diterbitkan ke Meta.</a:t>
            </a:r>
          </a:p>
        </p:txBody>
      </p:sp>
      <p:sp>
        <p:nvSpPr>
          <p:cNvPr id="6" name="Dalam&#10;validasi">
            <a:extLst xmlns:a="http://schemas.openxmlformats.org/drawingml/2006/main">
              <a:ext uri="{FF2B5EF4-FFF2-40B4-BE49-F238E27FC236}">
                <a16:creationId xmlns:a16="http://schemas.microsoft.com/office/drawing/2014/main" id="{3B22BCCC-D45C-450C-BA0D-CD13D824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Dalam</a:t>
            </a:r>
          </a:p>
          <a:p xmlns:a="http://schemas.openxmlformats.org/drawingml/2006/main">
            <a: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7" name="Policy blocker menampilkan alasan yang perlu dip">
            <a:extLst xmlns:a="http://schemas.openxmlformats.org/drawingml/2006/main">
              <a:ext uri="{FF2B5EF4-FFF2-40B4-BE49-F238E27FC236}">
                <a16:creationId xmlns:a16="http://schemas.microsoft.com/office/drawing/2014/main" id="{5E472FAD-1731-40E8-BE05-F32DB79E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Policy blocker menampilkan alasan yang perlu diperbaiki.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559EE-DA2C-49C6-9337-6DDA6C8A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6686550" cy="276225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PREFLIGHT CHECKLIST (ILUSTRASI)">
            <a:extLst xmlns:a="http://schemas.openxmlformats.org/drawingml/2006/main">
              <a:ext uri="{FF2B5EF4-FFF2-40B4-BE49-F238E27FC236}">
                <a16:creationId xmlns:a16="http://schemas.microsoft.com/office/drawing/2014/main" id="{C595BAB2-B530-46AD-98B7-84111897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90925"/>
            <a:ext cx="615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PREFLIGHT CHECKLIST (ILUSTRASI)</a:t>
            </a:r>
          </a:p>
        </p:txBody>
      </p:sp>
      <p:sp>
        <p:nvSpPr>
          <p:cNvPr id="10" name="Account &amp; Page akses">
            <a:extLst xmlns:a="http://schemas.openxmlformats.org/drawingml/2006/main">
              <a:ext uri="{FF2B5EF4-FFF2-40B4-BE49-F238E27FC236}">
                <a16:creationId xmlns:a16="http://schemas.microsoft.com/office/drawing/2014/main" id="{02C0D958-E085-4381-95B7-5B892C39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33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Account &amp; Page akses</a:t>
            </a:r>
          </a:p>
        </p:txBody>
      </p:sp>
      <p:sp>
        <p:nvSpPr>
          <p:cNvPr id="11" name="Budget &amp; audience setup">
            <a:extLst xmlns:a="http://schemas.openxmlformats.org/drawingml/2006/main">
              <a:ext uri="{FF2B5EF4-FFF2-40B4-BE49-F238E27FC236}">
                <a16:creationId xmlns:a16="http://schemas.microsoft.com/office/drawing/2014/main" id="{C24751C8-DFBF-4696-BB46-C56B9D2B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672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Budget &amp; audience setup</a:t>
            </a:r>
          </a:p>
        </p:txBody>
      </p:sp>
      <p:sp>
        <p:nvSpPr>
          <p:cNvPr id="12" name="Policy checks: tertahan">
            <a:extLst xmlns:a="http://schemas.openxmlformats.org/drawingml/2006/main">
              <a:ext uri="{FF2B5EF4-FFF2-40B4-BE49-F238E27FC236}">
                <a16:creationId xmlns:a16="http://schemas.microsoft.com/office/drawing/2014/main" id="{54F0F017-AC72-4AA4-96C4-196A8D0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006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24C41"/>
                </a:solidFill>
                <a:latin typeface="Arial"/>
                <a:ea typeface="Arial"/>
                <a:cs typeface="Arial"/>
              </a:rPr>
              <a:t>Policy checks: tertahan</a:t>
            </a:r>
          </a:p>
        </p:txBody>
      </p:sp>
      <p:sp>
        <p:nvSpPr>
          <p:cNvPr id="13" name="Gambar memuat tombol palsu.">
            <a:extLst xmlns:a="http://schemas.openxmlformats.org/drawingml/2006/main">
              <a:ext uri="{FF2B5EF4-FFF2-40B4-BE49-F238E27FC236}">
                <a16:creationId xmlns:a16="http://schemas.microsoft.com/office/drawing/2014/main" id="{FFC38D5B-3894-49F8-9759-C8F45964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19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Gambar memuat tombol palsu.</a:t>
            </a:r>
          </a:p>
        </p:txBody>
      </p:sp>
    </p:spTree>
    <p:extLst>
      <p:ext uri="{BB962C8B-B14F-4D97-AF65-F5344CB8AC3E}">
        <p14:creationId xmlns:p14="http://schemas.microsoft.com/office/powerpoint/2010/main" val="495328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EFDC3A09-50EF-48F9-AC6C-3D629617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F9DF432A-E46F-4779-93EB-5E9413F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COPILOT &amp; PERSETUJUAN">
            <a:extLst xmlns:a="http://schemas.openxmlformats.org/drawingml/2006/main">
              <a:ext uri="{FF2B5EF4-FFF2-40B4-BE49-F238E27FC236}">
                <a16:creationId xmlns:a16="http://schemas.microsoft.com/office/drawing/2014/main" id="{43D0FEC5-DA49-4067-A18C-F4B32FA3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COPILOT &amp; PERSETUJUAN</a:t>
            </a:r>
          </a:p>
        </p:txBody>
      </p:sp>
      <p:sp>
        <p:nvSpPr>
          <p:cNvPr id="4" name="Anda memegang kendali">
            <a:extLst xmlns:a="http://schemas.openxmlformats.org/drawingml/2006/main">
              <a:ext uri="{FF2B5EF4-FFF2-40B4-BE49-F238E27FC236}">
                <a16:creationId xmlns:a16="http://schemas.microsoft.com/office/drawing/2014/main" id="{F94B5BC5-E679-44ED-9709-4B4C0D50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Anda memegang kendali</a:t>
            </a:r>
          </a:p>
        </p:txBody>
      </p:sp>
      <p:sp>
        <p:nvSpPr>
          <p:cNvPr id="5" name="AI merekomendasikan.&#10;Anda memutuskan.">
            <a:extLst xmlns:a="http://schemas.openxmlformats.org/drawingml/2006/main">
              <a:ext uri="{FF2B5EF4-FFF2-40B4-BE49-F238E27FC236}">
                <a16:creationId xmlns:a16="http://schemas.microsoft.com/office/drawing/2014/main" id="{705E1B8A-0274-4DAC-A932-7BFEF166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667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AI merekomendasikan.</a:t>
            </a:r>
          </a:p>
          <a:p xmlns:a="http://schemas.openxmlformats.org/drawingml/2006/main">
            <a:pPr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Anda memutuskan.</a:t>
            </a:r>
          </a:p>
        </p:txBody>
      </p:sp>
      <p:sp>
        <p:nvSpPr>
          <p:cNvPr id="6" name="Tinjau alasan scale budget&#10;&#10;Pause creative yang ">
            <a:extLst xmlns:a="http://schemas.openxmlformats.org/drawingml/2006/main">
              <a:ext uri="{FF2B5EF4-FFF2-40B4-BE49-F238E27FC236}">
                <a16:creationId xmlns:a16="http://schemas.microsoft.com/office/drawing/2014/main" id="{7086C450-21D6-4CAC-85C6-A207E97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6671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Tinjau alasan scale budget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Pause creative yang jenuh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Minta variasi baru ke AI Produksi Creative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1C20C-0EB9-4902-966D-28B067E8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7124700" cy="3705225"/>
          </a:xfrm>
          <a:prstGeom xmlns:a="http://schemas.openxmlformats.org/drawingml/2006/main" prst="roundRect">
            <a:avLst>
              <a:gd name="adj" fmla="val 35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</a:ln>
        </p:spPr>
      </p:sp>
      <p:sp>
        <p:nvSpPr>
          <p:cNvPr id="8" name="Detail rekomendasi">
            <a:extLst xmlns:a="http://schemas.openxmlformats.org/drawingml/2006/main">
              <a:ext uri="{FF2B5EF4-FFF2-40B4-BE49-F238E27FC236}">
                <a16:creationId xmlns:a16="http://schemas.microsoft.com/office/drawing/2014/main" id="{5EA373D0-14C9-43AC-BFD8-CB180349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241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Detail rekomendasi</a:t>
            </a:r>
          </a:p>
        </p:txBody>
      </p:sp>
      <p:sp>
        <p:nvSpPr>
          <p:cNvPr id="9" name="ILUSTRASI">
            <a:extLst xmlns:a="http://schemas.openxmlformats.org/drawingml/2006/main">
              <a:ext uri="{FF2B5EF4-FFF2-40B4-BE49-F238E27FC236}">
                <a16:creationId xmlns:a16="http://schemas.microsoft.com/office/drawing/2014/main" id="{92D36446-CE5D-4803-8B04-E67CB29C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ILUSTRASI</a:t>
            </a:r>
          </a:p>
        </p:txBody>
      </p:sp>
      <p:sp>
        <p:nvSpPr>
          <p:cNvPr id="10" name="Usulan">
            <a:extLst xmlns:a="http://schemas.openxmlformats.org/drawingml/2006/main">
              <a:ext uri="{FF2B5EF4-FFF2-40B4-BE49-F238E27FC236}">
                <a16:creationId xmlns:a16="http://schemas.microsoft.com/office/drawing/2014/main" id="{F7C8D110-CFFD-442A-9422-0F75F6E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861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Usulan</a:t>
            </a:r>
          </a:p>
        </p:txBody>
      </p:sp>
      <p:sp>
        <p:nvSpPr>
          <p:cNvPr id="11" name="Request refresh creative">
            <a:extLst xmlns:a="http://schemas.openxmlformats.org/drawingml/2006/main">
              <a:ext uri="{FF2B5EF4-FFF2-40B4-BE49-F238E27FC236}">
                <a16:creationId xmlns:a16="http://schemas.microsoft.com/office/drawing/2014/main" id="{249B7DBA-CEB1-4B62-8C19-CD6E0ED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Request refresh creative</a:t>
            </a:r>
          </a:p>
        </p:txBody>
      </p:sp>
      <p:sp>
        <p:nvSpPr>
          <p:cNvPr id="12" name="Alasan &amp; bukti">
            <a:extLst xmlns:a="http://schemas.openxmlformats.org/drawingml/2006/main">
              <a:ext uri="{FF2B5EF4-FFF2-40B4-BE49-F238E27FC236}">
                <a16:creationId xmlns:a16="http://schemas.microsoft.com/office/drawing/2014/main" id="{CE6B9A21-4220-4E95-A21D-8136FA44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0069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Alasan &amp; bukti</a:t>
            </a:r>
          </a:p>
        </p:txBody>
      </p:sp>
      <p:sp>
        <p:nvSpPr>
          <p:cNvPr id="13" name="Tinjau evaluasi dan aset terkait">
            <a:extLst xmlns:a="http://schemas.openxmlformats.org/drawingml/2006/main">
              <a:ext uri="{FF2B5EF4-FFF2-40B4-BE49-F238E27FC236}">
                <a16:creationId xmlns:a16="http://schemas.microsoft.com/office/drawing/2014/main" id="{88E4AF14-2D1B-4F98-BDAF-61970FD6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6769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Tinjau evaluasi dan aset terkait</a:t>
            </a:r>
          </a:p>
        </p:txBody>
      </p:sp>
      <p:sp>
        <p:nvSpPr>
          <p:cNvPr id="14" name="Keputusan Anda">
            <a:extLst xmlns:a="http://schemas.openxmlformats.org/drawingml/2006/main">
              <a:ext uri="{FF2B5EF4-FFF2-40B4-BE49-F238E27FC236}">
                <a16:creationId xmlns:a16="http://schemas.microsoft.com/office/drawing/2014/main" id="{03710666-B096-4452-B348-78704163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33963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Keputusan Anda</a:t>
            </a:r>
          </a:p>
        </p:txBody>
      </p:sp>
      <p:sp>
        <p:nvSpPr>
          <p:cNvPr id="15" name="Approve atau reject">
            <a:extLst xmlns:a="http://schemas.openxmlformats.org/drawingml/2006/main">
              <a:ext uri="{FF2B5EF4-FFF2-40B4-BE49-F238E27FC236}">
                <a16:creationId xmlns:a16="http://schemas.microsoft.com/office/drawing/2014/main" id="{B661FD84-E8DC-48D3-83D4-2876745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00663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Approve atau reject</a:t>
            </a:r>
          </a:p>
        </p:txBody>
      </p:sp>
      <p:sp>
        <p:nvSpPr>
          <p:cNvPr id="16" name="Status eksekusi">
            <a:extLst xmlns:a="http://schemas.openxmlformats.org/drawingml/2006/main">
              <a:ext uri="{FF2B5EF4-FFF2-40B4-BE49-F238E27FC236}">
                <a16:creationId xmlns:a16="http://schemas.microsoft.com/office/drawing/2014/main" id="{60D52865-7898-4EA1-AC52-116A46CA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07856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Status eksekusi</a:t>
            </a:r>
          </a:p>
        </p:txBody>
      </p:sp>
      <p:sp>
        <p:nvSpPr>
          <p:cNvPr id="17" name="Menunggu approval">
            <a:extLst xmlns:a="http://schemas.openxmlformats.org/drawingml/2006/main">
              <a:ext uri="{FF2B5EF4-FFF2-40B4-BE49-F238E27FC236}">
                <a16:creationId xmlns:a16="http://schemas.microsoft.com/office/drawing/2014/main" id="{F8C155C4-B3AA-4429-A4B9-E8B39B47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74556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Menunggu approval</a:t>
            </a:r>
          </a:p>
        </p:txBody>
      </p:sp>
      <p:sp>
        <p:nvSpPr>
          <p:cNvPr id="18" name="Ilustrasi detail rekomendasi &amp; approval">
            <a:extLst xmlns:a="http://schemas.openxmlformats.org/drawingml/2006/main">
              <a:ext uri="{FF2B5EF4-FFF2-40B4-BE49-F238E27FC236}">
                <a16:creationId xmlns:a16="http://schemas.microsoft.com/office/drawing/2014/main" id="{D6E1399F-F63F-4311-884C-6E88C266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67475"/>
            <a:ext cx="712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Ilustrasi detail rekomendasi &amp; approval</a:t>
            </a:r>
          </a:p>
        </p:txBody>
      </p:sp>
    </p:spTree>
    <p:extLst>
      <p:ext uri="{BB962C8B-B14F-4D97-AF65-F5344CB8AC3E}">
        <p14:creationId xmlns:p14="http://schemas.microsoft.com/office/powerpoint/2010/main" val="635332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3B772BE9-1A00-4508-A2FF-B65E73D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D747ECBA-367D-4128-BF66-60D6300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KEBIJAKAN OPTIMASI">
            <a:extLst xmlns:a="http://schemas.openxmlformats.org/drawingml/2006/main">
              <a:ext uri="{FF2B5EF4-FFF2-40B4-BE49-F238E27FC236}">
                <a16:creationId xmlns:a16="http://schemas.microsoft.com/office/drawing/2014/main" id="{5485301F-A77E-4049-A21B-A4566D9A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KEBIJAKAN OPTIMASI</a:t>
            </a:r>
          </a:p>
        </p:txBody>
      </p:sp>
      <p:sp>
        <p:nvSpPr>
          <p:cNvPr id="4" name="Growth Settings &amp; Guardrails">
            <a:extLst xmlns:a="http://schemas.openxmlformats.org/drawingml/2006/main">
              <a:ext uri="{FF2B5EF4-FFF2-40B4-BE49-F238E27FC236}">
                <a16:creationId xmlns:a16="http://schemas.microsoft.com/office/drawing/2014/main" id="{8330FA66-3D43-4B07-8C86-9E8A076C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Growth Settings &amp; Guardrails</a:t>
            </a:r>
          </a:p>
        </p:txBody>
      </p:sp>
      <p:sp>
        <p:nvSpPr>
          <p:cNvPr id="5" name="Copilot Mode">
            <a:extLst xmlns:a="http://schemas.openxmlformats.org/drawingml/2006/main">
              <a:ext uri="{FF2B5EF4-FFF2-40B4-BE49-F238E27FC236}">
                <a16:creationId xmlns:a16="http://schemas.microsoft.com/office/drawing/2014/main" id="{D9DEE447-3C63-47D5-87A4-FFB856F2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Copilot Mode</a:t>
            </a:r>
          </a:p>
        </p:txBody>
      </p:sp>
      <p:sp>
        <p:nvSpPr>
          <p:cNvPr id="6" name="Semua tindakan membutuhkan persetujuan manusia.">
            <a:extLst xmlns:a="http://schemas.openxmlformats.org/drawingml/2006/main">
              <a:ext uri="{FF2B5EF4-FFF2-40B4-BE49-F238E27FC236}">
                <a16:creationId xmlns:a16="http://schemas.microsoft.com/office/drawing/2014/main" id="{07DDBB64-D804-4124-903E-B9335FE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Semua tindakan membutuhkan persetujuan manusia.</a:t>
            </a:r>
          </a:p>
        </p:txBody>
      </p:sp>
      <p:sp>
        <p:nvSpPr>
          <p:cNvPr id="7" name="Autonomous Direction">
            <a:extLst xmlns:a="http://schemas.openxmlformats.org/drawingml/2006/main">
              <a:ext uri="{FF2B5EF4-FFF2-40B4-BE49-F238E27FC236}">
                <a16:creationId xmlns:a16="http://schemas.microsoft.com/office/drawing/2014/main" id="{BD1295FF-71D3-4355-9A12-0655C7D3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Autonomous Direction</a:t>
            </a:r>
          </a:p>
        </p:txBody>
      </p:sp>
      <p:sp>
        <p:nvSpPr>
          <p:cNvPr id="8" name="Tindakan otomatis dalam batas kebijakan, setelah">
            <a:extLst xmlns:a="http://schemas.openxmlformats.org/drawingml/2006/main">
              <a:ext uri="{FF2B5EF4-FFF2-40B4-BE49-F238E27FC236}">
                <a16:creationId xmlns:a16="http://schemas.microsoft.com/office/drawing/2014/main" id="{78625418-85E0-439E-8D7C-DB74B28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Tindakan otomatis dalam batas kebijakan, setelah tervalidasi.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E5041-FC4F-48EE-8C37-A14D16DA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71775"/>
            <a:ext cx="7134225" cy="3552825"/>
          </a:xfrm>
          <a:prstGeom xmlns:a="http://schemas.openxmlformats.org/drawingml/2006/main" prst="roundRect">
            <a:avLst>
              <a:gd name="adj" fmla="val 37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</a:ln>
        </p:spPr>
      </p:sp>
      <p:sp>
        <p:nvSpPr>
          <p:cNvPr id="10" name="Growth settings">
            <a:extLst xmlns:a="http://schemas.openxmlformats.org/drawingml/2006/main">
              <a:ext uri="{FF2B5EF4-FFF2-40B4-BE49-F238E27FC236}">
                <a16:creationId xmlns:a16="http://schemas.microsoft.com/office/drawing/2014/main" id="{E7BA36ED-9BDA-4938-8270-AC32ACD0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81325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Growth settings</a:t>
            </a:r>
          </a:p>
        </p:txBody>
      </p:sp>
      <p:sp>
        <p:nvSpPr>
          <p:cNvPr id="11" name="ILUSTRASI">
            <a:extLst xmlns:a="http://schemas.openxmlformats.org/drawingml/2006/main">
              <a:ext uri="{FF2B5EF4-FFF2-40B4-BE49-F238E27FC236}">
                <a16:creationId xmlns:a16="http://schemas.microsoft.com/office/drawing/2014/main" id="{442484B4-CC2C-4D28-9D47-E78FC003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00425"/>
            <a:ext cx="667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ILUSTRASI</a:t>
            </a:r>
          </a:p>
        </p:txBody>
      </p:sp>
      <p:sp>
        <p:nvSpPr>
          <p:cNvPr id="12" name="Tujuan &amp; target">
            <a:extLst xmlns:a="http://schemas.openxmlformats.org/drawingml/2006/main">
              <a:ext uri="{FF2B5EF4-FFF2-40B4-BE49-F238E27FC236}">
                <a16:creationId xmlns:a16="http://schemas.microsoft.com/office/drawing/2014/main" id="{3D60F219-5CDC-470B-BDFC-4757C277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43325"/>
            <a:ext cx="667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Tujuan &amp; target</a:t>
            </a:r>
          </a:p>
        </p:txBody>
      </p:sp>
      <p:sp>
        <p:nvSpPr>
          <p:cNvPr id="13" name="Leads / CPL sesuai kebutuhan">
            <a:extLst xmlns:a="http://schemas.openxmlformats.org/drawingml/2006/main">
              <a:ext uri="{FF2B5EF4-FFF2-40B4-BE49-F238E27FC236}">
                <a16:creationId xmlns:a16="http://schemas.microsoft.com/office/drawing/2014/main" id="{0D882324-E040-49C3-BF9F-6D8B5A40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10025"/>
            <a:ext cx="6677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Leads / CPL sesuai kebutuhan</a:t>
            </a:r>
          </a:p>
        </p:txBody>
      </p:sp>
      <p:sp>
        <p:nvSpPr>
          <p:cNvPr id="14" name="Batas operasi">
            <a:extLst xmlns:a="http://schemas.openxmlformats.org/drawingml/2006/main">
              <a:ext uri="{FF2B5EF4-FFF2-40B4-BE49-F238E27FC236}">
                <a16:creationId xmlns:a16="http://schemas.microsoft.com/office/drawing/2014/main" id="{C87AD456-D24F-4991-9D96-37B9AAA0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79119"/>
            <a:ext cx="667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Batas operasi</a:t>
            </a:r>
          </a:p>
        </p:txBody>
      </p:sp>
      <p:sp>
        <p:nvSpPr>
          <p:cNvPr id="15" name="Budget limits dan scaling rules">
            <a:extLst xmlns:a="http://schemas.openxmlformats.org/drawingml/2006/main">
              <a:ext uri="{FF2B5EF4-FFF2-40B4-BE49-F238E27FC236}">
                <a16:creationId xmlns:a16="http://schemas.microsoft.com/office/drawing/2014/main" id="{A9BC8A5C-CCDC-40F5-8BB5-037ABC43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45819"/>
            <a:ext cx="6677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Budget limits dan scaling rules</a:t>
            </a:r>
          </a:p>
        </p:txBody>
      </p:sp>
      <p:sp>
        <p:nvSpPr>
          <p:cNvPr id="16" name="Periode evaluasi">
            <a:extLst xmlns:a="http://schemas.openxmlformats.org/drawingml/2006/main">
              <a:ext uri="{FF2B5EF4-FFF2-40B4-BE49-F238E27FC236}">
                <a16:creationId xmlns:a16="http://schemas.microsoft.com/office/drawing/2014/main" id="{76ADB307-16AD-4135-B5B5-17294AF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14913"/>
            <a:ext cx="667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Periode evaluasi</a:t>
            </a:r>
          </a:p>
        </p:txBody>
      </p:sp>
      <p:sp>
        <p:nvSpPr>
          <p:cNvPr id="17" name="Ditentukan pengguna">
            <a:extLst xmlns:a="http://schemas.openxmlformats.org/drawingml/2006/main">
              <a:ext uri="{FF2B5EF4-FFF2-40B4-BE49-F238E27FC236}">
                <a16:creationId xmlns:a16="http://schemas.microsoft.com/office/drawing/2014/main" id="{F29AD1B5-051F-4365-9070-78E17DA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81613"/>
            <a:ext cx="6677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Ditentukan pengguna</a:t>
            </a:r>
          </a:p>
        </p:txBody>
      </p:sp>
      <p:sp>
        <p:nvSpPr>
          <p:cNvPr id="18" name="Guardrails">
            <a:extLst xmlns:a="http://schemas.openxmlformats.org/drawingml/2006/main">
              <a:ext uri="{FF2B5EF4-FFF2-40B4-BE49-F238E27FC236}">
                <a16:creationId xmlns:a16="http://schemas.microsoft.com/office/drawing/2014/main" id="{5119E45F-8229-4584-816D-C945350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650706"/>
            <a:ext cx="667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9" name="Executor dan kontrol perlu validasi">
            <a:extLst xmlns:a="http://schemas.openxmlformats.org/drawingml/2006/main">
              <a:ext uri="{FF2B5EF4-FFF2-40B4-BE49-F238E27FC236}">
                <a16:creationId xmlns:a16="http://schemas.microsoft.com/office/drawing/2014/main" id="{8837E0EA-0B51-46A8-BE3B-78879D03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917406"/>
            <a:ext cx="6677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Executor dan kontrol perlu validasi</a:t>
            </a:r>
          </a:p>
        </p:txBody>
      </p:sp>
      <p:sp>
        <p:nvSpPr>
          <p:cNvPr id="20" name="Optimasi berdasarkan kualitas leads memerlukan i">
            <a:extLst xmlns:a="http://schemas.openxmlformats.org/drawingml/2006/main">
              <a:ext uri="{FF2B5EF4-FFF2-40B4-BE49-F238E27FC236}">
                <a16:creationId xmlns:a16="http://schemas.microsoft.com/office/drawing/2014/main" id="{9D7564EA-2241-48E3-B5C7-EAABB99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5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Optimasi berdasarkan kualitas leads memerlukan integrasi data CRM.</a:t>
            </a:r>
          </a:p>
        </p:txBody>
      </p:sp>
    </p:spTree>
    <p:extLst>
      <p:ext uri="{BB962C8B-B14F-4D97-AF65-F5344CB8AC3E}">
        <p14:creationId xmlns:p14="http://schemas.microsoft.com/office/powerpoint/2010/main" val="1577531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7B517CEB-9A1D-4015-8E64-B96FD0F2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E1E49B98-199E-4F3F-BD64-F5195E4D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CONTOH ALUR">
            <a:extLst xmlns:a="http://schemas.openxmlformats.org/drawingml/2006/main">
              <a:ext uri="{FF2B5EF4-FFF2-40B4-BE49-F238E27FC236}">
                <a16:creationId xmlns:a16="http://schemas.microsoft.com/office/drawing/2014/main" id="{F3D0F2D9-A9A0-4A7E-932C-80A40E32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CONTOH ALUR</a:t>
            </a:r>
          </a:p>
        </p:txBody>
      </p:sp>
      <p:sp>
        <p:nvSpPr>
          <p:cNvPr id="4" name="Satu listing, satu alur kerja">
            <a:extLst xmlns:a="http://schemas.openxmlformats.org/drawingml/2006/main">
              <a:ext uri="{FF2B5EF4-FFF2-40B4-BE49-F238E27FC236}">
                <a16:creationId xmlns:a16="http://schemas.microsoft.com/office/drawing/2014/main" id="{0A11A0F0-AE02-48A2-AB24-4D2DEB4D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Satu listing, satu alur kerja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1073C59-18A9-415E-AC06-ED8752FA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Listing &amp; price list masuk">
            <a:extLst xmlns:a="http://schemas.openxmlformats.org/drawingml/2006/main">
              <a:ext uri="{FF2B5EF4-FFF2-40B4-BE49-F238E27FC236}">
                <a16:creationId xmlns:a16="http://schemas.microsoft.com/office/drawing/2014/main" id="{B3FDCB33-9C67-46BB-9311-8C9EED8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Listing &amp; price list masuk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5E5BF1F3-BF14-4763-9E10-FD06096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AI menyusun draft strategi">
            <a:extLst xmlns:a="http://schemas.openxmlformats.org/drawingml/2006/main">
              <a:ext uri="{FF2B5EF4-FFF2-40B4-BE49-F238E27FC236}">
                <a16:creationId xmlns:a16="http://schemas.microsoft.com/office/drawing/2014/main" id="{6F95C4CB-1100-4EF0-BD06-7E4D1A38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AI menyusun draft strategi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E73F620D-AB2F-448B-AB1C-1675EA8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AI membuat konsep creative">
            <a:extLst xmlns:a="http://schemas.openxmlformats.org/drawingml/2006/main">
              <a:ext uri="{FF2B5EF4-FFF2-40B4-BE49-F238E27FC236}">
                <a16:creationId xmlns:a16="http://schemas.microsoft.com/office/drawing/2014/main" id="{045117E3-61D5-4AEA-AE9F-1B4D70C8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9100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AI membuat konsep creative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3BB14F58-F22D-45CA-B395-0B71FD96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QA &amp; campaign ditinjau">
            <a:extLst xmlns:a="http://schemas.openxmlformats.org/drawingml/2006/main">
              <a:ext uri="{FF2B5EF4-FFF2-40B4-BE49-F238E27FC236}">
                <a16:creationId xmlns:a16="http://schemas.microsoft.com/office/drawing/2014/main" id="{4D2271DA-AA81-4960-9547-C586B047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QA &amp; campaign ditinjau</a:t>
            </a:r>
          </a:p>
        </p:txBody>
      </p:sp>
      <p:sp>
        <p:nvSpPr>
          <p:cNvPr id="13" name="05">
            <a:extLst xmlns:a="http://schemas.openxmlformats.org/drawingml/2006/main">
              <a:ext uri="{FF2B5EF4-FFF2-40B4-BE49-F238E27FC236}">
                <a16:creationId xmlns:a16="http://schemas.microsoft.com/office/drawing/2014/main" id="{AB13AC2A-816C-4989-816C-BBE2A1E5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Evaluasi &amp; pelacakan output">
            <a:extLst xmlns:a="http://schemas.openxmlformats.org/drawingml/2006/main">
              <a:ext uri="{FF2B5EF4-FFF2-40B4-BE49-F238E27FC236}">
                <a16:creationId xmlns:a16="http://schemas.microsoft.com/office/drawing/2014/main" id="{7A25586E-2C31-4AEE-B1F5-ECEDA45D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Evaluasi &amp; pelacakan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330EB-985F-47AF-B3D0-EAD618E4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71775"/>
            <a:ext cx="6276975" cy="3448050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</a:ln>
        </p:spPr>
      </p:sp>
      <p:sp>
        <p:nvSpPr>
          <p:cNvPr id="16" name="Keterlacakan campaign">
            <a:extLst xmlns:a="http://schemas.openxmlformats.org/drawingml/2006/main">
              <a:ext uri="{FF2B5EF4-FFF2-40B4-BE49-F238E27FC236}">
                <a16:creationId xmlns:a16="http://schemas.microsoft.com/office/drawing/2014/main" id="{3D64BC8B-8540-4D7E-9BED-A7BB32D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981325"/>
            <a:ext cx="581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Keterlacakan campaign</a:t>
            </a:r>
          </a:p>
        </p:txBody>
      </p:sp>
      <p:sp>
        <p:nvSpPr>
          <p:cNvPr id="17" name="ILUSTRASI">
            <a:extLst xmlns:a="http://schemas.openxmlformats.org/drawingml/2006/main">
              <a:ext uri="{FF2B5EF4-FFF2-40B4-BE49-F238E27FC236}">
                <a16:creationId xmlns:a16="http://schemas.microsoft.com/office/drawing/2014/main" id="{A0471A2A-945F-4CD6-BEAC-19A2EA8C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400425"/>
            <a:ext cx="5819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ILUSTRASI</a:t>
            </a:r>
          </a:p>
        </p:txBody>
      </p:sp>
      <p:sp>
        <p:nvSpPr>
          <p:cNvPr id="18" name="Data masuk">
            <a:extLst xmlns:a="http://schemas.openxmlformats.org/drawingml/2006/main">
              <a:ext uri="{FF2B5EF4-FFF2-40B4-BE49-F238E27FC236}">
                <a16:creationId xmlns:a16="http://schemas.microsoft.com/office/drawing/2014/main" id="{6A15ADC3-40A4-4F6D-B32D-F8B09260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43325"/>
            <a:ext cx="581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Data masuk</a:t>
            </a:r>
          </a:p>
        </p:txBody>
      </p:sp>
      <p:sp>
        <p:nvSpPr>
          <p:cNvPr id="19" name="Listing, media, dan price list">
            <a:extLst xmlns:a="http://schemas.openxmlformats.org/drawingml/2006/main">
              <a:ext uri="{FF2B5EF4-FFF2-40B4-BE49-F238E27FC236}">
                <a16:creationId xmlns:a16="http://schemas.microsoft.com/office/drawing/2014/main" id="{BBCD6A5B-1894-4F17-986A-1257B4E0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010025"/>
            <a:ext cx="581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Listing, media, dan price list</a:t>
            </a:r>
          </a:p>
        </p:txBody>
      </p:sp>
      <p:sp>
        <p:nvSpPr>
          <p:cNvPr id="20" name="Output strategi">
            <a:extLst xmlns:a="http://schemas.openxmlformats.org/drawingml/2006/main">
              <a:ext uri="{FF2B5EF4-FFF2-40B4-BE49-F238E27FC236}">
                <a16:creationId xmlns:a16="http://schemas.microsoft.com/office/drawing/2014/main" id="{9B18E253-0E52-45AF-BEDA-D485DB5D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352925"/>
            <a:ext cx="581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Output strategi</a:t>
            </a:r>
          </a:p>
        </p:txBody>
      </p:sp>
      <p:sp>
        <p:nvSpPr>
          <p:cNvPr id="21" name="Draft campaign dan creative brief">
            <a:extLst xmlns:a="http://schemas.openxmlformats.org/drawingml/2006/main">
              <a:ext uri="{FF2B5EF4-FFF2-40B4-BE49-F238E27FC236}">
                <a16:creationId xmlns:a16="http://schemas.microsoft.com/office/drawing/2014/main" id="{7EBE0334-DE57-4532-9D0F-37ADB960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619625"/>
            <a:ext cx="581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Draft campaign dan creative brief</a:t>
            </a:r>
          </a:p>
        </p:txBody>
      </p:sp>
      <p:sp>
        <p:nvSpPr>
          <p:cNvPr id="22" name="Output produksi">
            <a:extLst xmlns:a="http://schemas.openxmlformats.org/drawingml/2006/main">
              <a:ext uri="{FF2B5EF4-FFF2-40B4-BE49-F238E27FC236}">
                <a16:creationId xmlns:a16="http://schemas.microsoft.com/office/drawing/2014/main" id="{75BCC9E6-ABA6-463E-9DD9-FA3EC312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962525"/>
            <a:ext cx="581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Output produksi</a:t>
            </a:r>
          </a:p>
        </p:txBody>
      </p:sp>
      <p:sp>
        <p:nvSpPr>
          <p:cNvPr id="23" name="Konsep, QA, dan shortlist">
            <a:extLst xmlns:a="http://schemas.openxmlformats.org/drawingml/2006/main">
              <a:ext uri="{FF2B5EF4-FFF2-40B4-BE49-F238E27FC236}">
                <a16:creationId xmlns:a16="http://schemas.microsoft.com/office/drawing/2014/main" id="{61D83346-00E1-427F-8F12-85518C7B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229225"/>
            <a:ext cx="581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Konsep, QA, dan shortlist</a:t>
            </a:r>
          </a:p>
        </p:txBody>
      </p:sp>
      <p:sp>
        <p:nvSpPr>
          <p:cNvPr id="24" name="Review &amp; evaluasi">
            <a:extLst xmlns:a="http://schemas.openxmlformats.org/drawingml/2006/main">
              <a:ext uri="{FF2B5EF4-FFF2-40B4-BE49-F238E27FC236}">
                <a16:creationId xmlns:a16="http://schemas.microsoft.com/office/drawing/2014/main" id="{CB29491A-CB2D-4F3F-AEE7-429C9768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572125"/>
            <a:ext cx="581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Review &amp; evaluasi</a:t>
            </a:r>
          </a:p>
        </p:txBody>
      </p:sp>
      <p:sp>
        <p:nvSpPr>
          <p:cNvPr id="25" name="Campaign ditinjau, output ditelusuri">
            <a:extLst xmlns:a="http://schemas.openxmlformats.org/drawingml/2006/main">
              <a:ext uri="{FF2B5EF4-FFF2-40B4-BE49-F238E27FC236}">
                <a16:creationId xmlns:a16="http://schemas.microsoft.com/office/drawing/2014/main" id="{BF85B5BF-492A-458C-94FD-EE1EEEF0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838825"/>
            <a:ext cx="581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Campaign ditinjau, output ditelusuri</a:t>
            </a:r>
          </a:p>
        </p:txBody>
      </p:sp>
      <p:sp>
        <p:nvSpPr>
          <p:cNvPr id="26" name="Ilustrasi Performa Campaign &amp; Portfolio Health">
            <a:extLst xmlns:a="http://schemas.openxmlformats.org/drawingml/2006/main">
              <a:ext uri="{FF2B5EF4-FFF2-40B4-BE49-F238E27FC236}">
                <a16:creationId xmlns:a16="http://schemas.microsoft.com/office/drawing/2014/main" id="{F769D2DC-D52C-4014-BB00-B45891A8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38900"/>
            <a:ext cx="627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Ilustrasi Performa Campaign &amp; Portfolio Health</a:t>
            </a:r>
          </a:p>
        </p:txBody>
      </p:sp>
    </p:spTree>
    <p:extLst>
      <p:ext uri="{BB962C8B-B14F-4D97-AF65-F5344CB8AC3E}">
        <p14:creationId xmlns:p14="http://schemas.microsoft.com/office/powerpoint/2010/main" val="1739422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205B3AEA-174A-4EE7-BADE-C6A0A5B8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E9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E9FE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C78352E1-52DC-4F56-9CD1-02A7B682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STATUS PRODUK">
            <a:extLst xmlns:a="http://schemas.openxmlformats.org/drawingml/2006/main">
              <a:ext uri="{FF2B5EF4-FFF2-40B4-BE49-F238E27FC236}">
                <a16:creationId xmlns:a16="http://schemas.microsoft.com/office/drawing/2014/main" id="{00C03BC0-D44E-4B13-B41C-AF244BC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4B5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4B5FD"/>
                </a:solidFill>
                <a:latin typeface="Arial"/>
                <a:ea typeface="Arial"/>
                <a:cs typeface="Arial"/>
              </a:rPr>
              <a:t>STATUS PRODUK</a:t>
            </a:r>
          </a:p>
        </p:txBody>
      </p:sp>
      <p:sp>
        <p:nvSpPr>
          <p:cNvPr id="4" name="Mulai pilot dari satu listing&#10;dan satu campaign">
            <a:extLst xmlns:a="http://schemas.openxmlformats.org/drawingml/2006/main">
              <a:ext uri="{FF2B5EF4-FFF2-40B4-BE49-F238E27FC236}">
                <a16:creationId xmlns:a16="http://schemas.microsoft.com/office/drawing/2014/main" id="{536A7087-B7B4-45CA-AD69-4924339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Mulai pilot dari satu listing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dan satu campaign</a:t>
            </a:r>
          </a:p>
        </p:txBody>
      </p:sp>
      <p:sp>
        <p:nvSpPr>
          <p:cNvPr id="5" name="Strategi, creative, dan keputusan iklan dalam sa">
            <a:extLst xmlns:a="http://schemas.openxmlformats.org/drawingml/2006/main">
              <a:ext uri="{FF2B5EF4-FFF2-40B4-BE49-F238E27FC236}">
                <a16:creationId xmlns:a16="http://schemas.microsoft.com/office/drawing/2014/main" id="{B4BFCAC8-13F6-4DF9-8728-B2F540D0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Strategi, creative, dan keputusan iklan dalam satu alur yang terhubung.</a:t>
            </a:r>
          </a:p>
        </p:txBody>
      </p:sp>
      <p:sp>
        <p:nvSpPr>
          <p:cNvPr id="6" name="Didemonstrasikan">
            <a:extLst xmlns:a="http://schemas.openxmlformats.org/drawingml/2006/main">
              <a:ext uri="{FF2B5EF4-FFF2-40B4-BE49-F238E27FC236}">
                <a16:creationId xmlns:a16="http://schemas.microsoft.com/office/drawing/2014/main" id="{F9046A96-31E5-47E3-BA10-299EDE6D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FDBFE"/>
                </a:solidFill>
                <a:latin typeface="Arial"/>
                <a:ea typeface="Arial"/>
                <a:cs typeface="Arial"/>
              </a:rPr>
              <a:t>Didemonstrasikan</a:t>
            </a:r>
          </a:p>
        </p:txBody>
      </p:sp>
      <p:sp>
        <p:nvSpPr>
          <p:cNvPr id="7" name="AI Strategi Iklan&#10;AI Produksi Creative">
            <a:extLst xmlns:a="http://schemas.openxmlformats.org/drawingml/2006/main">
              <a:ext uri="{FF2B5EF4-FFF2-40B4-BE49-F238E27FC236}">
                <a16:creationId xmlns:a16="http://schemas.microsoft.com/office/drawing/2014/main" id="{F06C5D34-F7F6-4B43-A2EF-53D24CAE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47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Strategi Iklan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Produksi Creative</a:t>
            </a:r>
          </a:p>
        </p:txBody>
      </p:sp>
      <p:sp>
        <p:nvSpPr>
          <p:cNvPr id="8" name="Dalam validasi">
            <a:extLst xmlns:a="http://schemas.openxmlformats.org/drawingml/2006/main">
              <a:ext uri="{FF2B5EF4-FFF2-40B4-BE49-F238E27FC236}">
                <a16:creationId xmlns:a16="http://schemas.microsoft.com/office/drawing/2014/main" id="{E7414ADD-3BF9-429B-94FA-2C69F3EF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1D19C"/>
                </a:solidFill>
                <a:latin typeface="Arial"/>
                <a:ea typeface="Arial"/>
                <a:cs typeface="Arial"/>
              </a:rPr>
              <a:t>Dalam validasi</a:t>
            </a:r>
          </a:p>
        </p:txBody>
      </p:sp>
      <p:sp>
        <p:nvSpPr>
          <p:cNvPr id="9" name="Publish end-to-end Meta&#10;Autonomous Direction">
            <a:extLst xmlns:a="http://schemas.openxmlformats.org/drawingml/2006/main">
              <a:ext uri="{FF2B5EF4-FFF2-40B4-BE49-F238E27FC236}">
                <a16:creationId xmlns:a16="http://schemas.microsoft.com/office/drawing/2014/main" id="{88C93525-4BC4-4A36-9364-BA81850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72000"/>
            <a:ext cx="347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 end-to-end Meta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Autonomous Direction</a:t>
            </a:r>
          </a:p>
        </p:txBody>
      </p:sp>
      <p:sp>
        <p:nvSpPr>
          <p:cNvPr id="10" name="Roadmap / next">
            <a:extLst xmlns:a="http://schemas.openxmlformats.org/drawingml/2006/main">
              <a:ext uri="{FF2B5EF4-FFF2-40B4-BE49-F238E27FC236}">
                <a16:creationId xmlns:a16="http://schemas.microsoft.com/office/drawing/2014/main" id="{42BABEC0-0D1B-4B64-9BA3-1E842A25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338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FBDEA"/>
                </a:solidFill>
                <a:latin typeface="Arial"/>
                <a:ea typeface="Arial"/>
                <a:cs typeface="Arial"/>
              </a:rPr>
              <a:t>Roadmap / next</a:t>
            </a:r>
          </a:p>
        </p:txBody>
      </p:sp>
      <p:sp>
        <p:nvSpPr>
          <p:cNvPr id="11" name="Integrasi CRM penuh&#10;Aturan scaling lanjut">
            <a:extLst xmlns:a="http://schemas.openxmlformats.org/drawingml/2006/main">
              <a:ext uri="{FF2B5EF4-FFF2-40B4-BE49-F238E27FC236}">
                <a16:creationId xmlns:a16="http://schemas.microsoft.com/office/drawing/2014/main" id="{1E328067-0A77-4EC7-8CAB-F146CFD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72000"/>
            <a:ext cx="347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Integrasi CRM penuh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Aturan scaling lanjut</a:t>
            </a:r>
          </a:p>
        </p:txBody>
      </p:sp>
    </p:spTree>
    <p:extLst>
      <p:ext uri="{BB962C8B-B14F-4D97-AF65-F5344CB8AC3E}">
        <p14:creationId xmlns:p14="http://schemas.microsoft.com/office/powerpoint/2010/main" val="1844292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2026-10-19T10:24:57.4310000Z</dcterms:created>
  <dcterms:modified xsi:type="dcterms:W3CDTF">2026-10-19T10:24:57.4310000Z</dcterms:modified>
</coreProperties>
</file>