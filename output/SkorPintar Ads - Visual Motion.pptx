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b021c7a93641fa" /><Relationship Type="http://schemas.openxmlformats.org/officeDocument/2006/relationships/extended-properties" Target="/docProps/app.xml" Id="R3a7fe46a85c74618" /><Relationship Type="http://schemas.openxmlformats.org/officeDocument/2006/relationships/officeDocument" Target="/ppt/presentation.xml" Id="R330e9b9e2d7e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d00da9caf4448e"/>
  </p:sldMasterIdLst>
  <p:notesMasterIdLst>
    <p:notesMasterId xmlns:r="http://schemas.openxmlformats.org/officeDocument/2006/relationships" r:id="Rb94d7e0db70249be"/>
  </p:notesMasterIdLst>
  <p:sldIdLst>
    <p:sldId xmlns:r="http://schemas.openxmlformats.org/officeDocument/2006/relationships" id="256" r:id="R940ca5dca4264910"/>
    <p:sldId xmlns:r="http://schemas.openxmlformats.org/officeDocument/2006/relationships" id="257" r:id="Rb816480351054afc"/>
    <p:sldId xmlns:r="http://schemas.openxmlformats.org/officeDocument/2006/relationships" id="258" r:id="R3345a76468b64716"/>
    <p:sldId xmlns:r="http://schemas.openxmlformats.org/officeDocument/2006/relationships" id="259" r:id="R65fdc2655c704a5f"/>
    <p:sldId xmlns:r="http://schemas.openxmlformats.org/officeDocument/2006/relationships" id="260" r:id="Rcb8a0a267dee4111"/>
    <p:sldId xmlns:r="http://schemas.openxmlformats.org/officeDocument/2006/relationships" id="261" r:id="Re6469e2915454bed"/>
    <p:sldId xmlns:r="http://schemas.openxmlformats.org/officeDocument/2006/relationships" id="262" r:id="R1ddb0b30b93749d7"/>
    <p:sldId xmlns:r="http://schemas.openxmlformats.org/officeDocument/2006/relationships" id="263" r:id="Rf5800de53baf4378"/>
    <p:sldId xmlns:r="http://schemas.openxmlformats.org/officeDocument/2006/relationships" id="264" r:id="Rbffd1689c9d24d54"/>
    <p:sldId xmlns:r="http://schemas.openxmlformats.org/officeDocument/2006/relationships" id="265" r:id="R06d6c36463334e95"/>
    <p:sldId xmlns:r="http://schemas.openxmlformats.org/officeDocument/2006/relationships" id="266" r:id="Rd4eceaf5cafc42d1"/>
    <p:sldId xmlns:r="http://schemas.openxmlformats.org/officeDocument/2006/relationships" id="267" r:id="R0385a219bb2a47cd"/>
    <p:sldId xmlns:r="http://schemas.openxmlformats.org/officeDocument/2006/relationships" id="268" r:id="Rcc65ee4aafd2480c"/>
    <p:sldId xmlns:r="http://schemas.openxmlformats.org/officeDocument/2006/relationships" id="269" r:id="R2cd440b8f3024dac"/>
    <p:sldId xmlns:r="http://schemas.openxmlformats.org/officeDocument/2006/relationships" id="270" r:id="R6e48c150d7564c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e546916e44fde" /><Relationship Type="http://schemas.openxmlformats.org/officeDocument/2006/relationships/slideMaster" Target="/ppt/slideMasters/slideMaster1.xml" Id="Re5d00da9caf4448e" /><Relationship Type="http://schemas.openxmlformats.org/officeDocument/2006/relationships/notesMaster" Target="/ppt/notesMasters/notesMaster1.xml" Id="Rb94d7e0db70249be" /><Relationship Type="http://schemas.openxmlformats.org/officeDocument/2006/relationships/presProps" Target="/ppt/presProps.xml" Id="Rf4077804dd434a4f" /><Relationship Type="http://schemas.openxmlformats.org/officeDocument/2006/relationships/tableStyles" Target="/ppt/tableStyles.xml" Id="R336787cae18941bf" /><Relationship Type="http://schemas.openxmlformats.org/officeDocument/2006/relationships/slide" Target="/ppt/slides/slide1.xml" Id="R940ca5dca4264910" /><Relationship Type="http://schemas.openxmlformats.org/officeDocument/2006/relationships/slide" Target="/ppt/slides/slide2.xml" Id="Rb816480351054afc" /><Relationship Type="http://schemas.openxmlformats.org/officeDocument/2006/relationships/slide" Target="/ppt/slides/slide3.xml" Id="R3345a76468b64716" /><Relationship Type="http://schemas.openxmlformats.org/officeDocument/2006/relationships/slide" Target="/ppt/slides/slide4.xml" Id="R65fdc2655c704a5f" /><Relationship Type="http://schemas.openxmlformats.org/officeDocument/2006/relationships/slide" Target="/ppt/slides/slide5.xml" Id="Rcb8a0a267dee4111" /><Relationship Type="http://schemas.openxmlformats.org/officeDocument/2006/relationships/slide" Target="/ppt/slides/slide6.xml" Id="Re6469e2915454bed" /><Relationship Type="http://schemas.openxmlformats.org/officeDocument/2006/relationships/slide" Target="/ppt/slides/slide7.xml" Id="R1ddb0b30b93749d7" /><Relationship Type="http://schemas.openxmlformats.org/officeDocument/2006/relationships/slide" Target="/ppt/slides/slide8.xml" Id="Rf5800de53baf4378" /><Relationship Type="http://schemas.openxmlformats.org/officeDocument/2006/relationships/slide" Target="/ppt/slides/slide9.xml" Id="Rbffd1689c9d24d54" /><Relationship Type="http://schemas.openxmlformats.org/officeDocument/2006/relationships/slide" Target="/ppt/slides/slide10.xml" Id="R06d6c36463334e95" /><Relationship Type="http://schemas.openxmlformats.org/officeDocument/2006/relationships/slide" Target="/ppt/slides/slide11.xml" Id="Rd4eceaf5cafc42d1" /><Relationship Type="http://schemas.openxmlformats.org/officeDocument/2006/relationships/slide" Target="/ppt/slides/slide12.xml" Id="R0385a219bb2a47cd" /><Relationship Type="http://schemas.openxmlformats.org/officeDocument/2006/relationships/slide" Target="/ppt/slides/slide13.xml" Id="Rcc65ee4aafd2480c" /><Relationship Type="http://schemas.openxmlformats.org/officeDocument/2006/relationships/slide" Target="/ppt/slides/slide14.xml" Id="R2cd440b8f3024dac" /><Relationship Type="http://schemas.openxmlformats.org/officeDocument/2006/relationships/slide" Target="/ppt/slides/slide15.xml" Id="R6e48c150d7564c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4f96d537f242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d19e9cca964db2" /><Relationship Type="http://schemas.openxmlformats.org/officeDocument/2006/relationships/notesMaster" Target="/ppt/notesMasters/notesMaster1.xml" Id="R453e4021f9124a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e0986b79c4b99" /><Relationship Type="http://schemas.openxmlformats.org/officeDocument/2006/relationships/notesMaster" Target="/ppt/notesMasters/notesMaster1.xml" Id="R057fbc25786d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89f3a41c54aaa" /><Relationship Type="http://schemas.openxmlformats.org/officeDocument/2006/relationships/notesMaster" Target="/ppt/notesMasters/notesMaster1.xml" Id="R8c6a0fe8fedf48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5b0253b03f4efc" /><Relationship Type="http://schemas.openxmlformats.org/officeDocument/2006/relationships/notesMaster" Target="/ppt/notesMasters/notesMaster1.xml" Id="Rb2af144bef9a4b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750503ae89438b" /><Relationship Type="http://schemas.openxmlformats.org/officeDocument/2006/relationships/notesMaster" Target="/ppt/notesMasters/notesMaster1.xml" Id="Re67e3512a3224a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aa035f07bf457a" /><Relationship Type="http://schemas.openxmlformats.org/officeDocument/2006/relationships/notesMaster" Target="/ppt/notesMasters/notesMaster1.xml" Id="R4f12b059385445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b84e588f2147c4" /><Relationship Type="http://schemas.openxmlformats.org/officeDocument/2006/relationships/notesMaster" Target="/ppt/notesMasters/notesMaster1.xml" Id="Ra73b1ef6227e44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7831423f62489c" /><Relationship Type="http://schemas.openxmlformats.org/officeDocument/2006/relationships/notesMaster" Target="/ppt/notesMasters/notesMaster1.xml" Id="R27c6f062a9b446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7142411e5f47e1" /><Relationship Type="http://schemas.openxmlformats.org/officeDocument/2006/relationships/notesMaster" Target="/ppt/notesMasters/notesMaster1.xml" Id="Redd7b6676e6940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04f3cd483f4129" /><Relationship Type="http://schemas.openxmlformats.org/officeDocument/2006/relationships/notesMaster" Target="/ppt/notesMasters/notesMaster1.xml" Id="R7237293226934a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e68d44f147448a" /><Relationship Type="http://schemas.openxmlformats.org/officeDocument/2006/relationships/notesMaster" Target="/ppt/notesMasters/notesMaster1.xml" Id="R4d918f1d411547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b22ddb373d4557" /><Relationship Type="http://schemas.openxmlformats.org/officeDocument/2006/relationships/notesMaster" Target="/ppt/notesMasters/notesMaster1.xml" Id="Rf789b0d78eca4c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b9891ea3bf4543" /><Relationship Type="http://schemas.openxmlformats.org/officeDocument/2006/relationships/notesMaster" Target="/ppt/notesMasters/notesMaster1.xml" Id="R4f4b9dcaa7ad44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d4a3990d674bdb" /><Relationship Type="http://schemas.openxmlformats.org/officeDocument/2006/relationships/notesMaster" Target="/ppt/notesMasters/notesMaster1.xml" Id="R2aa46bd07c3345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eb310a5509462e" /><Relationship Type="http://schemas.openxmlformats.org/officeDocument/2006/relationships/notesMaster" Target="/ppt/notesMasters/notesMaster1.xml" Id="R81714b072161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SkorPintar Ads menghubungkan data bisnis, strategi, creative, approval, dan operasi iklan. Alur end-to-end masih dalam validasi.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Empat masalah dari brief produk: data tersebar, produksi berulang, campaign setup terpisah, dan evaluasi serta approval sulit ditelusuri.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Strategi Iklan menghasilkan draft rencana campaign. AI Produksi Creative mengelola produksi aset. Workflow menghubungkan input bisnis dengan evaluasi.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Pengelompokan 13 tahap: fondasi = Listing &amp; Knowledge (1). Strategi = AI Strategy, Campaign Plan (2). Produksi = Structured Brief, Concepts &amp; Storyboard, Generation, Asset Library (4). Validasi = QA, Simulation &amp; Shortlist (2). Operasi = Campaign Builder, Meta Preflight, Publish, Performance Feedback (4). Ini hitungan tahap dari brief, bukan jumlah fitur selesai atau alokasi waktu.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Provenance menghubungkan klaim ke sumbernya. Contoh DP 10%, file, sheet dan row adalah ilustrasi yang diberikan dalam brief. Hybrid retrieval menggabungkan semantic dan keyword 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Output meliputi draft objective, audience, lokasi/radius, interest, creative direction, variasi primary text, headline dan description. Input hanya memakai data Meta yang tersedia.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Builder menghubungkan rekomendasi AI dengan pengaturan selected listing, objective, budget, jadwal, audience, Page, WhatsApp destination, creative, dan preview.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Alur produksi: brief, concept, script/storyboard, asset plan, generate, QA, finalize. Video menggabungkan media listing, scene AI, teks, dan audio sesuai kebutuhan.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Library menyimpan hasil, versi, sumber aset, dan status QA. Penolakan aset dikembalikan ke revisi, bukan dihapus dari jejak proses.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QA mengecek kesesuaian fakta, klaim, visual, dan brief. Simulation memeriksa hook, offer, CTA, objection handling, trust, dan relevansi. Tidak ada skor atau prediksi performa yang diarang.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Urutan preflight meliputi account, Page, destination, audience, budget, creative, policy checks, lalu campaign/ad set/ads. Diagram tidak menunjukkan bukti publikasi sukses.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Tindakan yang tersedia bergantung pada executor dan kontrol yang sudah tervalidasi. Diagram approval tidak mengesankan semua executor selesai.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CRM bukan syarat strategi atau produksi creative. Optimasi berdasarkan kualitas leads memerlukan data kualitas leads. Autonomous adalah arah produk yang tetap berada dalam guardrails, bukan otomatis tanpa pengawasan.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mengikuti satu listing rumah dari data hingga evaluasi. Tidak menyatakan hasil bisnis atau campaign aktual.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mengikuti materi produk yang diberikan. Cakupan atau status tambahan di luar materi memerlukan konfirmasi.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b7ab5b1ca47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d0587417c43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0cd45a1fc45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c35831e9640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4f1ce3d874b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43e238da84c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899698-4AA8-43C3-9A6F-8B704B857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9BF2AE-2696-4918-8A8A-1FCB45A7BD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9581E2-6D49-4346-957F-67FBEBD0B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1FCA4B-AF5C-4075-B427-8135C2F05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182DD9-AC5A-4DF2-BFAC-BFD1DEB7A4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237148-A0A2-4D17-BA28-E437350B7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F60039-09C6-4DC9-BAF7-9CB57A2C24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97F502-7626-4569-A239-6AF82924B6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C55FD5-7442-4C35-A064-8294C6871B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777947-1428-4D3E-8557-FBDBE79BFA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bc3397810f4b6b" /><Relationship Type="http://schemas.openxmlformats.org/officeDocument/2006/relationships/slideLayout" Target="/ppt/slideLayouts/slideLayout1.xml" Id="Re88c998470eb4c6d" /><Relationship Type="http://schemas.openxmlformats.org/officeDocument/2006/relationships/slideLayout" Target="/ppt/slideLayouts/slideLayout2.xml" Id="R23bd1c00bc7940c3" /><Relationship Type="http://schemas.openxmlformats.org/officeDocument/2006/relationships/slideLayout" Target="/ppt/slideLayouts/slideLayout3.xml" Id="R9e5085a2c2ac43a1" /><Relationship Type="http://schemas.openxmlformats.org/officeDocument/2006/relationships/slideLayout" Target="/ppt/slideLayouts/slideLayout4.xml" Id="R34f56c43c5d64566" /><Relationship Type="http://schemas.openxmlformats.org/officeDocument/2006/relationships/slideLayout" Target="/ppt/slideLayouts/slideLayout5.xml" Id="R171555a1697e44e2" /><Relationship Type="http://schemas.openxmlformats.org/officeDocument/2006/relationships/slideLayout" Target="/ppt/slideLayouts/slideLayout6.xml" Id="R7466c7d75522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c998470eb4c6d"/>
    <p:sldLayoutId xmlns:r="http://schemas.openxmlformats.org/officeDocument/2006/relationships" id="2147483650" r:id="R23bd1c00bc7940c3"/>
    <p:sldLayoutId xmlns:r="http://schemas.openxmlformats.org/officeDocument/2006/relationships" id="2147483651" r:id="R9e5085a2c2ac43a1"/>
    <p:sldLayoutId xmlns:r="http://schemas.openxmlformats.org/officeDocument/2006/relationships" id="2147483652" r:id="R34f56c43c5d64566"/>
    <p:sldLayoutId xmlns:r="http://schemas.openxmlformats.org/officeDocument/2006/relationships" id="2147483653" r:id="R171555a1697e44e2"/>
    <p:sldLayoutId xmlns:r="http://schemas.openxmlformats.org/officeDocument/2006/relationships" id="2147483654" r:id="R7466c7d75522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1cbd912c04d06" /><Relationship Type="http://schemas.openxmlformats.org/officeDocument/2006/relationships/notesSlide" Target="/ppt/notesSlides/notesSlide1.xml" Id="R42706fecbf2146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9fa7a48eb4bce" /><Relationship Type="http://schemas.openxmlformats.org/officeDocument/2006/relationships/notesSlide" Target="/ppt/notesSlides/notesSlide2.xml" Id="Rd728155543d447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4179a8c4949f9" /><Relationship Type="http://schemas.openxmlformats.org/officeDocument/2006/relationships/notesSlide" Target="/ppt/notesSlides/notesSlide3.xml" Id="R7ca112fdd58443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e0c06a4d44326" /><Relationship Type="http://schemas.openxmlformats.org/officeDocument/2006/relationships/chart" Target="/ppt/slides/charts/chart1.xml" Id="R5a96da11ee324520" /><Relationship Type="http://schemas.openxmlformats.org/officeDocument/2006/relationships/notesSlide" Target="/ppt/notesSlides/notesSlide4.xml" Id="R52d9e987687c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5ef352aa0443b" /><Relationship Type="http://schemas.openxmlformats.org/officeDocument/2006/relationships/notesSlide" Target="/ppt/notesSlides/notesSlide5.xml" Id="Re3ed4e733cf142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100d711f147fd" /><Relationship Type="http://schemas.openxmlformats.org/officeDocument/2006/relationships/notesSlide" Target="/ppt/notesSlides/notesSlide6.xml" Id="Ra79c2b3f7122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c69210c404087" /><Relationship Type="http://schemas.openxmlformats.org/officeDocument/2006/relationships/notesSlide" Target="/ppt/notesSlides/notesSlide7.xml" Id="R9363b85fa97745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b3c2f8ea34c59" /><Relationship Type="http://schemas.openxmlformats.org/officeDocument/2006/relationships/notesSlide" Target="/ppt/notesSlides/notesSlide8.xml" Id="Rb8f3c2993f4b45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2b18cb650476e" /><Relationship Type="http://schemas.openxmlformats.org/officeDocument/2006/relationships/notesSlide" Target="/ppt/notesSlides/notesSlide9.xml" Id="Ra2d82fb4dfbf44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b23219c344999" /><Relationship Type="http://schemas.openxmlformats.org/officeDocument/2006/relationships/notesSlide" Target="/ppt/notesSlides/notesSlide10.xml" Id="Rcc58d57d4850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2a3638d3f4a61" /><Relationship Type="http://schemas.openxmlformats.org/officeDocument/2006/relationships/notesSlide" Target="/ppt/notesSlides/notesSlide11.xml" Id="Re9d8d84da9bd49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b0e8705d3439d" /><Relationship Type="http://schemas.openxmlformats.org/officeDocument/2006/relationships/notesSlide" Target="/ppt/notesSlides/notesSlide12.xml" Id="R370c9c6822934e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1d5ee062a46d2" /><Relationship Type="http://schemas.openxmlformats.org/officeDocument/2006/relationships/notesSlide" Target="/ppt/notesSlides/notesSlide13.xml" Id="Re8d337949f2444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9404d42c24db8" /><Relationship Type="http://schemas.openxmlformats.org/officeDocument/2006/relationships/notesSlide" Target="/ppt/notesSlides/notesSlide14.xml" Id="Rf7bd2014483044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b61f7d19045e3" /><Relationship Type="http://schemas.openxmlformats.org/officeDocument/2006/relationships/notesSlide" Target="/ppt/notesSlides/notesSlide15.xml" Id="R7ae21310bcb04c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Jumlah tahap</c:v>
          </c:tx>
          <c:spPr>
            <a:solidFill xmlns:a="http://schemas.openxmlformats.org/drawingml/2006/main">
              <a:srgbClr val="7946E8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Fondasi data</c:v>
                </c:pt>
                <c:pt idx="1">
                  <c:v>Strategi</c:v>
                </c:pt>
                <c:pt idx="2">
                  <c:v>Produksi creative</c:v>
                </c:pt>
                <c:pt idx="3">
                  <c:v>Validasi</c:v>
                </c:pt>
                <c:pt idx="4">
                  <c:v>Operasi iklan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7946E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7E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6A8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62F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8914B-D324-48C1-8179-D868A3C3F095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7629525" y="26765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8B5FF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75371-83F2-4CD7-BA06-82DC90939073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8534400" y="43434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8B5FF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0AF74-C9DE-49DF-92AD-59250DCF6090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448925" y="26765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8B5FF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52FC7-067E-4269-9407-6BD3519C767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34400" y="220027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2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00A92704-040B-48FE-8664-E3D959B1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B5FC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274734D9-3A8E-443F-A33F-95DF93C7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AB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YOUR AI ADVERTISING TEAM">
            <a:extLst xmlns:a="http://schemas.openxmlformats.org/drawingml/2006/main">
              <a:ext uri="{FF2B5EF4-FFF2-40B4-BE49-F238E27FC236}">
                <a16:creationId xmlns:a16="http://schemas.microsoft.com/office/drawing/2014/main" id="{F4F32BC3-E6A4-4F47-BF14-BA7EF6DB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9CFF"/>
                </a:solidFill>
                <a:latin typeface="Arial"/>
                <a:ea typeface="Arial"/>
                <a:cs typeface="Arial"/>
              </a:rPr>
              <a:t>YOUR AI ADVERTISING TEAM</a:t>
            </a:r>
          </a:p>
        </p:txBody>
      </p:sp>
      <p:sp>
        <p:nvSpPr>
          <p:cNvPr id="4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FA5BBB1E-1F30-4116-9A8A-D385CF87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5" name="Tim AI untuk&#10;operasi iklan properti">
            <a:extLst xmlns:a="http://schemas.openxmlformats.org/drawingml/2006/main">
              <a:ext uri="{FF2B5EF4-FFF2-40B4-BE49-F238E27FC236}">
                <a16:creationId xmlns:a16="http://schemas.microsoft.com/office/drawing/2014/main" id="{20E6A162-5FE1-4062-944D-C3475EEA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5191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 AI untuk</a:t>
            </a:r>
          </a:p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operasi iklan properti</a:t>
            </a:r>
          </a:p>
        </p:txBody>
      </p:sp>
      <p:sp>
        <p:nvSpPr>
          <p:cNvPr id="6" name="Data bisnis, creative, dan keputusan&#10;iklan dalam satu alur t">
            <a:extLst xmlns:a="http://schemas.openxmlformats.org/drawingml/2006/main">
              <a:ext uri="{FF2B5EF4-FFF2-40B4-BE49-F238E27FC236}">
                <a16:creationId xmlns:a16="http://schemas.microsoft.com/office/drawing/2014/main" id="{DF949CD8-899F-4172-8AED-88886C59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4CBDE"/>
                </a:solidFill>
                <a:latin typeface="Arial"/>
                <a:ea typeface="Arial"/>
                <a:cs typeface="Arial"/>
              </a:rPr>
              <a:t>Data bisnis, creative, dan keputusan</a:t>
            </a:r>
          </a:p>
          <a:p xmlns:a="http://schemas.openxmlformats.org/drawingml/2006/main">
            <a:pPr>
              <a:defRPr sz="1800" b="0">
                <a:solidFill>
                  <a:srgbClr val="C4CBD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4CBDE"/>
                </a:solidFill>
                <a:latin typeface="Arial"/>
                <a:ea typeface="Arial"/>
                <a:cs typeface="Arial"/>
              </a:rPr>
              <a:t>iklan dalam satu alur terhubung.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CE222-E19D-40D3-B3C1-CE2DE9B1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24025"/>
            <a:ext cx="1809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27324E"/>
          </a:solidFill>
          <a:ln xmlns:a="http://schemas.openxmlformats.org/drawingml/2006/main" w="0">
            <a:noFill/>
          </a:ln>
        </p:spPr>
      </p:sp>
      <p:sp>
        <p:nvSpPr>
          <p:cNvPr id="8" name="DATA&#10;PROPERTI">
            <a:extLst xmlns:a="http://schemas.openxmlformats.org/drawingml/2006/main">
              <a:ext uri="{FF2B5EF4-FFF2-40B4-BE49-F238E27FC236}">
                <a16:creationId xmlns:a16="http://schemas.microsoft.com/office/drawing/2014/main" id="{A16FEADF-1F9E-4CBA-8330-8292B3D8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95475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PROPERTI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C9EF8-5DEE-45BE-AB16-AFDA05AB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24025"/>
            <a:ext cx="2190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E6FD9"/>
          </a:solidFill>
          <a:ln xmlns:a="http://schemas.openxmlformats.org/drawingml/2006/main" w="0">
            <a:noFill/>
          </a:ln>
        </p:spPr>
      </p:sp>
      <p:sp>
        <p:nvSpPr>
          <p:cNvPr id="10" name="STRATEGI&#10;IKLAN">
            <a:extLst xmlns:a="http://schemas.openxmlformats.org/drawingml/2006/main">
              <a:ext uri="{FF2B5EF4-FFF2-40B4-BE49-F238E27FC236}">
                <a16:creationId xmlns:a16="http://schemas.microsoft.com/office/drawing/2014/main" id="{59BA43DB-7279-4718-B811-483DCED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95475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IKLAN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4034C-24C3-41DA-B59B-FD7BBAA0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67150"/>
            <a:ext cx="2190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7946E8"/>
          </a:solidFill>
          <a:ln xmlns:a="http://schemas.openxmlformats.org/drawingml/2006/main" w="0">
            <a:noFill/>
          </a:ln>
        </p:spPr>
      </p:sp>
      <p:sp>
        <p:nvSpPr>
          <p:cNvPr id="12" name="PRODUKSI&#10;CREATIVE">
            <a:extLst xmlns:a="http://schemas.openxmlformats.org/drawingml/2006/main">
              <a:ext uri="{FF2B5EF4-FFF2-40B4-BE49-F238E27FC236}">
                <a16:creationId xmlns:a16="http://schemas.microsoft.com/office/drawing/2014/main" id="{1AFBF44F-9062-4104-A18D-73D70937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PRODUKSI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77A8B-E75B-4BEA-AFB5-DCD91EA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1809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4C357C"/>
          </a:solidFill>
          <a:ln xmlns:a="http://schemas.openxmlformats.org/drawingml/2006/main" w="0">
            <a:noFill/>
          </a:ln>
        </p:spPr>
      </p:sp>
      <p:sp>
        <p:nvSpPr>
          <p:cNvPr id="14" name="REVIEW &amp;&#10;CAMPAIGN">
            <a:extLst xmlns:a="http://schemas.openxmlformats.org/drawingml/2006/main">
              <a:ext uri="{FF2B5EF4-FFF2-40B4-BE49-F238E27FC236}">
                <a16:creationId xmlns:a16="http://schemas.microsoft.com/office/drawing/2014/main" id="{46A33A42-A02F-47F6-B5E3-D530C740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&amp;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CAMPAIGN</a:t>
            </a:r>
          </a:p>
        </p:txBody>
      </p:sp>
      <p:sp>
        <p:nvSpPr>
          <p:cNvPr id="19" name="FEEDBACK PERFORMA">
            <a:extLst xmlns:a="http://schemas.openxmlformats.org/drawingml/2006/main">
              <a:ext uri="{FF2B5EF4-FFF2-40B4-BE49-F238E27FC236}">
                <a16:creationId xmlns:a16="http://schemas.microsoft.com/office/drawing/2014/main" id="{0FF13B9D-F795-41C9-A43D-594E0C5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244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B5FC"/>
                </a:solidFill>
                <a:latin typeface="Arial"/>
                <a:ea typeface="Arial"/>
                <a:cs typeface="Arial"/>
              </a:rPr>
              <a:t>FEEDBACK PERFORMA</a:t>
            </a:r>
          </a:p>
        </p:txBody>
      </p:sp>
      <p:sp>
        <p:nvSpPr>
          <p:cNvPr id="20" name="Fokus awal: bisnis properti Indonesia">
            <a:extLst xmlns:a="http://schemas.openxmlformats.org/drawingml/2006/main">
              <a:ext uri="{FF2B5EF4-FFF2-40B4-BE49-F238E27FC236}">
                <a16:creationId xmlns:a16="http://schemas.microsoft.com/office/drawing/2014/main" id="{790937A1-DF03-4791-8391-43234B3B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3CE"/>
                </a:solidFill>
                <a:latin typeface="Arial"/>
                <a:ea typeface="Arial"/>
                <a:cs typeface="Arial"/>
              </a:rPr>
              <a:t>Fokus awal: bisnis properti Indonesia</a:t>
            </a:r>
          </a:p>
        </p:txBody>
      </p:sp>
    </p:spTree>
    <p:extLst>
      <p:ext uri="{BB962C8B-B14F-4D97-AF65-F5344CB8AC3E}">
        <p14:creationId xmlns:p14="http://schemas.microsoft.com/office/powerpoint/2010/main" val="75975091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80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2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5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5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7214E694-5E72-4FD2-9275-97CA0C92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2F8BE0F8-2BCE-4EE8-80B0-9BB94C9C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MASALAH TIM">
            <a:extLst xmlns:a="http://schemas.openxmlformats.org/drawingml/2006/main">
              <a:ext uri="{FF2B5EF4-FFF2-40B4-BE49-F238E27FC236}">
                <a16:creationId xmlns:a16="http://schemas.microsoft.com/office/drawing/2014/main" id="{2DA36BA4-90A3-4B84-82B0-031B6BC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MASALAH TIM</a:t>
            </a:r>
          </a:p>
        </p:txBody>
      </p:sp>
      <p:sp>
        <p:nvSpPr>
          <p:cNvPr id="4" name="Pekerjaan terputus di setiap perpindahan">
            <a:extLst xmlns:a="http://schemas.openxmlformats.org/drawingml/2006/main">
              <a:ext uri="{FF2B5EF4-FFF2-40B4-BE49-F238E27FC236}">
                <a16:creationId xmlns:a16="http://schemas.microsoft.com/office/drawing/2014/main" id="{96BBE691-7801-44EB-B878-392C368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Pekerjaan terputus di setiap perpindahan</a:t>
            </a:r>
          </a:p>
        </p:txBody>
      </p:sp>
      <p:sp>
        <p:nvSpPr>
          <p:cNvPr id="5" name="Bottleneck terjadi saat informasi, aset, dan keputusan berpi">
            <a:extLst xmlns:a="http://schemas.openxmlformats.org/drawingml/2006/main">
              <a:ext uri="{FF2B5EF4-FFF2-40B4-BE49-F238E27FC236}">
                <a16:creationId xmlns:a16="http://schemas.microsoft.com/office/drawing/2014/main" id="{CA2100D9-F74E-4722-84AF-0A64614D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Bottleneck terjadi saat informasi, aset, dan keputusan berpindah tangan.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2A6AF-5095-4684-B0F9-3BB308B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6098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5F2FC"/>
          </a:solidFill>
          <a:ln xmlns:a="http://schemas.openxmlformats.org/drawingml/2006/main" w="0">
            <a:noFill/>
          </a:ln>
        </p:spPr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0EA35DD-90D4-4FF5-8567-7F2379D4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Data listing">
            <a:extLst xmlns:a="http://schemas.openxmlformats.org/drawingml/2006/main">
              <a:ext uri="{FF2B5EF4-FFF2-40B4-BE49-F238E27FC236}">
                <a16:creationId xmlns:a16="http://schemas.microsoft.com/office/drawing/2014/main" id="{01103CA4-04BD-480A-B076-45165252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Data listing</a:t>
            </a:r>
          </a:p>
        </p:txBody>
      </p:sp>
      <p:sp>
        <p:nvSpPr>
          <p:cNvPr id="9" name="Harga dan media&#10;tersebar">
            <a:extLst xmlns:a="http://schemas.openxmlformats.org/drawingml/2006/main">
              <a:ext uri="{FF2B5EF4-FFF2-40B4-BE49-F238E27FC236}">
                <a16:creationId xmlns:a16="http://schemas.microsoft.com/office/drawing/2014/main" id="{DC1E80BC-2FCA-4C98-9AA8-36CAE02E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Harga dan media</a:t>
            </a:r>
          </a:p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tersebar</a:t>
            </a:r>
          </a:p>
        </p:txBody>
      </p:sp>
      <p:sp>
        <p:nvSpPr>
          <p:cNvPr id="10" name="×">
            <a:extLst xmlns:a="http://schemas.openxmlformats.org/drawingml/2006/main">
              <a:ext uri="{FF2B5EF4-FFF2-40B4-BE49-F238E27FC236}">
                <a16:creationId xmlns:a16="http://schemas.microsoft.com/office/drawing/2014/main" id="{47D1F178-A3FE-4E49-A572-BD355082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24350"/>
            <a:ext cx="21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E718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B19A2-A432-45F7-9D8F-0AC598B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76625"/>
            <a:ext cx="26098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5F2FC"/>
          </a:solidFill>
          <a:ln xmlns:a="http://schemas.openxmlformats.org/drawingml/2006/main" w="0">
            <a:noFill/>
          </a:ln>
        </p:spPr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E98B5381-89E2-4CF1-AFBD-F063DAF4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Brief creative">
            <a:extLst xmlns:a="http://schemas.openxmlformats.org/drawingml/2006/main">
              <a:ext uri="{FF2B5EF4-FFF2-40B4-BE49-F238E27FC236}">
                <a16:creationId xmlns:a16="http://schemas.microsoft.com/office/drawing/2014/main" id="{2D2E1414-1CD9-4FB5-8DA2-8404F243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719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Brief creative</a:t>
            </a:r>
          </a:p>
        </p:txBody>
      </p:sp>
      <p:sp>
        <p:nvSpPr>
          <p:cNvPr id="14" name="Pekerjaan berulang&#10;setiap campaign">
            <a:extLst xmlns:a="http://schemas.openxmlformats.org/drawingml/2006/main">
              <a:ext uri="{FF2B5EF4-FFF2-40B4-BE49-F238E27FC236}">
                <a16:creationId xmlns:a16="http://schemas.microsoft.com/office/drawing/2014/main" id="{889AF6FB-907C-433A-8505-B6F54A36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57750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Pekerjaan berulang</a:t>
            </a:r>
          </a:p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setiap campaign</a:t>
            </a:r>
          </a:p>
        </p:txBody>
      </p:sp>
      <p:sp>
        <p:nvSpPr>
          <p:cNvPr id="15" name="×">
            <a:extLst xmlns:a="http://schemas.openxmlformats.org/drawingml/2006/main">
              <a:ext uri="{FF2B5EF4-FFF2-40B4-BE49-F238E27FC236}">
                <a16:creationId xmlns:a16="http://schemas.microsoft.com/office/drawing/2014/main" id="{CBA795D2-F0D7-428E-83CF-A223C033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21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E718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AFA0A-05AB-4813-83A9-5CD1DD74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6098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5F2FC"/>
          </a:solidFill>
          <a:ln xmlns:a="http://schemas.openxmlformats.org/drawingml/2006/main" w="0">
            <a:noFill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6449144A-4310-45FC-9210-FB4BC4D6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Setup iklan">
            <a:extLst xmlns:a="http://schemas.openxmlformats.org/drawingml/2006/main">
              <a:ext uri="{FF2B5EF4-FFF2-40B4-BE49-F238E27FC236}">
                <a16:creationId xmlns:a16="http://schemas.microsoft.com/office/drawing/2014/main" id="{AF39F120-E1F0-4E5B-A0E5-F2A112CA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Setup iklan</a:t>
            </a:r>
          </a:p>
        </p:txBody>
      </p:sp>
      <p:sp>
        <p:nvSpPr>
          <p:cNvPr id="19" name="Konfigurasi terpisah&#10;dari strategi">
            <a:extLst xmlns:a="http://schemas.openxmlformats.org/drawingml/2006/main">
              <a:ext uri="{FF2B5EF4-FFF2-40B4-BE49-F238E27FC236}">
                <a16:creationId xmlns:a16="http://schemas.microsoft.com/office/drawing/2014/main" id="{654CA6CD-9629-422C-82D9-6BB8683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Konfigurasi terpisah</a:t>
            </a:r>
          </a:p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dari strategi</a:t>
            </a:r>
          </a:p>
        </p:txBody>
      </p:sp>
      <p:sp>
        <p:nvSpPr>
          <p:cNvPr id="20" name="×">
            <a:extLst xmlns:a="http://schemas.openxmlformats.org/drawingml/2006/main">
              <a:ext uri="{FF2B5EF4-FFF2-40B4-BE49-F238E27FC236}">
                <a16:creationId xmlns:a16="http://schemas.microsoft.com/office/drawing/2014/main" id="{A29AEFEA-F1AF-4534-AD37-BC34C377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24350"/>
            <a:ext cx="21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E71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E718B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CA418-E93F-44B9-B289-A37A4AD3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6098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5F2FC"/>
          </a:solidFill>
          <a:ln xmlns:a="http://schemas.openxmlformats.org/drawingml/2006/main" w="0">
            <a:noFill/>
          </a:ln>
        </p:spPr>
      </p:sp>
      <p:sp>
        <p:nvSpPr>
          <p:cNvPr id="22" name="04">
            <a:extLst xmlns:a="http://schemas.openxmlformats.org/drawingml/2006/main">
              <a:ext uri="{FF2B5EF4-FFF2-40B4-BE49-F238E27FC236}">
                <a16:creationId xmlns:a16="http://schemas.microsoft.com/office/drawing/2014/main" id="{729B64E7-75D7-4328-9246-82F359B2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Review">
            <a:extLst xmlns:a="http://schemas.openxmlformats.org/drawingml/2006/main">
              <a:ext uri="{FF2B5EF4-FFF2-40B4-BE49-F238E27FC236}">
                <a16:creationId xmlns:a16="http://schemas.microsoft.com/office/drawing/2014/main" id="{348883E8-79AB-46C6-A4F1-CD9BCE9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4" name="Alasan dan approval&#10;sulit ditelusuri">
            <a:extLst xmlns:a="http://schemas.openxmlformats.org/drawingml/2006/main">
              <a:ext uri="{FF2B5EF4-FFF2-40B4-BE49-F238E27FC236}">
                <a16:creationId xmlns:a16="http://schemas.microsoft.com/office/drawing/2014/main" id="{C99F4E9A-83E7-4C30-B2C3-1F96733D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57750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Alasan dan approval</a:t>
            </a:r>
          </a:p>
          <a:p xmlns:a="http://schemas.openxmlformats.org/drawingml/2006/main">
            <a:pPr>
              <a:defRPr sz="17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sulit ditelusuri</a:t>
            </a:r>
          </a:p>
        </p:txBody>
      </p:sp>
    </p:spTree>
    <p:extLst>
      <p:ext uri="{BB962C8B-B14F-4D97-AF65-F5344CB8AC3E}">
        <p14:creationId xmlns:p14="http://schemas.microsoft.com/office/powerpoint/2010/main" val="90999216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7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7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5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5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25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25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25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800"/>
                      </p:stCondLst>
                      <p:childTnLst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5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800"/>
                      </p:stCondLst>
                      <p:childTnLst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5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80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8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5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800"/>
                      </p:stCondLst>
                      <p:childTnLst>
                        <p:par>
                          <p:cTn id="5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5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26AF0-9F7C-49F3-8069-82CE9825967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372475" y="4419600"/>
            <a:ext cx="904875" cy="681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FB603-BB60-4555-8F40-F4D8E3DBA25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967413" y="4010025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6DC86-BA21-45BB-98F2-3991A711680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695575" y="3624263"/>
            <a:ext cx="866775" cy="795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18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1556D7E7-F1F8-4508-AD2B-5E3D413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B32D01E9-B54C-44C5-A776-B764E8C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OLUSI PRODUK">
            <a:extLst xmlns:a="http://schemas.openxmlformats.org/drawingml/2006/main">
              <a:ext uri="{FF2B5EF4-FFF2-40B4-BE49-F238E27FC236}">
                <a16:creationId xmlns:a16="http://schemas.microsoft.com/office/drawing/2014/main" id="{4EC65D0E-8E94-4C9D-897C-F1B76E3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SOLUSI PRODUK</a:t>
            </a:r>
          </a:p>
        </p:txBody>
      </p:sp>
      <p:sp>
        <p:nvSpPr>
          <p:cNvPr id="4" name="Dua fungsi AI, satu workspace">
            <a:extLst xmlns:a="http://schemas.openxmlformats.org/drawingml/2006/main">
              <a:ext uri="{FF2B5EF4-FFF2-40B4-BE49-F238E27FC236}">
                <a16:creationId xmlns:a16="http://schemas.microsoft.com/office/drawing/2014/main" id="{77918A54-86A2-4E4A-B90D-6D654B8E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Dua fungsi AI, satu workspace</a:t>
            </a:r>
          </a:p>
        </p:txBody>
      </p:sp>
      <p:sp>
        <p:nvSpPr>
          <p:cNvPr id="5" name="Peran AI jelas. Tim tetap dapat meninjau alasan dan tindakan">
            <a:extLst xmlns:a="http://schemas.openxmlformats.org/drawingml/2006/main">
              <a:ext uri="{FF2B5EF4-FFF2-40B4-BE49-F238E27FC236}">
                <a16:creationId xmlns:a16="http://schemas.microsoft.com/office/drawing/2014/main" id="{9A6E2D86-95A7-485B-BC21-0AD9EAB4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Peran AI jelas. Tim tetap dapat meninjau alasan dan tindakan.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A31D1-5171-4C2D-AA5D-7613056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1621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0">
            <a:noFill/>
          </a:ln>
        </p:spPr>
      </p:sp>
      <p:sp>
        <p:nvSpPr>
          <p:cNvPr id="7" name="LISTING &amp;&#10;KNOWLEDGE">
            <a:extLst xmlns:a="http://schemas.openxmlformats.org/drawingml/2006/main">
              <a:ext uri="{FF2B5EF4-FFF2-40B4-BE49-F238E27FC236}">
                <a16:creationId xmlns:a16="http://schemas.microsoft.com/office/drawing/2014/main" id="{055DC6C2-9A69-4649-845E-C2BAC24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819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LISTING &amp;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89D43-568E-487B-BB36-E137C60E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0"/>
            <a:ext cx="4810125" cy="7715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6FD9"/>
          </a:solidFill>
          <a:ln xmlns:a="http://schemas.openxmlformats.org/drawingml/2006/main" w="0">
            <a:noFill/>
          </a:ln>
        </p:spPr>
      </p:sp>
      <p:sp>
        <p:nvSpPr>
          <p:cNvPr id="9" name="AI STRATEGI IKLAN">
            <a:extLst xmlns:a="http://schemas.openxmlformats.org/drawingml/2006/main">
              <a:ext uri="{FF2B5EF4-FFF2-40B4-BE49-F238E27FC236}">
                <a16:creationId xmlns:a16="http://schemas.microsoft.com/office/drawing/2014/main" id="{78249D19-EF26-4649-B338-7E690195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9950"/>
            <a:ext cx="4467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STRATEGI IKLAN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0877C-91D7-4C71-824B-8BDB09A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14875"/>
            <a:ext cx="4810125" cy="7715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946E8"/>
          </a:solidFill>
          <a:ln xmlns:a="http://schemas.openxmlformats.org/drawingml/2006/main" w="0">
            <a:noFill/>
          </a:ln>
        </p:spPr>
      </p:sp>
      <p:sp>
        <p:nvSpPr>
          <p:cNvPr id="11" name="AI PRODUKSI CREATIVE">
            <a:extLst xmlns:a="http://schemas.openxmlformats.org/drawingml/2006/main">
              <a:ext uri="{FF2B5EF4-FFF2-40B4-BE49-F238E27FC236}">
                <a16:creationId xmlns:a16="http://schemas.microsoft.com/office/drawing/2014/main" id="{4EC672EA-151D-4B9F-BCAC-3C3BCFE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86325"/>
            <a:ext cx="4467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PRODUKSI CREATIVE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7156C-D0F9-4603-AADF-DC4C2276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13" name="CAMPAIGN &amp;&#10;EVALUASI">
            <a:extLst xmlns:a="http://schemas.openxmlformats.org/drawingml/2006/main">
              <a:ext uri="{FF2B5EF4-FFF2-40B4-BE49-F238E27FC236}">
                <a16:creationId xmlns:a16="http://schemas.microsoft.com/office/drawing/2014/main" id="{44D4632D-26F0-470C-9AC0-883DF684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57650"/>
            <a:ext cx="2038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CAMPAIGN &amp;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7" name="Rencana campaign dan creative brief menjadi penghubung antar">
            <a:extLst xmlns:a="http://schemas.openxmlformats.org/drawingml/2006/main">
              <a:ext uri="{FF2B5EF4-FFF2-40B4-BE49-F238E27FC236}">
                <a16:creationId xmlns:a16="http://schemas.microsoft.com/office/drawing/2014/main" id="{443D4BF9-8E7D-4318-BE0C-D6868FBB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Rencana campaign dan creative brief menjadi penghubung antarproses.</a:t>
            </a:r>
          </a:p>
        </p:txBody>
      </p:sp>
    </p:spTree>
    <p:extLst>
      <p:ext uri="{BB962C8B-B14F-4D97-AF65-F5344CB8AC3E}">
        <p14:creationId xmlns:p14="http://schemas.microsoft.com/office/powerpoint/2010/main" val="8889529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2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7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0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A421ECA2-AE9D-4E60-BC82-7DDAB25D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5CA76735-4165-44EC-A3F9-F6661B6E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PETA WORKFLOW">
            <a:extLst xmlns:a="http://schemas.openxmlformats.org/drawingml/2006/main">
              <a:ext uri="{FF2B5EF4-FFF2-40B4-BE49-F238E27FC236}">
                <a16:creationId xmlns:a16="http://schemas.microsoft.com/office/drawing/2014/main" id="{0484AE5D-C652-497F-97AE-13974D04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PETA WORKFLOW</a:t>
            </a:r>
          </a:p>
        </p:txBody>
      </p:sp>
      <p:sp>
        <p:nvSpPr>
          <p:cNvPr id="4" name="13 tahap dalam 5 fase">
            <a:extLst xmlns:a="http://schemas.openxmlformats.org/drawingml/2006/main">
              <a:ext uri="{FF2B5EF4-FFF2-40B4-BE49-F238E27FC236}">
                <a16:creationId xmlns:a16="http://schemas.microsoft.com/office/drawing/2014/main" id="{9B6ACC3D-91B8-44DF-938B-34AD2ED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13 tahap dalam 5 fase</a:t>
            </a:r>
          </a:p>
        </p:txBody>
      </p:sp>
      <p:sp>
        <p:nvSpPr>
          <p:cNvPr id="5" name="Jumlah tahap berasal dari workflow produk, bukan ukuran perf">
            <a:extLst xmlns:a="http://schemas.openxmlformats.org/drawingml/2006/main">
              <a:ext uri="{FF2B5EF4-FFF2-40B4-BE49-F238E27FC236}">
                <a16:creationId xmlns:a16="http://schemas.microsoft.com/office/drawing/2014/main" id="{E4AC79A2-6274-4436-B71A-8305598D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Jumlah tahap berasal dari workflow produk, bukan ukuran performa iklan.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4568AAD-8373-4ED4-9043-306CD2BAED9D}"/>
              </a:ext>
            </a:extLst>
          </p:cNvPr>
          <p:cNvGraphicFramePr/>
          <p:nvPr/>
        </p:nvGraphicFramePr>
        <p:xfrm>
          <a:off xmlns:a="http://schemas.openxmlformats.org/drawingml/2006/main" x="457200" y="3209925"/>
          <a:ext xmlns:a="http://schemas.openxmlformats.org/drawingml/2006/main" cx="6762750" cy="2886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96da11ee324520"/>
          </a:graphicData>
        </a:graphic>
      </p:graphicFrame>
      <p:sp>
        <p:nvSpPr>
          <p:cNvPr id="7" name="13">
            <a:extLst xmlns:a="http://schemas.openxmlformats.org/drawingml/2006/main">
              <a:ext uri="{FF2B5EF4-FFF2-40B4-BE49-F238E27FC236}">
                <a16:creationId xmlns:a16="http://schemas.microsoft.com/office/drawing/2014/main" id="{3A97FCB8-1A91-45DB-863B-4B07F50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67075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tahap yang saling&#10;terhubung">
            <a:extLst xmlns:a="http://schemas.openxmlformats.org/drawingml/2006/main">
              <a:ext uri="{FF2B5EF4-FFF2-40B4-BE49-F238E27FC236}">
                <a16:creationId xmlns:a16="http://schemas.microsoft.com/office/drawing/2014/main" id="{02C16342-16ED-48DF-AC3E-A8D84C6D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tahap yang saling</a:t>
            </a:r>
          </a:p>
          <a:p xmlns:a="http://schemas.openxmlformats.org/drawingml/2006/main">
            <a: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terhubung</a:t>
            </a:r>
          </a:p>
        </p:txBody>
      </p:sp>
      <p:sp>
        <p:nvSpPr>
          <p:cNvPr id="9" name="INTEGRASI MASIH DALAM VALIDASI">
            <a:extLst xmlns:a="http://schemas.openxmlformats.org/drawingml/2006/main">
              <a:ext uri="{FF2B5EF4-FFF2-40B4-BE49-F238E27FC236}">
                <a16:creationId xmlns:a16="http://schemas.microsoft.com/office/drawing/2014/main" id="{2590C51A-F456-4A96-BB82-A2C26675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76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6B13"/>
                </a:solidFill>
                <a:latin typeface="Arial"/>
                <a:ea typeface="Arial"/>
                <a:cs typeface="Arial"/>
              </a:rPr>
              <a:t>INTEGRASI MASIH DALAM VALIDASI</a:t>
            </a:r>
          </a:p>
        </p:txBody>
      </p:sp>
    </p:spTree>
    <p:extLst>
      <p:ext uri="{BB962C8B-B14F-4D97-AF65-F5344CB8AC3E}">
        <p14:creationId xmlns:p14="http://schemas.microsoft.com/office/powerpoint/2010/main" val="96177793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2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2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2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24699-86DD-4287-A361-B5B6E89A77C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62850" y="4200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DA441-2B63-4409-882F-8338AF7E44B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00400" y="4200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18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EF9EEE56-2679-4FC8-B506-3440AA3C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9A077670-1F1F-44A3-BBBD-8CEC7AC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LISTING &amp; KNOWLEDGE">
            <a:extLst xmlns:a="http://schemas.openxmlformats.org/drawingml/2006/main">
              <a:ext uri="{FF2B5EF4-FFF2-40B4-BE49-F238E27FC236}">
                <a16:creationId xmlns:a16="http://schemas.microsoft.com/office/drawing/2014/main" id="{2ECFB871-8230-45F5-8945-537C16DB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LISTING &amp; KNOWLEDGE</a:t>
            </a:r>
          </a:p>
        </p:txBody>
      </p:sp>
      <p:sp>
        <p:nvSpPr>
          <p:cNvPr id="4" name="Setiap klaim punya sumber">
            <a:extLst xmlns:a="http://schemas.openxmlformats.org/drawingml/2006/main">
              <a:ext uri="{FF2B5EF4-FFF2-40B4-BE49-F238E27FC236}">
                <a16:creationId xmlns:a16="http://schemas.microsoft.com/office/drawing/2014/main" id="{0BB50329-69F0-49A2-8A9D-D2BCA62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Setiap klaim punya sumber</a:t>
            </a:r>
          </a:p>
        </p:txBody>
      </p:sp>
      <p:sp>
        <p:nvSpPr>
          <p:cNvPr id="5" name="Data properti, lokasi, harga, spesifikasi, media, dan dokume">
            <a:extLst xmlns:a="http://schemas.openxmlformats.org/drawingml/2006/main">
              <a:ext uri="{FF2B5EF4-FFF2-40B4-BE49-F238E27FC236}">
                <a16:creationId xmlns:a16="http://schemas.microsoft.com/office/drawing/2014/main" id="{7F57F37F-F3AF-4375-BFA9-A72254ED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Data properti, lokasi, harga, spesifikasi, media, dan dokumen.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796A-F686-4B34-899E-437C3656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26670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7946E8"/>
          </a:solidFill>
          <a:ln xmlns:a="http://schemas.openxmlformats.org/drawingml/2006/main" w="0">
            <a:noFill/>
          </a:ln>
        </p:spPr>
      </p:sp>
      <p:sp>
        <p:nvSpPr>
          <p:cNvPr id="7" name="“DP 10%”">
            <a:extLst xmlns:a="http://schemas.openxmlformats.org/drawingml/2006/main">
              <a:ext uri="{FF2B5EF4-FFF2-40B4-BE49-F238E27FC236}">
                <a16:creationId xmlns:a16="http://schemas.microsoft.com/office/drawing/2014/main" id="{4AEBC7C5-6616-4272-BD79-697FA816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“DP 10%”</a:t>
            </a:r>
          </a:p>
        </p:txBody>
      </p:sp>
      <p:sp>
        <p:nvSpPr>
          <p:cNvPr id="8" name="KLAIM IKLAN">
            <a:extLst xmlns:a="http://schemas.openxmlformats.org/drawingml/2006/main">
              <a:ext uri="{FF2B5EF4-FFF2-40B4-BE49-F238E27FC236}">
                <a16:creationId xmlns:a16="http://schemas.microsoft.com/office/drawing/2014/main" id="{E5B69AA2-7C3A-4140-8EDB-3B9B3A3C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243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KLAIM IKLAN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BCA17-5C46-4D5A-9709-CA01AC9D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52825"/>
            <a:ext cx="35052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</a:ln>
        </p:spPr>
      </p:sp>
      <p:sp>
        <p:nvSpPr>
          <p:cNvPr id="10" name="Price List BSD&#10;September.xlsx">
            <a:extLst xmlns:a="http://schemas.openxmlformats.org/drawingml/2006/main">
              <a:ext uri="{FF2B5EF4-FFF2-40B4-BE49-F238E27FC236}">
                <a16:creationId xmlns:a16="http://schemas.microsoft.com/office/drawing/2014/main" id="{A42BD348-9EF7-4ED4-A4C5-33E82145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24275"/>
            <a:ext cx="3162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Price List BSD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September.xlsx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712E1-650D-44E7-83D4-D9007A9B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52825"/>
            <a:ext cx="32385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12" name="Sheet Type 120&#10;Row 12">
            <a:extLst xmlns:a="http://schemas.openxmlformats.org/drawingml/2006/main">
              <a:ext uri="{FF2B5EF4-FFF2-40B4-BE49-F238E27FC236}">
                <a16:creationId xmlns:a16="http://schemas.microsoft.com/office/drawing/2014/main" id="{DB733A5B-8E6B-48FA-A9F8-84CA3962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24275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Sheet Type 120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Row 12</a:t>
            </a:r>
          </a:p>
        </p:txBody>
      </p:sp>
      <p:sp>
        <p:nvSpPr>
          <p:cNvPr id="15" name="Semantic search">
            <a:extLst xmlns:a="http://schemas.openxmlformats.org/drawingml/2006/main">
              <a:ext uri="{FF2B5EF4-FFF2-40B4-BE49-F238E27FC236}">
                <a16:creationId xmlns:a16="http://schemas.microsoft.com/office/drawing/2014/main" id="{FBBD0A07-7AC9-467E-9411-3E69860D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483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Semantic search</a:t>
            </a:r>
          </a:p>
        </p:txBody>
      </p:sp>
      <p:sp>
        <p:nvSpPr>
          <p:cNvPr id="16" name="+ keyword search">
            <a:extLst xmlns:a="http://schemas.openxmlformats.org/drawingml/2006/main">
              <a:ext uri="{FF2B5EF4-FFF2-40B4-BE49-F238E27FC236}">
                <a16:creationId xmlns:a16="http://schemas.microsoft.com/office/drawing/2014/main" id="{0F8584F7-655E-4155-8F5E-E13B4B59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+ keyword search</a:t>
            </a:r>
          </a:p>
        </p:txBody>
      </p:sp>
      <p:sp>
        <p:nvSpPr>
          <p:cNvPr id="17" name="Ilustrasi sumber klaim. Harga dan penawaran aktual mengikuti">
            <a:extLst xmlns:a="http://schemas.openxmlformats.org/drawingml/2006/main">
              <a:ext uri="{FF2B5EF4-FFF2-40B4-BE49-F238E27FC236}">
                <a16:creationId xmlns:a16="http://schemas.microsoft.com/office/drawing/2014/main" id="{8C7F03B9-5A4F-4E68-A4CB-C4BC76B0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Ilustrasi sumber klaim. Harga dan penawaran aktual mengikuti dokumen bisnis.</a:t>
            </a:r>
          </a:p>
        </p:txBody>
      </p:sp>
    </p:spTree>
    <p:extLst>
      <p:ext uri="{BB962C8B-B14F-4D97-AF65-F5344CB8AC3E}">
        <p14:creationId xmlns:p14="http://schemas.microsoft.com/office/powerpoint/2010/main" val="11426930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7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25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8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70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5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21CD4-6B20-44BA-9613-C1D836760CB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943725" y="4481513"/>
            <a:ext cx="2066925" cy="1147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B14A3-4A69-43F0-96D4-D184B8433D8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43725" y="4481513"/>
            <a:ext cx="2066925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9E272-F46D-4A81-B386-B7A28EB77C2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943725" y="3590925"/>
            <a:ext cx="2066925" cy="890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61956-718A-40B8-BD0F-9866465899E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86150" y="4481513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2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75745493-5F5C-4342-9036-DE76D92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166ECB46-2DFD-4C95-8432-B5609740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I STRATEGI IKLAN">
            <a:extLst xmlns:a="http://schemas.openxmlformats.org/drawingml/2006/main">
              <a:ext uri="{FF2B5EF4-FFF2-40B4-BE49-F238E27FC236}">
                <a16:creationId xmlns:a16="http://schemas.microsoft.com/office/drawing/2014/main" id="{86D13021-4050-4F92-BFDA-AE19947D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AI STRATEGI IKLAN</a:t>
            </a:r>
          </a:p>
        </p:txBody>
      </p:sp>
      <p:sp>
        <p:nvSpPr>
          <p:cNvPr id="4" name="Data bisnis menjadi rencana campaign">
            <a:extLst xmlns:a="http://schemas.openxmlformats.org/drawingml/2006/main">
              <a:ext uri="{FF2B5EF4-FFF2-40B4-BE49-F238E27FC236}">
                <a16:creationId xmlns:a16="http://schemas.microsoft.com/office/drawing/2014/main" id="{6A8913A5-7BF7-4B22-9C0B-C5D7C36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Data bisnis menjadi rencana campaign</a:t>
            </a:r>
          </a:p>
        </p:txBody>
      </p:sp>
      <p:sp>
        <p:nvSpPr>
          <p:cNvPr id="5" name="Draft dapat ditinjau sebelum konfigurasi dan eksekusi.">
            <a:extLst xmlns:a="http://schemas.openxmlformats.org/drawingml/2006/main">
              <a:ext uri="{FF2B5EF4-FFF2-40B4-BE49-F238E27FC236}">
                <a16:creationId xmlns:a16="http://schemas.microsoft.com/office/drawing/2014/main" id="{CEC6C3D5-F8B4-49A9-A2EE-AF02D56C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Draft dapat ditinjau sebelum konfigurasi dan eksekusi.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CD105-4AED-4924-835B-6A4D55E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9527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7" name="Listing + harga&#10;Knowledge + data Meta">
            <a:extLst xmlns:a="http://schemas.openxmlformats.org/drawingml/2006/main">
              <a:ext uri="{FF2B5EF4-FFF2-40B4-BE49-F238E27FC236}">
                <a16:creationId xmlns:a16="http://schemas.microsoft.com/office/drawing/2014/main" id="{82032EF6-453A-4933-9625-1C1BD7D2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609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Listing + harga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Knowledge + data Meta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DDB69-2B33-4BF7-83ED-F51692C6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81450"/>
            <a:ext cx="2476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E6FD9"/>
          </a:solidFill>
          <a:ln xmlns:a="http://schemas.openxmlformats.org/drawingml/2006/main" w="0">
            <a:noFill/>
          </a:ln>
        </p:spPr>
      </p:sp>
      <p:sp>
        <p:nvSpPr>
          <p:cNvPr id="9" name="AI STRATEGI&#10;IKLAN">
            <a:extLst xmlns:a="http://schemas.openxmlformats.org/drawingml/2006/main">
              <a:ext uri="{FF2B5EF4-FFF2-40B4-BE49-F238E27FC236}">
                <a16:creationId xmlns:a16="http://schemas.microsoft.com/office/drawing/2014/main" id="{4D0B95DE-0D13-437A-8B09-1B2A31D7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52900"/>
            <a:ext cx="2133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STRATEGI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IKLAN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9034D-7037-4E32-AED2-ED05F934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6479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12" name="Objective &amp; audience">
            <a:extLst xmlns:a="http://schemas.openxmlformats.org/drawingml/2006/main">
              <a:ext uri="{FF2B5EF4-FFF2-40B4-BE49-F238E27FC236}">
                <a16:creationId xmlns:a16="http://schemas.microsoft.com/office/drawing/2014/main" id="{A093A7B7-F217-4231-9664-B0582565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Objective &amp; audience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62482-6C7E-4C2A-8950-893F8F9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6479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15" name="Lokasi &amp; interest">
            <a:extLst xmlns:a="http://schemas.openxmlformats.org/drawingml/2006/main">
              <a:ext uri="{FF2B5EF4-FFF2-40B4-BE49-F238E27FC236}">
                <a16:creationId xmlns:a16="http://schemas.microsoft.com/office/drawing/2014/main" id="{9D2AB32D-533E-4C44-8334-B0E4B87D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48175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Lokasi &amp; interest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08A89-77A4-42C3-BE2C-D6C14D9B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95900"/>
            <a:ext cx="26479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18" name="Creative &amp; copy">
            <a:extLst xmlns:a="http://schemas.openxmlformats.org/drawingml/2006/main">
              <a:ext uri="{FF2B5EF4-FFF2-40B4-BE49-F238E27FC236}">
                <a16:creationId xmlns:a16="http://schemas.microsoft.com/office/drawing/2014/main" id="{9FC6B0FD-3905-47D4-B5AF-4E3A692C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673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Creative &amp; copy</a:t>
            </a:r>
          </a:p>
        </p:txBody>
      </p:sp>
      <p:sp>
        <p:nvSpPr>
          <p:cNvPr id="20" name="Targeting akhir mengikuti ketersediaan dan aturan Meta.">
            <a:extLst xmlns:a="http://schemas.openxmlformats.org/drawingml/2006/main">
              <a:ext uri="{FF2B5EF4-FFF2-40B4-BE49-F238E27FC236}">
                <a16:creationId xmlns:a16="http://schemas.microsoft.com/office/drawing/2014/main" id="{E096C690-386D-497F-8C85-8B30825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Targeting akhir mengikuti ketersediaan dan aturan Meta.</a:t>
            </a:r>
          </a:p>
        </p:txBody>
      </p:sp>
    </p:spTree>
    <p:extLst>
      <p:ext uri="{BB962C8B-B14F-4D97-AF65-F5344CB8AC3E}">
        <p14:creationId xmlns:p14="http://schemas.microsoft.com/office/powerpoint/2010/main" val="193046568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2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2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0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5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7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8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0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80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80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80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2090D069-3736-453E-992B-9340C29A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91F0453-9703-440C-9639-E7833EE7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CAMPAIGN BUILDER">
            <a:extLst xmlns:a="http://schemas.openxmlformats.org/drawingml/2006/main">
              <a:ext uri="{FF2B5EF4-FFF2-40B4-BE49-F238E27FC236}">
                <a16:creationId xmlns:a16="http://schemas.microsoft.com/office/drawing/2014/main" id="{BB6A0866-AEFC-48E5-807F-050E1F3D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CAMPAIGN BUILDER</a:t>
            </a:r>
          </a:p>
        </p:txBody>
      </p:sp>
      <p:sp>
        <p:nvSpPr>
          <p:cNvPr id="4" name="Rencana dan konfigurasi tetap terhubung">
            <a:extLst xmlns:a="http://schemas.openxmlformats.org/drawingml/2006/main">
              <a:ext uri="{FF2B5EF4-FFF2-40B4-BE49-F238E27FC236}">
                <a16:creationId xmlns:a16="http://schemas.microsoft.com/office/drawing/2014/main" id="{78D7AAD9-D50F-4969-8D6B-9B6294F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Rencana dan konfigurasi tetap terhubung</a:t>
            </a:r>
          </a:p>
        </p:txBody>
      </p:sp>
      <p:sp>
        <p:nvSpPr>
          <p:cNvPr id="5" name="Listing, objective, budget, jadwal, audience, Page, destinat">
            <a:extLst xmlns:a="http://schemas.openxmlformats.org/drawingml/2006/main">
              <a:ext uri="{FF2B5EF4-FFF2-40B4-BE49-F238E27FC236}">
                <a16:creationId xmlns:a16="http://schemas.microsoft.com/office/drawing/2014/main" id="{7F7138B7-E7C7-4E4D-AB7D-6B38DF2A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Listing, objective, budget, jadwal, audience, Page, destination, dan creative.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0368-4BB9-4ABA-8534-1823FE8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333375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7" name="REKOMENDASI AI">
            <a:extLst xmlns:a="http://schemas.openxmlformats.org/drawingml/2006/main">
              <a:ext uri="{FF2B5EF4-FFF2-40B4-BE49-F238E27FC236}">
                <a16:creationId xmlns:a16="http://schemas.microsoft.com/office/drawing/2014/main" id="{1825A165-46FE-4570-A513-4699A6F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REKOMENDASI AI</a:t>
            </a:r>
          </a:p>
        </p:txBody>
      </p:sp>
      <p:sp>
        <p:nvSpPr>
          <p:cNvPr id="8" name="WhatsApp Leads">
            <a:extLst xmlns:a="http://schemas.openxmlformats.org/drawingml/2006/main">
              <a:ext uri="{FF2B5EF4-FFF2-40B4-BE49-F238E27FC236}">
                <a16:creationId xmlns:a16="http://schemas.microsoft.com/office/drawing/2014/main" id="{4B7ACA11-72CB-4B43-90A9-81AC2793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WhatsApp Leads</a:t>
            </a:r>
          </a:p>
        </p:txBody>
      </p:sp>
      <p:sp>
        <p:nvSpPr>
          <p:cNvPr id="9" name="Listing rumah&#10;Creative terpilih&#10;Draft audience">
            <a:extLst xmlns:a="http://schemas.openxmlformats.org/drawingml/2006/main">
              <a:ext uri="{FF2B5EF4-FFF2-40B4-BE49-F238E27FC236}">
                <a16:creationId xmlns:a16="http://schemas.microsoft.com/office/drawing/2014/main" id="{E0BB24A1-6758-478C-A6DB-43331A5F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Listing rumah</a:t>
            </a:r>
          </a:p>
          <a:p xmlns:a="http://schemas.openxmlformats.org/drawingml/2006/main">
            <a: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Creative terpilih</a:t>
            </a:r>
          </a:p>
          <a:p xmlns:a="http://schemas.openxmlformats.org/drawingml/2006/main">
            <a:pPr>
              <a:defRPr sz="180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Draft 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5C366-44C3-4346-AC4F-9D33BB4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704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7F5FC"/>
          </a:solidFill>
          <a:ln xmlns:a="http://schemas.openxmlformats.org/drawingml/2006/main" w="14288">
            <a:solidFill>
              <a:srgbClr val="DDD5F1"/>
            </a:solidFill>
          </a:ln>
        </p:spPr>
      </p:sp>
      <p:sp>
        <p:nvSpPr>
          <p:cNvPr id="11" name="CAMPAIGN SUMMARY">
            <a:extLst xmlns:a="http://schemas.openxmlformats.org/drawingml/2006/main">
              <a:ext uri="{FF2B5EF4-FFF2-40B4-BE49-F238E27FC236}">
                <a16:creationId xmlns:a16="http://schemas.microsoft.com/office/drawing/2014/main" id="{F1F847EC-9DF3-437F-91EC-C4990E9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CAMPAIGN SUMMARY</a:t>
            </a:r>
          </a:p>
        </p:txBody>
      </p:sp>
      <p:sp>
        <p:nvSpPr>
          <p:cNvPr id="12" name="Listing">
            <a:extLst xmlns:a="http://schemas.openxmlformats.org/drawingml/2006/main">
              <a:ext uri="{FF2B5EF4-FFF2-40B4-BE49-F238E27FC236}">
                <a16:creationId xmlns:a16="http://schemas.microsoft.com/office/drawing/2014/main" id="{2B929D12-EBC3-4556-AAF4-7C910D78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3" name="Rumah contoh">
            <a:extLst xmlns:a="http://schemas.openxmlformats.org/drawingml/2006/main">
              <a:ext uri="{FF2B5EF4-FFF2-40B4-BE49-F238E27FC236}">
                <a16:creationId xmlns:a16="http://schemas.microsoft.com/office/drawing/2014/main" id="{C67E18C0-20D3-4A12-9383-BA7AA55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3800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Rumah contoh</a:t>
            </a:r>
          </a:p>
        </p:txBody>
      </p:sp>
      <p:sp>
        <p:nvSpPr>
          <p:cNvPr id="14" name="Objective">
            <a:extLst xmlns:a="http://schemas.openxmlformats.org/drawingml/2006/main">
              <a:ext uri="{FF2B5EF4-FFF2-40B4-BE49-F238E27FC236}">
                <a16:creationId xmlns:a16="http://schemas.microsoft.com/office/drawing/2014/main" id="{56604FFF-97BD-4F75-AC5D-18BFEA3F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05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5" name="WhatsApp Leads">
            <a:extLst xmlns:a="http://schemas.openxmlformats.org/drawingml/2006/main">
              <a:ext uri="{FF2B5EF4-FFF2-40B4-BE49-F238E27FC236}">
                <a16:creationId xmlns:a16="http://schemas.microsoft.com/office/drawing/2014/main" id="{8FA29F03-6CF2-4037-8A12-8D12463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05325"/>
            <a:ext cx="3800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WhatsApp Leads</a:t>
            </a:r>
          </a:p>
        </p:txBody>
      </p:sp>
      <p:sp>
        <p:nvSpPr>
          <p:cNvPr id="16" name="Budget &amp; jadwal">
            <a:extLst xmlns:a="http://schemas.openxmlformats.org/drawingml/2006/main">
              <a:ext uri="{FF2B5EF4-FFF2-40B4-BE49-F238E27FC236}">
                <a16:creationId xmlns:a16="http://schemas.microsoft.com/office/drawing/2014/main" id="{722A275A-92DF-4D2F-95A4-471E068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14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Budget &amp; jadwal</a:t>
            </a:r>
          </a:p>
        </p:txBody>
      </p:sp>
      <p:sp>
        <p:nvSpPr>
          <p:cNvPr id="17" name="Diatur pengguna">
            <a:extLst xmlns:a="http://schemas.openxmlformats.org/drawingml/2006/main">
              <a:ext uri="{FF2B5EF4-FFF2-40B4-BE49-F238E27FC236}">
                <a16:creationId xmlns:a16="http://schemas.microsoft.com/office/drawing/2014/main" id="{5745978B-EF35-4FC0-B812-81D94C6F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14900"/>
            <a:ext cx="3800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Diatur pengguna</a:t>
            </a:r>
          </a:p>
        </p:txBody>
      </p:sp>
      <p:sp>
        <p:nvSpPr>
          <p:cNvPr id="18" name="Status">
            <a:extLst xmlns:a="http://schemas.openxmlformats.org/drawingml/2006/main">
              <a:ext uri="{FF2B5EF4-FFF2-40B4-BE49-F238E27FC236}">
                <a16:creationId xmlns:a16="http://schemas.microsoft.com/office/drawing/2014/main" id="{2FADADFC-2933-46BB-821C-A2C34AE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24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9" name="Draft untuk review">
            <a:extLst xmlns:a="http://schemas.openxmlformats.org/drawingml/2006/main">
              <a:ext uri="{FF2B5EF4-FFF2-40B4-BE49-F238E27FC236}">
                <a16:creationId xmlns:a16="http://schemas.microsoft.com/office/drawing/2014/main" id="{29983866-A9D2-47C5-B9B1-F6D79918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24475"/>
            <a:ext cx="3800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Draft untuk review</a:t>
            </a:r>
          </a:p>
        </p:txBody>
      </p:sp>
      <p:sp>
        <p:nvSpPr>
          <p:cNvPr id="20" name="→">
            <a:extLst xmlns:a="http://schemas.openxmlformats.org/drawingml/2006/main">
              <a:ext uri="{FF2B5EF4-FFF2-40B4-BE49-F238E27FC236}">
                <a16:creationId xmlns:a16="http://schemas.microsoft.com/office/drawing/2014/main" id="{D5993B9B-D21C-4E53-A6CF-1A6A555C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38650"/>
            <a:ext cx="495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Ilustrasi konfigurasi. Preview tidak membuktikan campaign su">
            <a:extLst xmlns:a="http://schemas.openxmlformats.org/drawingml/2006/main">
              <a:ext uri="{FF2B5EF4-FFF2-40B4-BE49-F238E27FC236}">
                <a16:creationId xmlns:a16="http://schemas.microsoft.com/office/drawing/2014/main" id="{648A11FA-204F-4BBC-A6F1-B162BAB6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Ilustrasi konfigurasi. Preview tidak membuktikan campaign sudah terbit.</a:t>
            </a:r>
          </a:p>
        </p:txBody>
      </p:sp>
    </p:spTree>
    <p:extLst>
      <p:ext uri="{BB962C8B-B14F-4D97-AF65-F5344CB8AC3E}">
        <p14:creationId xmlns:p14="http://schemas.microsoft.com/office/powerpoint/2010/main" val="71811014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7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25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5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70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25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70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25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700"/>
                      </p:stCondLst>
                      <p:childTnLst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5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DE05D-4F6A-4A74-A518-5E81C7F8C8D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4519613"/>
            <a:ext cx="109537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05632-7246-4CE9-B67C-B341AA516C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5600" y="4519613"/>
            <a:ext cx="1095375" cy="338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4B945-3FF4-4068-9EF6-CC9CCA85512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95600" y="3762375"/>
            <a:ext cx="1095375" cy="7572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20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65F2F2D0-98A1-4C70-976C-AAFB1A4C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B3E226D0-C049-4D30-A33B-8E690B6D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AI PRODUKSI CREATIVE">
            <a:extLst xmlns:a="http://schemas.openxmlformats.org/drawingml/2006/main">
              <a:ext uri="{FF2B5EF4-FFF2-40B4-BE49-F238E27FC236}">
                <a16:creationId xmlns:a16="http://schemas.microsoft.com/office/drawing/2014/main" id="{9B316EF4-E87D-4388-8CFF-A261159F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AI PRODUKSI CREATIVE</a:t>
            </a:r>
          </a:p>
        </p:txBody>
      </p:sp>
      <p:sp>
        <p:nvSpPr>
          <p:cNvPr id="4" name="Satu brief, tiga format output">
            <a:extLst xmlns:a="http://schemas.openxmlformats.org/drawingml/2006/main">
              <a:ext uri="{FF2B5EF4-FFF2-40B4-BE49-F238E27FC236}">
                <a16:creationId xmlns:a16="http://schemas.microsoft.com/office/drawing/2014/main" id="{2F1C6E4B-3D3F-4588-AFC8-AF3E978E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Satu brief, tiga format output</a:t>
            </a:r>
          </a:p>
        </p:txBody>
      </p:sp>
      <p:sp>
        <p:nvSpPr>
          <p:cNvPr id="5" name="Image, video, dan carousel berada dalam satu proses produksi">
            <a:extLst xmlns:a="http://schemas.openxmlformats.org/drawingml/2006/main">
              <a:ext uri="{FF2B5EF4-FFF2-40B4-BE49-F238E27FC236}">
                <a16:creationId xmlns:a16="http://schemas.microsoft.com/office/drawing/2014/main" id="{512EDC7C-F5F3-419C-873E-DE85DB7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Image, video, dan carousel berada dalam satu proses produksi.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263F7-B9FD-4CA5-AA92-6D66B3B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3622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7946E8"/>
          </a:solidFill>
          <a:ln xmlns:a="http://schemas.openxmlformats.org/drawingml/2006/main" w="0">
            <a:noFill/>
          </a:ln>
        </p:spPr>
      </p:sp>
      <p:sp>
        <p:nvSpPr>
          <p:cNvPr id="7" name="CREATIVE BRIEF">
            <a:extLst xmlns:a="http://schemas.openxmlformats.org/drawingml/2006/main">
              <a:ext uri="{FF2B5EF4-FFF2-40B4-BE49-F238E27FC236}">
                <a16:creationId xmlns:a16="http://schemas.microsoft.com/office/drawing/2014/main" id="{AAC7DC39-FF6F-43DC-BC09-B598E41E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019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CREATIVE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5AF0-0EB9-4447-981F-FBFAC967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81375"/>
            <a:ext cx="31432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9" name="IMAGE STUDIO">
            <a:extLst xmlns:a="http://schemas.openxmlformats.org/drawingml/2006/main">
              <a:ext uri="{FF2B5EF4-FFF2-40B4-BE49-F238E27FC236}">
                <a16:creationId xmlns:a16="http://schemas.microsoft.com/office/drawing/2014/main" id="{5171B32C-853C-4F5E-80A0-B59F6B5C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52825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IMAGE 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AC31B-546E-4C26-BF1E-2773760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76750"/>
            <a:ext cx="31432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3EDFD"/>
          </a:solidFill>
          <a:ln xmlns:a="http://schemas.openxmlformats.org/drawingml/2006/main" w="0">
            <a:noFill/>
          </a:ln>
        </p:spPr>
      </p:sp>
      <p:sp>
        <p:nvSpPr>
          <p:cNvPr id="11" name="VIDEO STUDIO">
            <a:extLst xmlns:a="http://schemas.openxmlformats.org/drawingml/2006/main">
              <a:ext uri="{FF2B5EF4-FFF2-40B4-BE49-F238E27FC236}">
                <a16:creationId xmlns:a16="http://schemas.microsoft.com/office/drawing/2014/main" id="{10165A59-C6F5-41AC-889A-0E8D9D01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482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VIDEO STUDIO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9CF55-7C75-42A7-ABDD-A79815F1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572125"/>
            <a:ext cx="3143250" cy="619125"/>
          </a:xfrm>
          <a:prstGeom xmlns:a="http://schemas.openxmlformats.org/drawingml/2006/main" prst="roundRect">
            <a:avLst>
              <a:gd name="adj" fmla="val 27692"/>
            </a:avLst>
          </a:prstGeom>
          <a:solidFill xmlns:a="http://schemas.openxmlformats.org/drawingml/2006/main">
            <a:srgbClr val="F4E6F5"/>
          </a:solidFill>
          <a:ln xmlns:a="http://schemas.openxmlformats.org/drawingml/2006/main" w="0">
            <a:noFill/>
          </a:ln>
        </p:spPr>
      </p:sp>
      <p:sp>
        <p:nvSpPr>
          <p:cNvPr id="13" name="CAROUSEL STUDIO">
            <a:extLst xmlns:a="http://schemas.openxmlformats.org/drawingml/2006/main">
              <a:ext uri="{FF2B5EF4-FFF2-40B4-BE49-F238E27FC236}">
                <a16:creationId xmlns:a16="http://schemas.microsoft.com/office/drawing/2014/main" id="{D5640766-69F4-452C-B970-4ED569AB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743575"/>
            <a:ext cx="2800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CAROUSEL STUDIO</a:t>
            </a:r>
          </a:p>
        </p:txBody>
      </p:sp>
      <p:sp>
        <p:nvSpPr>
          <p:cNvPr id="17" name="Gambar statis">
            <a:extLst xmlns:a="http://schemas.openxmlformats.org/drawingml/2006/main">
              <a:ext uri="{FF2B5EF4-FFF2-40B4-BE49-F238E27FC236}">
                <a16:creationId xmlns:a16="http://schemas.microsoft.com/office/drawing/2014/main" id="{49CB8974-3C46-44E3-8BDA-16BAF67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3800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Gambar statis</a:t>
            </a:r>
          </a:p>
        </p:txBody>
      </p:sp>
      <p:sp>
        <p:nvSpPr>
          <p:cNvPr id="18" name="Media, scene, teks, audio">
            <a:extLst xmlns:a="http://schemas.openxmlformats.org/drawingml/2006/main">
              <a:ext uri="{FF2B5EF4-FFF2-40B4-BE49-F238E27FC236}">
                <a16:creationId xmlns:a16="http://schemas.microsoft.com/office/drawing/2014/main" id="{400690AC-6A34-4D9C-AE46-FD7F4A3B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57725"/>
            <a:ext cx="3800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Media, scene, teks, audio</a:t>
            </a:r>
          </a:p>
        </p:txBody>
      </p:sp>
      <p:sp>
        <p:nvSpPr>
          <p:cNvPr id="19" name="Seri pesan berurutan">
            <a:extLst xmlns:a="http://schemas.openxmlformats.org/drawingml/2006/main">
              <a:ext uri="{FF2B5EF4-FFF2-40B4-BE49-F238E27FC236}">
                <a16:creationId xmlns:a16="http://schemas.microsoft.com/office/drawing/2014/main" id="{6A487AB8-2517-41DD-8FD4-3B4C6D97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86425"/>
            <a:ext cx="3800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6539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65393"/>
                </a:solidFill>
                <a:latin typeface="Arial"/>
                <a:ea typeface="Arial"/>
                <a:cs typeface="Arial"/>
              </a:rPr>
              <a:t>Seri pesan berurutan</a:t>
            </a:r>
          </a:p>
        </p:txBody>
      </p:sp>
    </p:spTree>
    <p:extLst>
      <p:ext uri="{BB962C8B-B14F-4D97-AF65-F5344CB8AC3E}">
        <p14:creationId xmlns:p14="http://schemas.microsoft.com/office/powerpoint/2010/main" val="115967340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7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7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70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7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70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70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25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25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25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AE0C9C8C-1DB4-4662-821B-0C40252E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E6FA8BA0-6039-46FD-A764-1A9BCF74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PRODUCTION QUEUE &amp; ASSET LIBRARY">
            <a:extLst xmlns:a="http://schemas.openxmlformats.org/drawingml/2006/main">
              <a:ext uri="{FF2B5EF4-FFF2-40B4-BE49-F238E27FC236}">
                <a16:creationId xmlns:a16="http://schemas.microsoft.com/office/drawing/2014/main" id="{5BB12177-0E2D-45BA-ADE9-F27598D2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PRODUCTION QUEUE &amp; ASSET LIBRARY</a:t>
            </a:r>
          </a:p>
        </p:txBody>
      </p:sp>
      <p:sp>
        <p:nvSpPr>
          <p:cNvPr id="4" name="Setiap aset memiliki status dan jejak">
            <a:extLst xmlns:a="http://schemas.openxmlformats.org/drawingml/2006/main">
              <a:ext uri="{FF2B5EF4-FFF2-40B4-BE49-F238E27FC236}">
                <a16:creationId xmlns:a16="http://schemas.microsoft.com/office/drawing/2014/main" id="{1C08E542-97DC-41B9-844E-52122FDC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Setiap aset memiliki status dan jejak</a:t>
            </a:r>
          </a:p>
        </p:txBody>
      </p:sp>
      <p:sp>
        <p:nvSpPr>
          <p:cNvPr id="5" name="Versi creative, sumber aset, hasil generasi, dan keputusan Q">
            <a:extLst xmlns:a="http://schemas.openxmlformats.org/drawingml/2006/main">
              <a:ext uri="{FF2B5EF4-FFF2-40B4-BE49-F238E27FC236}">
                <a16:creationId xmlns:a16="http://schemas.microsoft.com/office/drawing/2014/main" id="{3068314B-1551-4F35-910D-E7538A85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Versi creative, sumber aset, hasil generasi, dan keputusan QA dapat ditelusuri.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FC1CE-397A-4622-93E6-1690D296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2609850" cy="2657475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</a:ln>
        </p:spPr>
      </p:sp>
      <p:sp>
        <p:nvSpPr>
          <p:cNvPr id="7" name="Generating">
            <a:extLst xmlns:a="http://schemas.openxmlformats.org/drawingml/2006/main">
              <a:ext uri="{FF2B5EF4-FFF2-40B4-BE49-F238E27FC236}">
                <a16:creationId xmlns:a16="http://schemas.microsoft.com/office/drawing/2014/main" id="{3EAB537C-A3C6-4A72-BC59-1CDE4DA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Generating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4FE3F-1EC9-498B-AF23-C6F82BFA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305050" cy="1781175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6EF"/>
            </a:solidFill>
          </a:ln>
        </p:spPr>
      </p:sp>
      <p:sp>
        <p:nvSpPr>
          <p:cNvPr id="9" name="VIDEO">
            <a:extLst xmlns:a="http://schemas.openxmlformats.org/drawingml/2006/main">
              <a:ext uri="{FF2B5EF4-FFF2-40B4-BE49-F238E27FC236}">
                <a16:creationId xmlns:a16="http://schemas.microsoft.com/office/drawing/2014/main" id="{3CB61F51-0249-4CC4-87EF-7CDDC6CF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0" name="Promo rumah">
            <a:extLst xmlns:a="http://schemas.openxmlformats.org/drawingml/2006/main">
              <a:ext uri="{FF2B5EF4-FFF2-40B4-BE49-F238E27FC236}">
                <a16:creationId xmlns:a16="http://schemas.microsoft.com/office/drawing/2014/main" id="{AB12B847-A49D-4ACC-8547-123A4F44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Promo rumah</a:t>
            </a:r>
          </a:p>
        </p:txBody>
      </p:sp>
      <p:sp>
        <p:nvSpPr>
          <p:cNvPr id="11" name="Render berjalan">
            <a:extLst xmlns:a="http://schemas.openxmlformats.org/drawingml/2006/main">
              <a:ext uri="{FF2B5EF4-FFF2-40B4-BE49-F238E27FC236}">
                <a16:creationId xmlns:a16="http://schemas.microsoft.com/office/drawing/2014/main" id="{2EC2C390-1FFE-453F-AF40-5DF06F3C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Render berjalan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E6A0C-CF16-40F9-8712-E0E217C7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9950"/>
            <a:ext cx="2609850" cy="2657475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</a:ln>
        </p:spPr>
      </p:sp>
      <p:sp>
        <p:nvSpPr>
          <p:cNvPr id="13" name="Needs Review">
            <a:extLst xmlns:a="http://schemas.openxmlformats.org/drawingml/2006/main">
              <a:ext uri="{FF2B5EF4-FFF2-40B4-BE49-F238E27FC236}">
                <a16:creationId xmlns:a16="http://schemas.microsoft.com/office/drawing/2014/main" id="{C2E2C774-E283-42D5-9CF7-B69B9344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6B13"/>
                </a:solidFill>
                <a:latin typeface="Arial"/>
                <a:ea typeface="Arial"/>
                <a:cs typeface="Arial"/>
              </a:rPr>
              <a:t>Needs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52D25-D183-44F3-95CF-1BC0ED13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67175"/>
            <a:ext cx="2305050" cy="1781175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6EF"/>
            </a:solidFill>
          </a:ln>
        </p:spPr>
      </p:sp>
      <p:sp>
        <p:nvSpPr>
          <p:cNvPr id="15" name="IMAGE">
            <a:extLst xmlns:a="http://schemas.openxmlformats.org/drawingml/2006/main">
              <a:ext uri="{FF2B5EF4-FFF2-40B4-BE49-F238E27FC236}">
                <a16:creationId xmlns:a16="http://schemas.microsoft.com/office/drawing/2014/main" id="{51048095-8E28-48A7-832A-8209DBB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67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76B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6B13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6" name="Eksterior rumah">
            <a:extLst xmlns:a="http://schemas.openxmlformats.org/drawingml/2006/main">
              <a:ext uri="{FF2B5EF4-FFF2-40B4-BE49-F238E27FC236}">
                <a16:creationId xmlns:a16="http://schemas.microsoft.com/office/drawing/2014/main" id="{460D371D-C142-480B-8CC8-C1CFBCE3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767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Eksterior rumah</a:t>
            </a:r>
          </a:p>
        </p:txBody>
      </p:sp>
      <p:sp>
        <p:nvSpPr>
          <p:cNvPr id="17" name="Menunggu QA">
            <a:extLst xmlns:a="http://schemas.openxmlformats.org/drawingml/2006/main">
              <a:ext uri="{FF2B5EF4-FFF2-40B4-BE49-F238E27FC236}">
                <a16:creationId xmlns:a16="http://schemas.microsoft.com/office/drawing/2014/main" id="{20D28FFA-D376-49C1-9558-B5E4C88D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6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Menunggu 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52CD1-3A87-4F73-8646-73366532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2609850" cy="2657475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</a:ln>
        </p:spPr>
      </p:sp>
      <p:sp>
        <p:nvSpPr>
          <p:cNvPr id="19" name="Approved">
            <a:extLst xmlns:a="http://schemas.openxmlformats.org/drawingml/2006/main">
              <a:ext uri="{FF2B5EF4-FFF2-40B4-BE49-F238E27FC236}">
                <a16:creationId xmlns:a16="http://schemas.microsoft.com/office/drawing/2014/main" id="{76BC83BE-F7CE-4ABA-9440-0F2C395D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D0CB0-01E7-41F9-9A44-3385018D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67175"/>
            <a:ext cx="2305050" cy="1781175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6EF"/>
            </a:solidFill>
          </a:ln>
        </p:spPr>
      </p:sp>
      <p:sp>
        <p:nvSpPr>
          <p:cNvPr id="21" name="CAROUSEL">
            <a:extLst xmlns:a="http://schemas.openxmlformats.org/drawingml/2006/main">
              <a:ext uri="{FF2B5EF4-FFF2-40B4-BE49-F238E27FC236}">
                <a16:creationId xmlns:a16="http://schemas.microsoft.com/office/drawing/2014/main" id="{89C1CCE4-5667-486D-89B4-73AF6E1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CAROUSEL</a:t>
            </a:r>
          </a:p>
        </p:txBody>
      </p:sp>
      <p:sp>
        <p:nvSpPr>
          <p:cNvPr id="22" name="Tipe rumah">
            <a:extLst xmlns:a="http://schemas.openxmlformats.org/drawingml/2006/main">
              <a:ext uri="{FF2B5EF4-FFF2-40B4-BE49-F238E27FC236}">
                <a16:creationId xmlns:a16="http://schemas.microsoft.com/office/drawing/2014/main" id="{1C63FAED-FAED-45E3-87CB-1A82B221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767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Tipe rumah</a:t>
            </a:r>
          </a:p>
        </p:txBody>
      </p:sp>
      <p:sp>
        <p:nvSpPr>
          <p:cNvPr id="23" name="Siap dipilih">
            <a:extLst xmlns:a="http://schemas.openxmlformats.org/drawingml/2006/main">
              <a:ext uri="{FF2B5EF4-FFF2-40B4-BE49-F238E27FC236}">
                <a16:creationId xmlns:a16="http://schemas.microsoft.com/office/drawing/2014/main" id="{72312F8C-07D5-4399-87C8-E656EA0E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6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Siap dipilih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7F1AF-F124-4DB8-B909-DE8647A2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2609850" cy="2657475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</a:ln>
        </p:spPr>
      </p:sp>
      <p:sp>
        <p:nvSpPr>
          <p:cNvPr id="25" name="Rejected">
            <a:extLst xmlns:a="http://schemas.openxmlformats.org/drawingml/2006/main">
              <a:ext uri="{FF2B5EF4-FFF2-40B4-BE49-F238E27FC236}">
                <a16:creationId xmlns:a16="http://schemas.microsoft.com/office/drawing/2014/main" id="{FBCEC403-4712-47D5-B618-D91610E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A4566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1A733-921C-482C-807B-A3E3EAE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67175"/>
            <a:ext cx="2305050" cy="1781175"/>
          </a:xfrm>
          <a:prstGeom xmlns:a="http://schemas.openxmlformats.org/drawingml/2006/main" prst="roundRect">
            <a:avLst>
              <a:gd name="adj" fmla="val 6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6EF"/>
            </a:solidFill>
          </a:ln>
        </p:spPr>
      </p:sp>
      <p:sp>
        <p:nvSpPr>
          <p:cNvPr id="27" name="IMAGE">
            <a:extLst xmlns:a="http://schemas.openxmlformats.org/drawingml/2006/main">
              <a:ext uri="{FF2B5EF4-FFF2-40B4-BE49-F238E27FC236}">
                <a16:creationId xmlns:a16="http://schemas.microsoft.com/office/drawing/2014/main" id="{84C27CE3-DEBD-467D-8A6F-FECC9596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67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A45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A4566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28" name="Promo harga">
            <a:extLst xmlns:a="http://schemas.openxmlformats.org/drawingml/2006/main">
              <a:ext uri="{FF2B5EF4-FFF2-40B4-BE49-F238E27FC236}">
                <a16:creationId xmlns:a16="http://schemas.microsoft.com/office/drawing/2014/main" id="{70C4DFA1-5535-4578-8E4C-717BA9E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767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Promo harga</a:t>
            </a:r>
          </a:p>
        </p:txBody>
      </p:sp>
      <p:sp>
        <p:nvSpPr>
          <p:cNvPr id="29" name="Klaim perlu revisi">
            <a:extLst xmlns:a="http://schemas.openxmlformats.org/drawingml/2006/main">
              <a:ext uri="{FF2B5EF4-FFF2-40B4-BE49-F238E27FC236}">
                <a16:creationId xmlns:a16="http://schemas.microsoft.com/office/drawing/2014/main" id="{13282CC0-FBDF-4D20-A549-30958A15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6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Klaim perlu revisi</a:t>
            </a:r>
          </a:p>
        </p:txBody>
      </p:sp>
      <p:sp>
        <p:nvSpPr>
          <p:cNvPr id="30" name="Ilustrasi status aset, bukan data produksi aktual.">
            <a:extLst xmlns:a="http://schemas.openxmlformats.org/drawingml/2006/main">
              <a:ext uri="{FF2B5EF4-FFF2-40B4-BE49-F238E27FC236}">
                <a16:creationId xmlns:a16="http://schemas.microsoft.com/office/drawing/2014/main" id="{4ECE1C38-E858-4C83-8355-4381A5E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Ilustrasi status aset, bukan data produksi aktual.</a:t>
            </a:r>
          </a:p>
        </p:txBody>
      </p:sp>
    </p:spTree>
    <p:extLst>
      <p:ext uri="{BB962C8B-B14F-4D97-AF65-F5344CB8AC3E}">
        <p14:creationId xmlns:p14="http://schemas.microsoft.com/office/powerpoint/2010/main" val="169685634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5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7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7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70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70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70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25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25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50"/>
                      </p:stCondLst>
                      <p:childTnLst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5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50"/>
                      </p:stCondLst>
                      <p:childTnLst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5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25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25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5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800"/>
                      </p:stCondLst>
                      <p:childTnLst>
                        <p:par>
                          <p:cTn id="5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5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800"/>
                      </p:stCondLst>
                      <p:childTnLst>
                        <p:par>
                          <p:cTn id="6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5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5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1800"/>
                      </p:stCondLst>
                      <p:childTnLst>
                        <p:par>
                          <p:cTn id="6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5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1800"/>
                      </p:stCondLst>
                      <p:childTnLst>
                        <p:par>
                          <p:cTn id="7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5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1800"/>
                      </p:stCondLst>
                      <p:childTnLst>
                        <p:par>
                          <p:cTn id="7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5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E08156B7-CF81-40E8-85E6-886BD7E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FA104580-8684-42B4-B9DB-2A7431E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QA &amp; SIMULATION">
            <a:extLst xmlns:a="http://schemas.openxmlformats.org/drawingml/2006/main">
              <a:ext uri="{FF2B5EF4-FFF2-40B4-BE49-F238E27FC236}">
                <a16:creationId xmlns:a16="http://schemas.microsoft.com/office/drawing/2014/main" id="{7FBDCBC6-6386-4F6A-AB24-B005487F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QA &amp; SIMULATION</a:t>
            </a:r>
          </a:p>
        </p:txBody>
      </p:sp>
      <p:sp>
        <p:nvSpPr>
          <p:cNvPr id="4" name="Pemeriksaan fakta dan evaluasi pesan">
            <a:extLst xmlns:a="http://schemas.openxmlformats.org/drawingml/2006/main">
              <a:ext uri="{FF2B5EF4-FFF2-40B4-BE49-F238E27FC236}">
                <a16:creationId xmlns:a16="http://schemas.microsoft.com/office/drawing/2014/main" id="{5A0D6BD7-5FED-441C-AF61-81301D53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Pemeriksaan fakta dan evaluasi pesan</a:t>
            </a:r>
          </a:p>
        </p:txBody>
      </p:sp>
      <p:sp>
        <p:nvSpPr>
          <p:cNvPr id="5" name="Skor simulasi membantu review, bukan prediksi pasti hasil ik">
            <a:extLst xmlns:a="http://schemas.openxmlformats.org/drawingml/2006/main">
              <a:ext uri="{FF2B5EF4-FFF2-40B4-BE49-F238E27FC236}">
                <a16:creationId xmlns:a16="http://schemas.microsoft.com/office/drawing/2014/main" id="{3CE591C9-B2A9-4803-BD1D-6AA9BE69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Skor simulasi membantu review, bukan prediksi pasti hasil iklan.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1CA68-083D-4C72-8890-1ECA3EA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5276850" cy="2390775"/>
          </a:xfrm>
          <a:prstGeom xmlns:a="http://schemas.openxmlformats.org/drawingml/2006/main" prst="roundRect">
            <a:avLst>
              <a:gd name="adj" fmla="val 7171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7" name="QUALITY ASSURANCE">
            <a:extLst xmlns:a="http://schemas.openxmlformats.org/drawingml/2006/main">
              <a:ext uri="{FF2B5EF4-FFF2-40B4-BE49-F238E27FC236}">
                <a16:creationId xmlns:a16="http://schemas.microsoft.com/office/drawing/2014/main" id="{5383F812-57B7-4C58-B039-1B83C567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8" name="Apakah creative sesuai?">
            <a:extLst xmlns:a="http://schemas.openxmlformats.org/drawingml/2006/main">
              <a:ext uri="{FF2B5EF4-FFF2-40B4-BE49-F238E27FC236}">
                <a16:creationId xmlns:a16="http://schemas.microsoft.com/office/drawing/2014/main" id="{64E0C87A-54B8-4C55-B92C-0A196313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Apakah creative sesuai?</a:t>
            </a:r>
          </a:p>
        </p:txBody>
      </p:sp>
      <p:sp>
        <p:nvSpPr>
          <p:cNvPr id="9" name="Fakta &amp; klaim&#10;Visual &amp; brief">
            <a:extLst xmlns:a="http://schemas.openxmlformats.org/drawingml/2006/main">
              <a:ext uri="{FF2B5EF4-FFF2-40B4-BE49-F238E27FC236}">
                <a16:creationId xmlns:a16="http://schemas.microsoft.com/office/drawing/2014/main" id="{6216595A-6432-4850-A363-C4D28A7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Fakta &amp; klaim</a:t>
            </a:r>
          </a:p>
          <a:p xmlns:a="http://schemas.openxmlformats.org/drawingml/2006/main">
            <a: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Visual &amp;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E256C-3BC6-4964-A4A3-94E7FA1F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5276850" cy="2390775"/>
          </a:xfrm>
          <a:prstGeom xmlns:a="http://schemas.openxmlformats.org/drawingml/2006/main" prst="roundRect">
            <a:avLst>
              <a:gd name="adj" fmla="val 7171"/>
            </a:avLst>
          </a:prstGeom>
          <a:solidFill xmlns:a="http://schemas.openxmlformats.org/drawingml/2006/main">
            <a:srgbClr val="F1EBFD"/>
          </a:solidFill>
          <a:ln xmlns:a="http://schemas.openxmlformats.org/drawingml/2006/main" w="0">
            <a:noFill/>
          </a:ln>
        </p:spPr>
      </p:sp>
      <p:sp>
        <p:nvSpPr>
          <p:cNvPr id="11" name="SIMULATION">
            <a:extLst xmlns:a="http://schemas.openxmlformats.org/drawingml/2006/main">
              <a:ext uri="{FF2B5EF4-FFF2-40B4-BE49-F238E27FC236}">
                <a16:creationId xmlns:a16="http://schemas.microsoft.com/office/drawing/2014/main" id="{77702976-2A27-4B6C-8AF5-5BAEDDC8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480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12" name="Apakah pesan meyakinkan?">
            <a:extLst xmlns:a="http://schemas.openxmlformats.org/drawingml/2006/main">
              <a:ext uri="{FF2B5EF4-FFF2-40B4-BE49-F238E27FC236}">
                <a16:creationId xmlns:a16="http://schemas.microsoft.com/office/drawing/2014/main" id="{B737AE7F-E562-451D-9960-5226A01B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767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Apakah pesan meyakinkan?</a:t>
            </a:r>
          </a:p>
        </p:txBody>
      </p:sp>
      <p:sp>
        <p:nvSpPr>
          <p:cNvPr id="13" name="Hook, offer, CTA, trust&#10;Keberatan &amp; relevansi">
            <a:extLst xmlns:a="http://schemas.openxmlformats.org/drawingml/2006/main">
              <a:ext uri="{FF2B5EF4-FFF2-40B4-BE49-F238E27FC236}">
                <a16:creationId xmlns:a16="http://schemas.microsoft.com/office/drawing/2014/main" id="{4287949D-F261-4F8C-A792-442A630D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91075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Hook, offer, CTA, trust</a:t>
            </a:r>
          </a:p>
          <a:p xmlns:a="http://schemas.openxmlformats.org/drawingml/2006/main">
            <a:pPr>
              <a:defRPr sz="20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Keberatan &amp; relevansi</a:t>
            </a:r>
          </a:p>
        </p:txBody>
      </p:sp>
      <p:sp>
        <p:nvSpPr>
          <p:cNvPr id="14" name="Compare Runs: original → revisi → evaluasi ulang">
            <a:extLst xmlns:a="http://schemas.openxmlformats.org/drawingml/2006/main">
              <a:ext uri="{FF2B5EF4-FFF2-40B4-BE49-F238E27FC236}">
                <a16:creationId xmlns:a16="http://schemas.microsoft.com/office/drawing/2014/main" id="{6D8E6ED2-AD90-4824-B98C-6EE9648E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Compare Runs: original → revisi → evaluasi ulang</a:t>
            </a:r>
          </a:p>
        </p:txBody>
      </p:sp>
    </p:spTree>
    <p:extLst>
      <p:ext uri="{BB962C8B-B14F-4D97-AF65-F5344CB8AC3E}">
        <p14:creationId xmlns:p14="http://schemas.microsoft.com/office/powerpoint/2010/main" val="7732256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2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5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5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25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2DBD9-A48D-45B1-9C2F-6688025D83F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58025" y="4757738"/>
            <a:ext cx="121920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F9768-1F1B-4057-BF27-1FA146AA76C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058025" y="3843338"/>
            <a:ext cx="121920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B9407-C5AB-4BE2-B1EA-7342C482CF5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819525" y="4757738"/>
            <a:ext cx="1047750" cy="862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FE3D7-90AA-4507-8079-2B093C94D81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19525" y="4676775"/>
            <a:ext cx="1047750" cy="80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F3CBC-8590-4CD6-B7FB-44F3FE82696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19525" y="3733800"/>
            <a:ext cx="1047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24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11A8C757-E969-4111-8380-259955C6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5277A4E-A4B1-4B3C-9CDF-D7507360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META PREFLIGHT &amp; PUBLISH">
            <a:extLst xmlns:a="http://schemas.openxmlformats.org/drawingml/2006/main">
              <a:ext uri="{FF2B5EF4-FFF2-40B4-BE49-F238E27FC236}">
                <a16:creationId xmlns:a16="http://schemas.microsoft.com/office/drawing/2014/main" id="{29C20F78-F6BE-430C-9B3B-BE68A353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META PREFLIGHT &amp; PUBLISH</a:t>
            </a:r>
          </a:p>
        </p:txBody>
      </p:sp>
      <p:sp>
        <p:nvSpPr>
          <p:cNvPr id="4" name="Publikasi melewati gerbang pemeriksaan">
            <a:extLst xmlns:a="http://schemas.openxmlformats.org/drawingml/2006/main">
              <a:ext uri="{FF2B5EF4-FFF2-40B4-BE49-F238E27FC236}">
                <a16:creationId xmlns:a16="http://schemas.microsoft.com/office/drawing/2014/main" id="{ED5C4B59-0139-4EBF-8ABF-BB36BA7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Publikasi melewati gerbang pemeriksaan</a:t>
            </a:r>
          </a:p>
        </p:txBody>
      </p:sp>
      <p:sp>
        <p:nvSpPr>
          <p:cNvPr id="5" name="Alasan blocker terlihat sebelum tindakan berikutnya.">
            <a:extLst xmlns:a="http://schemas.openxmlformats.org/drawingml/2006/main">
              <a:ext uri="{FF2B5EF4-FFF2-40B4-BE49-F238E27FC236}">
                <a16:creationId xmlns:a16="http://schemas.microsoft.com/office/drawing/2014/main" id="{CC2C7890-DCA0-4CE2-9935-32FA6883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Alasan blocker terlihat sebelum tindakan berikutnya.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E8DEA-14CD-4518-8A50-A4DB5BA7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286125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7" name="ACCOUNT &amp; PAGE">
            <a:extLst xmlns:a="http://schemas.openxmlformats.org/drawingml/2006/main">
              <a:ext uri="{FF2B5EF4-FFF2-40B4-BE49-F238E27FC236}">
                <a16:creationId xmlns:a16="http://schemas.microsoft.com/office/drawing/2014/main" id="{DA00A8DC-48F9-462D-A592-7737FB37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943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ACCOUNT &amp;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B385A-98EA-4F51-9D67-E3FB876C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3286125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9" name="DESTINATION &amp; AUDIENCE">
            <a:extLst xmlns:a="http://schemas.openxmlformats.org/drawingml/2006/main">
              <a:ext uri="{FF2B5EF4-FFF2-40B4-BE49-F238E27FC236}">
                <a16:creationId xmlns:a16="http://schemas.microsoft.com/office/drawing/2014/main" id="{34B83063-712C-46FF-A21A-5342C593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5325"/>
            <a:ext cx="2943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DESTINATION &amp; 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ABFBD-25FA-4C50-B4B6-95BBEC48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3286125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11" name="BUDGET &amp; CREATIVE">
            <a:extLst xmlns:a="http://schemas.openxmlformats.org/drawingml/2006/main">
              <a:ext uri="{FF2B5EF4-FFF2-40B4-BE49-F238E27FC236}">
                <a16:creationId xmlns:a16="http://schemas.microsoft.com/office/drawing/2014/main" id="{18844E0A-31A3-4836-8926-F44B0523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2943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BUDGET &amp; CREATIVE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27576-FE36-4CAC-A9BD-1667008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57675"/>
            <a:ext cx="21907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946E8"/>
          </a:solidFill>
          <a:ln xmlns:a="http://schemas.openxmlformats.org/drawingml/2006/main" w="0">
            <a:noFill/>
          </a:ln>
        </p:spPr>
      </p:sp>
      <p:sp>
        <p:nvSpPr>
          <p:cNvPr id="13" name="POLICY&#10;CHECKS">
            <a:extLst xmlns:a="http://schemas.openxmlformats.org/drawingml/2006/main">
              <a:ext uri="{FF2B5EF4-FFF2-40B4-BE49-F238E27FC236}">
                <a16:creationId xmlns:a16="http://schemas.microsoft.com/office/drawing/2014/main" id="{9F5E86C4-DB0E-446F-A6C4-626D0377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429125"/>
            <a:ext cx="1847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307D3-DF07-4C49-AEA0-27799ED2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90900"/>
            <a:ext cx="3381375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1EBFD"/>
          </a:solidFill>
          <a:ln xmlns:a="http://schemas.openxmlformats.org/drawingml/2006/main" w="0">
            <a:noFill/>
          </a:ln>
        </p:spPr>
      </p:sp>
      <p:sp>
        <p:nvSpPr>
          <p:cNvPr id="18" name="CAMPAIGN / AD SET / ADS">
            <a:extLst xmlns:a="http://schemas.openxmlformats.org/drawingml/2006/main">
              <a:ext uri="{FF2B5EF4-FFF2-40B4-BE49-F238E27FC236}">
                <a16:creationId xmlns:a16="http://schemas.microsoft.com/office/drawing/2014/main" id="{1233CD48-3DC1-44E4-BECD-E11679EC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62350"/>
            <a:ext cx="30384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CAMPAIGN / AD SET / 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3A52B-74E6-4ECC-9D9E-2AED67D4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38725"/>
            <a:ext cx="3381375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CEEF2"/>
          </a:solidFill>
          <a:ln xmlns:a="http://schemas.openxmlformats.org/drawingml/2006/main" w="0">
            <a:noFill/>
          </a:ln>
        </p:spPr>
      </p:sp>
      <p:sp>
        <p:nvSpPr>
          <p:cNvPr id="20" name="TERTAHAN&#10;Klaim perlu diperbaiki">
            <a:extLst xmlns:a="http://schemas.openxmlformats.org/drawingml/2006/main">
              <a:ext uri="{FF2B5EF4-FFF2-40B4-BE49-F238E27FC236}">
                <a16:creationId xmlns:a16="http://schemas.microsoft.com/office/drawing/2014/main" id="{6B6E3A12-CF5D-40E1-9035-C35B9ED0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10175"/>
            <a:ext cx="30384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3756"/>
                </a:solidFill>
                <a:latin typeface="Arial"/>
                <a:ea typeface="Arial"/>
                <a:cs typeface="Arial"/>
              </a:rPr>
              <a:t>TERTAHAN</a:t>
            </a:r>
          </a:p>
          <a:p xmlns:a="http://schemas.openxmlformats.org/drawingml/2006/main">
            <a:pPr>
              <a:defRPr sz="1650" b="1">
                <a:solidFill>
                  <a:srgbClr val="9F37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3756"/>
                </a:solidFill>
                <a:latin typeface="Arial"/>
                <a:ea typeface="Arial"/>
                <a:cs typeface="Arial"/>
              </a:rPr>
              <a:t>Klaim perlu diperbaiki</a:t>
            </a:r>
          </a:p>
        </p:txBody>
      </p:sp>
      <p:sp>
        <p:nvSpPr>
          <p:cNvPr id="23" name="Ilustrasi proses. Integrasi end-to-end Meta masih dalam vali">
            <a:extLst xmlns:a="http://schemas.openxmlformats.org/drawingml/2006/main">
              <a:ext uri="{FF2B5EF4-FFF2-40B4-BE49-F238E27FC236}">
                <a16:creationId xmlns:a16="http://schemas.microsoft.com/office/drawing/2014/main" id="{F8F8B608-E755-480E-A831-E4A2FE9A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Ilustrasi proses. Integrasi end-to-end Meta masih dalam validasi.</a:t>
            </a:r>
          </a:p>
        </p:txBody>
      </p:sp>
    </p:spTree>
    <p:extLst>
      <p:ext uri="{BB962C8B-B14F-4D97-AF65-F5344CB8AC3E}">
        <p14:creationId xmlns:p14="http://schemas.microsoft.com/office/powerpoint/2010/main" val="2524179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2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70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0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7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5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5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5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5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5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70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70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25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50"/>
                      </p:stCondLst>
                      <p:childTnLst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50"/>
                      </p:stCondLst>
                      <p:childTnLst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25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5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27BA5-847D-40DB-B14C-565B226454D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67550" y="4510088"/>
            <a:ext cx="160020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6C5F9-3C83-4FC8-9532-7FACF6804D6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67550" y="3705225"/>
            <a:ext cx="1600200" cy="804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41B9C-CDD6-4383-AAB4-49478F3E475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00400" y="4510088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19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34760801-B1CB-4646-82D6-E403ECCF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9AEB538D-6DF1-4762-B7EA-9E958C94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COPILOT &amp; APPROVAL">
            <a:extLst xmlns:a="http://schemas.openxmlformats.org/drawingml/2006/main">
              <a:ext uri="{FF2B5EF4-FFF2-40B4-BE49-F238E27FC236}">
                <a16:creationId xmlns:a16="http://schemas.microsoft.com/office/drawing/2014/main" id="{7CADE4E6-E9E1-460C-A503-BC9FD3C4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COPILOT &amp; APPROVAL</a:t>
            </a:r>
          </a:p>
        </p:txBody>
      </p:sp>
      <p:sp>
        <p:nvSpPr>
          <p:cNvPr id="4" name="Alasan terlihat sebelum Anda menyetujui">
            <a:extLst xmlns:a="http://schemas.openxmlformats.org/drawingml/2006/main">
              <a:ext uri="{FF2B5EF4-FFF2-40B4-BE49-F238E27FC236}">
                <a16:creationId xmlns:a16="http://schemas.microsoft.com/office/drawing/2014/main" id="{5C4CAA92-FF33-4FA4-81A1-C2DB30C4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Alasan terlihat sebelum Anda menyetujui</a:t>
            </a:r>
          </a:p>
        </p:txBody>
      </p:sp>
      <p:sp>
        <p:nvSpPr>
          <p:cNvPr id="5" name="Review rekomendasi, bukti, dan dampaknya sebelum approve ata">
            <a:extLst xmlns:a="http://schemas.openxmlformats.org/drawingml/2006/main">
              <a:ext uri="{FF2B5EF4-FFF2-40B4-BE49-F238E27FC236}">
                <a16:creationId xmlns:a16="http://schemas.microsoft.com/office/drawing/2014/main" id="{0A260FE5-5E9E-4EF4-A64D-19BEAE76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Review rekomendasi, bukti, dan dampaknya sebelum approve atau reject.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37503-A842-4EB8-8640-34BEE95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2667000" cy="847725"/>
          </a:xfrm>
          <a:prstGeom xmlns:a="http://schemas.openxmlformats.org/drawingml/2006/main" prst="roundRect">
            <a:avLst>
              <a:gd name="adj" fmla="val 2022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7" name="REKOMENDASI AI">
            <a:extLst xmlns:a="http://schemas.openxmlformats.org/drawingml/2006/main">
              <a:ext uri="{FF2B5EF4-FFF2-40B4-BE49-F238E27FC236}">
                <a16:creationId xmlns:a16="http://schemas.microsoft.com/office/drawing/2014/main" id="{50C820C3-5B72-40A6-B0C2-F0184D2D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REKOMENDASI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B817D-623D-4BDF-A2B4-8E23593E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86225"/>
            <a:ext cx="2667000" cy="847725"/>
          </a:xfrm>
          <a:prstGeom xmlns:a="http://schemas.openxmlformats.org/drawingml/2006/main" prst="roundRect">
            <a:avLst>
              <a:gd name="adj" fmla="val 20225"/>
            </a:avLst>
          </a:prstGeom>
          <a:solidFill xmlns:a="http://schemas.openxmlformats.org/drawingml/2006/main">
            <a:srgbClr val="7946E8"/>
          </a:solidFill>
          <a:ln xmlns:a="http://schemas.openxmlformats.org/drawingml/2006/main" w="0">
            <a:noFill/>
          </a:ln>
        </p:spPr>
      </p:sp>
      <p:sp>
        <p:nvSpPr>
          <p:cNvPr id="9" name="REVIEW&#10;PENGGUNA">
            <a:extLst xmlns:a="http://schemas.openxmlformats.org/drawingml/2006/main">
              <a:ext uri="{FF2B5EF4-FFF2-40B4-BE49-F238E27FC236}">
                <a16:creationId xmlns:a16="http://schemas.microsoft.com/office/drawing/2014/main" id="{BEE2FC9E-8A3F-46B3-946D-9B57C163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5767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PENGGUNA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90497-0128-4D67-A2D6-A5B1430D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9908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12" name="APPROVE">
            <a:extLst xmlns:a="http://schemas.openxmlformats.org/drawingml/2006/main">
              <a:ext uri="{FF2B5EF4-FFF2-40B4-BE49-F238E27FC236}">
                <a16:creationId xmlns:a16="http://schemas.microsoft.com/office/drawing/2014/main" id="{0E4D78BC-F631-4983-9A1F-FB95E9F4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500D3-35A2-481E-AE3A-EE26056D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81600"/>
            <a:ext cx="29908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CEEF2"/>
          </a:solidFill>
          <a:ln xmlns:a="http://schemas.openxmlformats.org/drawingml/2006/main" w="0">
            <a:noFill/>
          </a:ln>
        </p:spPr>
      </p:sp>
      <p:sp>
        <p:nvSpPr>
          <p:cNvPr id="14" name="REJECT / REVISI">
            <a:extLst xmlns:a="http://schemas.openxmlformats.org/drawingml/2006/main">
              <a:ext uri="{FF2B5EF4-FFF2-40B4-BE49-F238E27FC236}">
                <a16:creationId xmlns:a16="http://schemas.microsoft.com/office/drawing/2014/main" id="{2851678A-7CCF-4CFE-ABDB-F81F321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530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REJECT / REVISI</a:t>
            </a:r>
          </a:p>
        </p:txBody>
      </p:sp>
      <p:sp>
        <p:nvSpPr>
          <p:cNvPr id="17" name="Contoh tindakan">
            <a:extLst xmlns:a="http://schemas.openxmlformats.org/drawingml/2006/main">
              <a:ext uri="{FF2B5EF4-FFF2-40B4-BE49-F238E27FC236}">
                <a16:creationId xmlns:a16="http://schemas.microsoft.com/office/drawing/2014/main" id="{BF4B8F5A-4E9A-4A03-9F0A-8B62B2B3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Contoh tindakan</a:t>
            </a:r>
          </a:p>
        </p:txBody>
      </p:sp>
      <p:sp>
        <p:nvSpPr>
          <p:cNvPr id="18" name="Scale budget, pause creative, refresh aset, atau draft campa">
            <a:extLst xmlns:a="http://schemas.openxmlformats.org/drawingml/2006/main">
              <a:ext uri="{FF2B5EF4-FFF2-40B4-BE49-F238E27FC236}">
                <a16:creationId xmlns:a16="http://schemas.microsoft.com/office/drawing/2014/main" id="{4A7BAE73-C4D9-40DB-BA2E-EE20E74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6924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Scale budget, pause creative, refresh aset, atau draft campaign.</a:t>
            </a:r>
          </a:p>
        </p:txBody>
      </p:sp>
    </p:spTree>
    <p:extLst>
      <p:ext uri="{BB962C8B-B14F-4D97-AF65-F5344CB8AC3E}">
        <p14:creationId xmlns:p14="http://schemas.microsoft.com/office/powerpoint/2010/main" val="50794731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2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70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70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80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0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5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5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1A6EE-5879-4581-8346-C9A060D9F8DD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391525" y="51625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536F2-E04F-44A9-9068-02BB3D39706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24450" y="51625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F0761-9640-4AC3-A6EB-E8648D922CB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391525" y="36671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5EE45-DFC4-4DB3-B57C-1E4BC53547C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24450" y="36671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25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5E0E6EB9-BD95-42DD-AD40-23F28A91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7B3C60FE-2BF6-4390-9373-B630D816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GROWTH SETTINGS &amp; GUARDRAILS">
            <a:extLst xmlns:a="http://schemas.openxmlformats.org/drawingml/2006/main">
              <a:ext uri="{FF2B5EF4-FFF2-40B4-BE49-F238E27FC236}">
                <a16:creationId xmlns:a16="http://schemas.microsoft.com/office/drawing/2014/main" id="{11DA827A-AC13-474C-9E04-F2570C0D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GROWTH SETTINGS &amp; GUARDRAILS</a:t>
            </a:r>
          </a:p>
        </p:txBody>
      </p:sp>
      <p:sp>
        <p:nvSpPr>
          <p:cNvPr id="4" name="Dua mode, batas operasi yang jelas">
            <a:extLst xmlns:a="http://schemas.openxmlformats.org/drawingml/2006/main">
              <a:ext uri="{FF2B5EF4-FFF2-40B4-BE49-F238E27FC236}">
                <a16:creationId xmlns:a16="http://schemas.microsoft.com/office/drawing/2014/main" id="{46A4512A-5482-4ACE-A59D-F159606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Dua mode, batas operasi yang jelas</a:t>
            </a:r>
          </a:p>
        </p:txBody>
      </p:sp>
      <p:sp>
        <p:nvSpPr>
          <p:cNvPr id="5" name="Tujuan, budget limits, periode evaluasi, dan scaling rules d">
            <a:extLst xmlns:a="http://schemas.openxmlformats.org/drawingml/2006/main">
              <a:ext uri="{FF2B5EF4-FFF2-40B4-BE49-F238E27FC236}">
                <a16:creationId xmlns:a16="http://schemas.microsoft.com/office/drawing/2014/main" id="{AA88DAED-5C48-46BB-B682-67D0DE58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Tujuan, budget limits, periode evaluasi, dan scaling rules ditentukan pengguna.</a:t>
            </a:r>
          </a:p>
        </p:txBody>
      </p:sp>
      <p:sp>
        <p:nvSpPr>
          <p:cNvPr id="6" name="COPILOT">
            <a:extLst xmlns:a="http://schemas.openxmlformats.org/drawingml/2006/main">
              <a:ext uri="{FF2B5EF4-FFF2-40B4-BE49-F238E27FC236}">
                <a16:creationId xmlns:a16="http://schemas.microsoft.com/office/drawing/2014/main" id="{02B5646C-B8F9-4291-B538-F1652790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COPILOT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1CD70-EC7E-42E1-87DC-EFD4962F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86125"/>
            <a:ext cx="25336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8" name="AI mengusulkan">
            <a:extLst xmlns:a="http://schemas.openxmlformats.org/drawingml/2006/main">
              <a:ext uri="{FF2B5EF4-FFF2-40B4-BE49-F238E27FC236}">
                <a16:creationId xmlns:a16="http://schemas.microsoft.com/office/drawing/2014/main" id="{C0CD0122-2ECF-4322-B9C2-5E0060A3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5757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AI mengusulkan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24142-0FD4-4D8A-B754-B073C384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25336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E6FD9"/>
          </a:solidFill>
          <a:ln xmlns:a="http://schemas.openxmlformats.org/drawingml/2006/main" w="0">
            <a:noFill/>
          </a:ln>
        </p:spPr>
      </p:sp>
      <p:sp>
        <p:nvSpPr>
          <p:cNvPr id="10" name="Manusia menyetujui">
            <a:extLst xmlns:a="http://schemas.openxmlformats.org/drawingml/2006/main">
              <a:ext uri="{FF2B5EF4-FFF2-40B4-BE49-F238E27FC236}">
                <a16:creationId xmlns:a16="http://schemas.microsoft.com/office/drawing/2014/main" id="{91A0A598-5969-477B-BA4A-34C981ED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45757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Manusia menyetujui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05986-EB34-42E6-954E-961FA2D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86125"/>
            <a:ext cx="25336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12" name="Tindakan">
            <a:extLst xmlns:a="http://schemas.openxmlformats.org/drawingml/2006/main">
              <a:ext uri="{FF2B5EF4-FFF2-40B4-BE49-F238E27FC236}">
                <a16:creationId xmlns:a16="http://schemas.microsoft.com/office/drawing/2014/main" id="{B641353E-15A5-43DD-9325-7C3785A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5757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Tindakan</a:t>
            </a:r>
          </a:p>
        </p:txBody>
      </p:sp>
      <p:sp>
        <p:nvSpPr>
          <p:cNvPr id="15" name="AUTONOMOUS">
            <a:extLst xmlns:a="http://schemas.openxmlformats.org/drawingml/2006/main">
              <a:ext uri="{FF2B5EF4-FFF2-40B4-BE49-F238E27FC236}">
                <a16:creationId xmlns:a16="http://schemas.microsoft.com/office/drawing/2014/main" id="{57D92170-882D-4DB0-B4F7-F16A1C43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AUTONOMOUS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AB7B3-8684-4A18-9C81-E05652B8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81550"/>
            <a:ext cx="25336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17" name="AI mengusulkan">
            <a:extLst xmlns:a="http://schemas.openxmlformats.org/drawingml/2006/main">
              <a:ext uri="{FF2B5EF4-FFF2-40B4-BE49-F238E27FC236}">
                <a16:creationId xmlns:a16="http://schemas.microsoft.com/office/drawing/2014/main" id="{F39A38E2-9994-4FB7-999B-11CA5B0C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AI mengusulkan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F7371-F64D-405D-8089-86508C55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81550"/>
            <a:ext cx="25336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7946E8"/>
          </a:solidFill>
          <a:ln xmlns:a="http://schemas.openxmlformats.org/drawingml/2006/main" w="0">
            <a:noFill/>
          </a:ln>
        </p:spPr>
      </p:sp>
      <p:sp>
        <p:nvSpPr>
          <p:cNvPr id="19" name="Cek kebijakan">
            <a:extLst xmlns:a="http://schemas.openxmlformats.org/drawingml/2006/main">
              <a:ext uri="{FF2B5EF4-FFF2-40B4-BE49-F238E27FC236}">
                <a16:creationId xmlns:a16="http://schemas.microsoft.com/office/drawing/2014/main" id="{F870DA0D-0452-4789-BA4B-3105F970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53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Cek kebijakan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9591D-0EB7-4BC4-AA96-4F8CE03D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81550"/>
            <a:ext cx="25336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DE5FF"/>
          </a:solidFill>
          <a:ln xmlns:a="http://schemas.openxmlformats.org/drawingml/2006/main" w="0">
            <a:noFill/>
          </a:ln>
        </p:spPr>
      </p:sp>
      <p:sp>
        <p:nvSpPr>
          <p:cNvPr id="21" name="Tindakan terpilih">
            <a:extLst xmlns:a="http://schemas.openxmlformats.org/drawingml/2006/main">
              <a:ext uri="{FF2B5EF4-FFF2-40B4-BE49-F238E27FC236}">
                <a16:creationId xmlns:a16="http://schemas.microsoft.com/office/drawing/2014/main" id="{680801EC-B752-4B59-8FE8-48013A74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Tindakan terpilih</a:t>
            </a:r>
          </a:p>
        </p:txBody>
      </p:sp>
      <p:sp>
        <p:nvSpPr>
          <p:cNvPr id="24" name="Autonomous setelah executor dan kontrol tervalidasi. Optimas">
            <a:extLst xmlns:a="http://schemas.openxmlformats.org/drawingml/2006/main">
              <a:ext uri="{FF2B5EF4-FFF2-40B4-BE49-F238E27FC236}">
                <a16:creationId xmlns:a16="http://schemas.microsoft.com/office/drawing/2014/main" id="{6274CE2A-424C-479D-B872-085FC5E3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Autonomous setelah executor dan kontrol tervalidasi. Optimasi kualitas leads memerlukan data terkait.</a:t>
            </a:r>
          </a:p>
        </p:txBody>
      </p:sp>
    </p:spTree>
    <p:extLst>
      <p:ext uri="{BB962C8B-B14F-4D97-AF65-F5344CB8AC3E}">
        <p14:creationId xmlns:p14="http://schemas.microsoft.com/office/powerpoint/2010/main" val="187647535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2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70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2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0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5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5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25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25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80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5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5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5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250"/>
                      </p:stCondLst>
                      <p:childTnLst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50"/>
                      </p:stCondLst>
                      <p:childTnLst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80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5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8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5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0038E7-8B4A-423D-A586-AFF849B21992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334500" y="5257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D6577-5FC0-4D16-A7F0-319033F8868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077075" y="5257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2290B-CFE5-42FC-86FE-600935237EB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19650" y="5257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D31AB-548F-4E8E-ADD7-1C4400D200E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62225" y="5257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46E8"/>
            </a:solidFill>
            <a:tailEnd type="triangle" w="sm" len="sm"/>
          </a:ln>
        </p:spPr>
      </p:cxnSp>
      <p:sp>
        <p:nvSpPr>
          <p:cNvPr id="31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9BEBAE0A-09A9-4E50-874F-BB70DF55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DF9457D6-819E-44BE-A374-48E2439C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A8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USE CASE PROPERTI">
            <a:extLst xmlns:a="http://schemas.openxmlformats.org/drawingml/2006/main">
              <a:ext uri="{FF2B5EF4-FFF2-40B4-BE49-F238E27FC236}">
                <a16:creationId xmlns:a16="http://schemas.microsoft.com/office/drawing/2014/main" id="{C436A3D4-BE92-4DD4-A46B-39D5C97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USE CASE PROPERTI</a:t>
            </a:r>
          </a:p>
        </p:txBody>
      </p:sp>
      <p:sp>
        <p:nvSpPr>
          <p:cNvPr id="4" name="Satu listing menghasilkan output yang jelas">
            <a:extLst xmlns:a="http://schemas.openxmlformats.org/drawingml/2006/main">
              <a:ext uri="{FF2B5EF4-FFF2-40B4-BE49-F238E27FC236}">
                <a16:creationId xmlns:a16="http://schemas.microsoft.com/office/drawing/2014/main" id="{9F694206-CCC9-453A-A7A3-CA9352EB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Satu listing menghasilkan output yang jelas</a:t>
            </a:r>
          </a:p>
        </p:txBody>
      </p:sp>
      <p:sp>
        <p:nvSpPr>
          <p:cNvPr id="5" name="Contoh perjalanan kerja, tanpa klaim ROI atau leads rekaan.">
            <a:extLst xmlns:a="http://schemas.openxmlformats.org/drawingml/2006/main">
              <a:ext uri="{FF2B5EF4-FFF2-40B4-BE49-F238E27FC236}">
                <a16:creationId xmlns:a16="http://schemas.microsoft.com/office/drawing/2014/main" id="{EAC312CE-6DC4-47FA-8C05-F9E365D8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Contoh perjalanan kerja, tanpa klaim ROI atau leads rekaan.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29FAA5D-233B-4770-8AA2-C3144CC7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2028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F4CF423B-D2BC-488A-824C-4122C9C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FFED4-A87F-4488-952D-446E653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2028825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</a:ln>
        </p:spPr>
      </p:sp>
      <p:sp>
        <p:nvSpPr>
          <p:cNvPr id="9" name="Listing, media,&#10;price list">
            <a:extLst xmlns:a="http://schemas.openxmlformats.org/drawingml/2006/main">
              <a:ext uri="{FF2B5EF4-FFF2-40B4-BE49-F238E27FC236}">
                <a16:creationId xmlns:a16="http://schemas.microsoft.com/office/drawing/2014/main" id="{3F70A494-19C1-4CFF-A2C7-10F6CBC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Listing, media,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price list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B0EE6C4B-4C07-4D47-938D-2B97DA4E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57575"/>
            <a:ext cx="2028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TRATEGI">
            <a:extLst xmlns:a="http://schemas.openxmlformats.org/drawingml/2006/main">
              <a:ext uri="{FF2B5EF4-FFF2-40B4-BE49-F238E27FC236}">
                <a16:creationId xmlns:a16="http://schemas.microsoft.com/office/drawing/2014/main" id="{91EFDD12-EF03-47CA-9B14-130A226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148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STRATEGI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0AB92-2EC2-4727-B647-6A216DB3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743450"/>
            <a:ext cx="2028825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</a:ln>
        </p:spPr>
      </p:sp>
      <p:sp>
        <p:nvSpPr>
          <p:cNvPr id="13" name="Draft campaign&#10;&amp; brief">
            <a:extLst xmlns:a="http://schemas.openxmlformats.org/drawingml/2006/main">
              <a:ext uri="{FF2B5EF4-FFF2-40B4-BE49-F238E27FC236}">
                <a16:creationId xmlns:a16="http://schemas.microsoft.com/office/drawing/2014/main" id="{9869EFA0-16DE-42AE-9E31-0522731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14900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Draft campaign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&amp; brief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3F80ECF2-8E7E-4F28-9B36-FC3EEAD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57575"/>
            <a:ext cx="2028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E6FD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E6F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CREATIVE">
            <a:extLst xmlns:a="http://schemas.openxmlformats.org/drawingml/2006/main">
              <a:ext uri="{FF2B5EF4-FFF2-40B4-BE49-F238E27FC236}">
                <a16:creationId xmlns:a16="http://schemas.microsoft.com/office/drawing/2014/main" id="{6BE815C8-CE85-46A8-963E-599BFBA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148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CREATIVE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49B4C-BF79-40CA-80BF-BA39AA11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2028825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</a:ln>
        </p:spPr>
      </p:sp>
      <p:sp>
        <p:nvSpPr>
          <p:cNvPr id="18" name="Konsep image,&#10;video, carousel">
            <a:extLst xmlns:a="http://schemas.openxmlformats.org/drawingml/2006/main">
              <a:ext uri="{FF2B5EF4-FFF2-40B4-BE49-F238E27FC236}">
                <a16:creationId xmlns:a16="http://schemas.microsoft.com/office/drawing/2014/main" id="{19FD95AA-2F5C-4C63-B492-F662F85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Konsep image,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video, carousel</a:t>
            </a:r>
          </a:p>
        </p:txBody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71170CC6-7256-4106-B77A-A993D22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57575"/>
            <a:ext cx="2028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EVIEW">
            <a:extLst xmlns:a="http://schemas.openxmlformats.org/drawingml/2006/main">
              <a:ext uri="{FF2B5EF4-FFF2-40B4-BE49-F238E27FC236}">
                <a16:creationId xmlns:a16="http://schemas.microsoft.com/office/drawing/2014/main" id="{B3D7425A-D625-4BE8-BD1B-00075C86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3148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B6D19-1B86-4B73-AB3D-6BF1BF42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43450"/>
            <a:ext cx="2028825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</a:ln>
        </p:spPr>
      </p:sp>
      <p:sp>
        <p:nvSpPr>
          <p:cNvPr id="23" name="QA, simulasi,&#10;shortlist">
            <a:extLst xmlns:a="http://schemas.openxmlformats.org/drawingml/2006/main">
              <a:ext uri="{FF2B5EF4-FFF2-40B4-BE49-F238E27FC236}">
                <a16:creationId xmlns:a16="http://schemas.microsoft.com/office/drawing/2014/main" id="{534A6759-4258-4623-BF4F-4E64DEAC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14900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QA, simulasi,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shortlist</a:t>
            </a:r>
          </a:p>
        </p:txBody>
      </p:sp>
      <p:sp>
        <p:nvSpPr>
          <p:cNvPr id="25" name="05">
            <a:extLst xmlns:a="http://schemas.openxmlformats.org/drawingml/2006/main">
              <a:ext uri="{FF2B5EF4-FFF2-40B4-BE49-F238E27FC236}">
                <a16:creationId xmlns:a16="http://schemas.microsoft.com/office/drawing/2014/main" id="{551EBB27-34BB-47EE-AD6E-C8BB58F8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57575"/>
            <a:ext cx="2028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EVALUASI">
            <a:extLst xmlns:a="http://schemas.openxmlformats.org/drawingml/2006/main">
              <a:ext uri="{FF2B5EF4-FFF2-40B4-BE49-F238E27FC236}">
                <a16:creationId xmlns:a16="http://schemas.microsoft.com/office/drawing/2014/main" id="{64F11D16-B726-4034-B0E7-D4277F41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148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4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46E8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57229-8317-4189-A15D-C9FF928C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43450"/>
            <a:ext cx="2028825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</a:ln>
        </p:spPr>
      </p:sp>
      <p:sp>
        <p:nvSpPr>
          <p:cNvPr id="28" name="Campaign ditinjau,&#10;output dilacak">
            <a:extLst xmlns:a="http://schemas.openxmlformats.org/drawingml/2006/main">
              <a:ext uri="{FF2B5EF4-FFF2-40B4-BE49-F238E27FC236}">
                <a16:creationId xmlns:a16="http://schemas.microsoft.com/office/drawing/2014/main" id="{80BF3B98-5C06-411B-BB48-8A1E78A2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14900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Campaign ditinjau,</a:t>
            </a:r>
          </a:p>
          <a:p xmlns:a="http://schemas.openxmlformats.org/drawingml/2006/main">
            <a:pPr>
              <a:defRPr sz="1650" b="1">
                <a:solidFill>
                  <a:srgbClr val="101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62F"/>
                </a:solidFill>
                <a:latin typeface="Arial"/>
                <a:ea typeface="Arial"/>
                <a:cs typeface="Arial"/>
              </a:rPr>
              <a:t>output dilacak</a:t>
            </a:r>
          </a:p>
        </p:txBody>
      </p:sp>
      <p:sp>
        <p:nvSpPr>
          <p:cNvPr id="30" name="Setiap tahap menyimpan output yang menjadi input untuk tahap">
            <a:extLst xmlns:a="http://schemas.openxmlformats.org/drawingml/2006/main">
              <a:ext uri="{FF2B5EF4-FFF2-40B4-BE49-F238E27FC236}">
                <a16:creationId xmlns:a16="http://schemas.microsoft.com/office/drawing/2014/main" id="{376FCF9F-6627-43B2-AAA8-A10EA2A6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6A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A83"/>
                </a:solidFill>
                <a:latin typeface="Arial"/>
                <a:ea typeface="Arial"/>
                <a:cs typeface="Arial"/>
              </a:rPr>
              <a:t>Setiap tahap menyimpan output yang menjadi input untuk tahap berikutnya.</a:t>
            </a:r>
          </a:p>
        </p:txBody>
      </p:sp>
    </p:spTree>
    <p:extLst>
      <p:ext uri="{BB962C8B-B14F-4D97-AF65-F5344CB8AC3E}">
        <p14:creationId xmlns:p14="http://schemas.microsoft.com/office/powerpoint/2010/main" val="4080099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8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2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70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5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5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5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5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5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50"/>
                      </p:stCondLst>
                      <p:childTnLst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2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50"/>
                      </p:stCondLst>
                      <p:childTnLst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5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700"/>
                      </p:stCondLst>
                      <p:childTnLst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8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70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1" dur="50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700"/>
                      </p:stCondLst>
                      <p:childTnLst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4" dur="50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700"/>
                      </p:stCondLst>
                      <p:childTnLst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7" dur="50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700"/>
                      </p:stCondLst>
                      <p:childTnLst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0" dur="50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25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3" dur="50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25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6" dur="50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250"/>
                      </p:stCondLst>
                      <p:childTnLst>
                        <p:par>
                          <p:cTn id="5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9" dur="50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1250"/>
                      </p:stCondLst>
                      <p:childTnLst>
                        <p:par>
                          <p:cTn id="6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2" dur="500" fill="hold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5" dur="50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1800"/>
                      </p:stCondLst>
                      <p:childTnLst>
                        <p:par>
                          <p:cTn id="6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8" dur="50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1800"/>
                      </p:stCondLst>
                      <p:childTnLst>
                        <p:par>
                          <p:cTn id="7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1" dur="50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1800"/>
                      </p:stCondLst>
                      <p:childTnLst>
                        <p:par>
                          <p:cTn id="7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4" dur="50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korPintar Ads">
            <a:extLst xmlns:a="http://schemas.openxmlformats.org/drawingml/2006/main">
              <a:ext uri="{FF2B5EF4-FFF2-40B4-BE49-F238E27FC236}">
                <a16:creationId xmlns:a16="http://schemas.microsoft.com/office/drawing/2014/main" id="{0947508F-BF12-4966-9953-82363D1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7B5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B5FC"/>
                </a:solidFill>
                <a:latin typeface="Arial"/>
                <a:ea typeface="Arial"/>
                <a:cs typeface="Arial"/>
              </a:rPr>
              <a:t>SkorPintar Ads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1AC7EB83-2F96-4931-A9B3-592913E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A4AB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ABC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STATUS PRODUK">
            <a:extLst xmlns:a="http://schemas.openxmlformats.org/drawingml/2006/main">
              <a:ext uri="{FF2B5EF4-FFF2-40B4-BE49-F238E27FC236}">
                <a16:creationId xmlns:a16="http://schemas.microsoft.com/office/drawing/2014/main" id="{5D7DC631-75E8-40FC-800A-1B8EFF57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79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9CFF"/>
                </a:solidFill>
                <a:latin typeface="Arial"/>
                <a:ea typeface="Arial"/>
                <a:cs typeface="Arial"/>
              </a:rPr>
              <a:t>STATUS PRODUK</a:t>
            </a:r>
          </a:p>
        </p:txBody>
      </p:sp>
      <p:sp>
        <p:nvSpPr>
          <p:cNvPr id="4" name="Mulai pilot dari satu listing&#10;dan satu campaign">
            <a:extLst xmlns:a="http://schemas.openxmlformats.org/drawingml/2006/main">
              <a:ext uri="{FF2B5EF4-FFF2-40B4-BE49-F238E27FC236}">
                <a16:creationId xmlns:a16="http://schemas.microsoft.com/office/drawing/2014/main" id="{BEF8FFBC-FB1D-45B3-BB8F-B3FF8679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Mulai pilot dari satu listing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dan satu campaign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DEA94392-90D3-40BC-836E-34FA3D0A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4802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B7CDF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demonstrasikan">
            <a:extLst xmlns:a="http://schemas.openxmlformats.org/drawingml/2006/main">
              <a:ext uri="{FF2B5EF4-FFF2-40B4-BE49-F238E27FC236}">
                <a16:creationId xmlns:a16="http://schemas.microsoft.com/office/drawing/2014/main" id="{AFD3C907-18D0-4D2D-80B2-F87AD2FD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95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7CD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7CDFB"/>
                </a:solidFill>
                <a:latin typeface="Arial"/>
                <a:ea typeface="Arial"/>
                <a:cs typeface="Arial"/>
              </a:rPr>
              <a:t>Didemonstrasikan</a:t>
            </a:r>
          </a:p>
        </p:txBody>
      </p:sp>
      <p:sp>
        <p:nvSpPr>
          <p:cNvPr id="7" name="AI Strategi Iklan&#10;AI Produksi Creative">
            <a:extLst xmlns:a="http://schemas.openxmlformats.org/drawingml/2006/main">
              <a:ext uri="{FF2B5EF4-FFF2-40B4-BE49-F238E27FC236}">
                <a16:creationId xmlns:a16="http://schemas.microsoft.com/office/drawing/2014/main" id="{EF7B363D-8545-4654-9DD7-8845FE4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Strategi Iklan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Produksi Creative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993FE8C5-5E9D-42E3-87D3-BD3F01FD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4802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4CD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Dalam validasi">
            <a:extLst xmlns:a="http://schemas.openxmlformats.org/drawingml/2006/main">
              <a:ext uri="{FF2B5EF4-FFF2-40B4-BE49-F238E27FC236}">
                <a16:creationId xmlns:a16="http://schemas.microsoft.com/office/drawing/2014/main" id="{573AF3C8-32D1-42EA-9895-E95D5E01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195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4CD9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CD94"/>
                </a:solidFill>
                <a:latin typeface="Arial"/>
                <a:ea typeface="Arial"/>
                <a:cs typeface="Arial"/>
              </a:rPr>
              <a:t>Dalam validasi</a:t>
            </a:r>
          </a:p>
        </p:txBody>
      </p:sp>
      <p:sp>
        <p:nvSpPr>
          <p:cNvPr id="10" name="Publish end-to-end Meta&#10;Autonomous Direction">
            <a:extLst xmlns:a="http://schemas.openxmlformats.org/drawingml/2006/main">
              <a:ext uri="{FF2B5EF4-FFF2-40B4-BE49-F238E27FC236}">
                <a16:creationId xmlns:a16="http://schemas.microsoft.com/office/drawing/2014/main" id="{F5D879A8-E9AE-4620-8AA7-8D2EEA3A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530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 end-to-end Meta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Autonomous Direction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72B65AE3-25BC-445B-9A9A-0B901ABD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4802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Arah berikutnya">
            <a:extLst xmlns:a="http://schemas.openxmlformats.org/drawingml/2006/main">
              <a:ext uri="{FF2B5EF4-FFF2-40B4-BE49-F238E27FC236}">
                <a16:creationId xmlns:a16="http://schemas.microsoft.com/office/drawing/2014/main" id="{538ECA67-F5EA-4500-BCA9-3B97CB9F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95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DB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DB8FF"/>
                </a:solidFill>
                <a:latin typeface="Arial"/>
                <a:ea typeface="Arial"/>
                <a:cs typeface="Arial"/>
              </a:rPr>
              <a:t>Arah berikutnya</a:t>
            </a:r>
          </a:p>
        </p:txBody>
      </p:sp>
      <p:sp>
        <p:nvSpPr>
          <p:cNvPr id="13" name="Integrasi CRM penuh&#10;Aturan scaling lanjut">
            <a:extLst xmlns:a="http://schemas.openxmlformats.org/drawingml/2006/main">
              <a:ext uri="{FF2B5EF4-FFF2-40B4-BE49-F238E27FC236}">
                <a16:creationId xmlns:a16="http://schemas.microsoft.com/office/drawing/2014/main" id="{EA60E71F-1A98-4ED5-8A73-B1717EB4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Integrasi CRM penuh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Aturan scaling lanjut</a:t>
            </a:r>
          </a:p>
        </p:txBody>
      </p:sp>
      <p:sp>
        <p:nvSpPr>
          <p:cNvPr id="14" name="Strategi, creative, dan keputusan iklan dalam satu alur yang">
            <a:extLst xmlns:a="http://schemas.openxmlformats.org/drawingml/2006/main">
              <a:ext uri="{FF2B5EF4-FFF2-40B4-BE49-F238E27FC236}">
                <a16:creationId xmlns:a16="http://schemas.microsoft.com/office/drawing/2014/main" id="{986383C9-691C-46B5-9B29-6A7865CB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09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3C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3CE"/>
                </a:solidFill>
                <a:latin typeface="Arial"/>
                <a:ea typeface="Arial"/>
                <a:cs typeface="Arial"/>
              </a:rPr>
              <a:t>Strategi, creative, dan keputusan iklan dalam satu alur yang terhubung.</a:t>
            </a:r>
          </a:p>
        </p:txBody>
      </p:sp>
    </p:spTree>
    <p:extLst>
      <p:ext uri="{BB962C8B-B14F-4D97-AF65-F5344CB8AC3E}">
        <p14:creationId xmlns:p14="http://schemas.microsoft.com/office/powerpoint/2010/main" val="796193157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5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50"/>
                      </p:stCondLst>
                      <p:childTnLst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50"/>
                      </p:stCondLst>
                      <p:childTnLst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5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700"/>
                      </p:stCondLst>
                      <p:childTnLst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5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7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5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250"/>
                      </p:stCondLst>
                      <p:childTnLst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50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25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50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25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9" dur="50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2026-10-19T10:29:30.2900000Z</dcterms:created>
  <dcterms:modified xsi:type="dcterms:W3CDTF">2026-10-19T10:29:30.2900000Z</dcterms:modified>
</coreProperties>
</file>