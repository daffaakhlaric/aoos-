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92bafb4a034457" /><Relationship Type="http://schemas.openxmlformats.org/officeDocument/2006/relationships/extended-properties" Target="/docProps/app.xml" Id="Rc252f9a8b00f408a" /><Relationship Type="http://schemas.openxmlformats.org/officeDocument/2006/relationships/officeDocument" Target="/ppt/presentation.xml" Id="R592416d53e0b4b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47089a7f324c78"/>
  </p:sldMasterIdLst>
  <p:notesMasterIdLst>
    <p:notesMasterId xmlns:r="http://schemas.openxmlformats.org/officeDocument/2006/relationships" r:id="R4f07a2f30f5b4503"/>
  </p:notesMasterIdLst>
  <p:sldIdLst>
    <p:sldId xmlns:r="http://schemas.openxmlformats.org/officeDocument/2006/relationships" id="256" r:id="R17dc5df6914a4058"/>
    <p:sldId xmlns:r="http://schemas.openxmlformats.org/officeDocument/2006/relationships" id="257" r:id="R25a2fccf84d847f0"/>
    <p:sldId xmlns:r="http://schemas.openxmlformats.org/officeDocument/2006/relationships" id="258" r:id="R74e9cfbb3a63454d"/>
    <p:sldId xmlns:r="http://schemas.openxmlformats.org/officeDocument/2006/relationships" id="259" r:id="R65e7b4b4728e4477"/>
    <p:sldId xmlns:r="http://schemas.openxmlformats.org/officeDocument/2006/relationships" id="260" r:id="R97a81f2801f3444f"/>
    <p:sldId xmlns:r="http://schemas.openxmlformats.org/officeDocument/2006/relationships" id="261" r:id="Red2bdd285edd4428"/>
    <p:sldId xmlns:r="http://schemas.openxmlformats.org/officeDocument/2006/relationships" id="262" r:id="R28e96afe79cc4ffb"/>
    <p:sldId xmlns:r="http://schemas.openxmlformats.org/officeDocument/2006/relationships" id="263" r:id="R55f9357909d048eb"/>
    <p:sldId xmlns:r="http://schemas.openxmlformats.org/officeDocument/2006/relationships" id="264" r:id="Rc71d881b2e08416b"/>
    <p:sldId xmlns:r="http://schemas.openxmlformats.org/officeDocument/2006/relationships" id="265" r:id="R368429b5bfce44dc"/>
    <p:sldId xmlns:r="http://schemas.openxmlformats.org/officeDocument/2006/relationships" id="266" r:id="R35a5e2e4bae245a2"/>
    <p:sldId xmlns:r="http://schemas.openxmlformats.org/officeDocument/2006/relationships" id="267" r:id="Raa7e985a5f704140"/>
    <p:sldId xmlns:r="http://schemas.openxmlformats.org/officeDocument/2006/relationships" id="268" r:id="R4aa787f11cbf44cf"/>
    <p:sldId xmlns:r="http://schemas.openxmlformats.org/officeDocument/2006/relationships" id="269" r:id="R92db7a3a5ec34392"/>
    <p:sldId xmlns:r="http://schemas.openxmlformats.org/officeDocument/2006/relationships" id="270" r:id="R05e99ab1267048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47226a842b4529" /><Relationship Type="http://schemas.openxmlformats.org/officeDocument/2006/relationships/slideMaster" Target="/ppt/slideMasters/slideMaster1.xml" Id="R6647089a7f324c78" /><Relationship Type="http://schemas.openxmlformats.org/officeDocument/2006/relationships/notesMaster" Target="/ppt/notesMasters/notesMaster1.xml" Id="R4f07a2f30f5b4503" /><Relationship Type="http://schemas.openxmlformats.org/officeDocument/2006/relationships/presProps" Target="/ppt/presProps.xml" Id="R10720b981fe549ff" /><Relationship Type="http://schemas.openxmlformats.org/officeDocument/2006/relationships/tableStyles" Target="/ppt/tableStyles.xml" Id="Rbea594ec1e3f47c9" /><Relationship Type="http://schemas.openxmlformats.org/officeDocument/2006/relationships/slide" Target="/ppt/slides/slide1.xml" Id="R17dc5df6914a4058" /><Relationship Type="http://schemas.openxmlformats.org/officeDocument/2006/relationships/slide" Target="/ppt/slides/slide2.xml" Id="R25a2fccf84d847f0" /><Relationship Type="http://schemas.openxmlformats.org/officeDocument/2006/relationships/slide" Target="/ppt/slides/slide3.xml" Id="R74e9cfbb3a63454d" /><Relationship Type="http://schemas.openxmlformats.org/officeDocument/2006/relationships/slide" Target="/ppt/slides/slide4.xml" Id="R65e7b4b4728e4477" /><Relationship Type="http://schemas.openxmlformats.org/officeDocument/2006/relationships/slide" Target="/ppt/slides/slide5.xml" Id="R97a81f2801f3444f" /><Relationship Type="http://schemas.openxmlformats.org/officeDocument/2006/relationships/slide" Target="/ppt/slides/slide6.xml" Id="Red2bdd285edd4428" /><Relationship Type="http://schemas.openxmlformats.org/officeDocument/2006/relationships/slide" Target="/ppt/slides/slide7.xml" Id="R28e96afe79cc4ffb" /><Relationship Type="http://schemas.openxmlformats.org/officeDocument/2006/relationships/slide" Target="/ppt/slides/slide8.xml" Id="R55f9357909d048eb" /><Relationship Type="http://schemas.openxmlformats.org/officeDocument/2006/relationships/slide" Target="/ppt/slides/slide9.xml" Id="Rc71d881b2e08416b" /><Relationship Type="http://schemas.openxmlformats.org/officeDocument/2006/relationships/slide" Target="/ppt/slides/slide10.xml" Id="R368429b5bfce44dc" /><Relationship Type="http://schemas.openxmlformats.org/officeDocument/2006/relationships/slide" Target="/ppt/slides/slide11.xml" Id="R35a5e2e4bae245a2" /><Relationship Type="http://schemas.openxmlformats.org/officeDocument/2006/relationships/slide" Target="/ppt/slides/slide12.xml" Id="Raa7e985a5f704140" /><Relationship Type="http://schemas.openxmlformats.org/officeDocument/2006/relationships/slide" Target="/ppt/slides/slide13.xml" Id="R4aa787f11cbf44cf" /><Relationship Type="http://schemas.openxmlformats.org/officeDocument/2006/relationships/slide" Target="/ppt/slides/slide14.xml" Id="R92db7a3a5ec34392" /><Relationship Type="http://schemas.openxmlformats.org/officeDocument/2006/relationships/slide" Target="/ppt/slides/slide15.xml" Id="R05e99ab1267048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04a2afc9c249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e47ad57eb9458b" /><Relationship Type="http://schemas.openxmlformats.org/officeDocument/2006/relationships/notesMaster" Target="/ppt/notesMasters/notesMaster1.xml" Id="R73f155f90aaf4e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1fee493e24c20" /><Relationship Type="http://schemas.openxmlformats.org/officeDocument/2006/relationships/notesMaster" Target="/ppt/notesMasters/notesMaster1.xml" Id="R8a0c3299f82a45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f73d4f0f284573" /><Relationship Type="http://schemas.openxmlformats.org/officeDocument/2006/relationships/notesMaster" Target="/ppt/notesMasters/notesMaster1.xml" Id="R4d471cb9c3574b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274d8fc47a487c" /><Relationship Type="http://schemas.openxmlformats.org/officeDocument/2006/relationships/notesMaster" Target="/ppt/notesMasters/notesMaster1.xml" Id="Rf6c00ccb733045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abf9a23f1b49ac" /><Relationship Type="http://schemas.openxmlformats.org/officeDocument/2006/relationships/notesMaster" Target="/ppt/notesMasters/notesMaster1.xml" Id="Rff5529fd61654f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4e0d8a570f4c72" /><Relationship Type="http://schemas.openxmlformats.org/officeDocument/2006/relationships/notesMaster" Target="/ppt/notesMasters/notesMaster1.xml" Id="R15181cca8df24c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378018e68546b5" /><Relationship Type="http://schemas.openxmlformats.org/officeDocument/2006/relationships/notesMaster" Target="/ppt/notesMasters/notesMaster1.xml" Id="R6f5c9d19f62548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ed93ca426145ab" /><Relationship Type="http://schemas.openxmlformats.org/officeDocument/2006/relationships/notesMaster" Target="/ppt/notesMasters/notesMaster1.xml" Id="Radbbec645ebb42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fd0308bad0484a" /><Relationship Type="http://schemas.openxmlformats.org/officeDocument/2006/relationships/notesMaster" Target="/ppt/notesMasters/notesMaster1.xml" Id="R923024217fe34d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d3307f59234aa7" /><Relationship Type="http://schemas.openxmlformats.org/officeDocument/2006/relationships/notesMaster" Target="/ppt/notesMasters/notesMaster1.xml" Id="Recd3c741adb842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82167c739d4d0d" /><Relationship Type="http://schemas.openxmlformats.org/officeDocument/2006/relationships/notesMaster" Target="/ppt/notesMasters/notesMaster1.xml" Id="Rc0db9fec4d1b45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11df080ba34794" /><Relationship Type="http://schemas.openxmlformats.org/officeDocument/2006/relationships/notesMaster" Target="/ppt/notesMasters/notesMaster1.xml" Id="R00ccc3e4382d4e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d4113916e74607" /><Relationship Type="http://schemas.openxmlformats.org/officeDocument/2006/relationships/notesMaster" Target="/ppt/notesMasters/notesMaster1.xml" Id="Re7a89b550fd146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25ef4c6ac44f71" /><Relationship Type="http://schemas.openxmlformats.org/officeDocument/2006/relationships/notesMaster" Target="/ppt/notesMasters/notesMaster1.xml" Id="R01d291cb0f6f40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196657d5e24e62" /><Relationship Type="http://schemas.openxmlformats.org/officeDocument/2006/relationships/notesMaster" Target="/ppt/notesMasters/notesMaster1.xml" Id="R79137f5a80f64a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SkorPintar Ads menghubungkan data listing dengan penyusunan strategi, produksi creative, dan pengelolaan campaign. Samantha menyusun strategi. Kai mengelola produksi creative.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 iklan saat ini kehilangan banyak waktu mengelola alur informasi antar sistem yang tidak terhubung.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SkorPintar Ads menempatkan Samantha dan Kai di tengah untuk mengelola alur dari hulu (data) ke hilir (iklan tayang).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Seluruh fase dikelompokkan agar mudah dilacak. Integrasi penuh dari ujung ke ujung sedang dalam tahap validasi akhir.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akurat adalah kunci. Informasi campaign selalu bersumber dari basis data bisnis Anda.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Samantha memproses data kasar menjadi draf strategi yang siap ditinjau sebelum eksekusi.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Rekomendasi strategi dari Samantha langsung terhubung ke pengaturan Campaign Builder. Konfigurasi dan budget yang tampil merupakan ilustrasi.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Kai tidak hanya untuk video. Proses produksinya terstruktur dari konsep hingga aset jadi.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job dan hasil generasi terpantau jelas. Aset dapat dilihat dan ditelusuri versi revisinya. Jumlah job dan aset adalah ilustrasi.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Simulasi memberikan indikator kesiapan creative berdasarkan best practice, bukan jaminan metrik akhir. Ilustrasi: Creative Stress Test &amp; Simulation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Sistem mengecek kelayakan sebelum publish. Jika ada policy blocker, alasan akan ditampilkan agar dapat diperbaiki. Fitur Meta Preflight masih dalam validasi.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Samantha memberikan alasan dan bukti. Pengguna yang melakukan approve atau reject.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Autonomous berarti AI mengeksekusi dalam batasan aman (guardrails) yang Anda tentukan, tidak tanpa pengawasan. Ilustrasi Growth Settings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Satu listing menjadi titik awal: data masuk, Samantha menyusun strategi, Kai menghasilkan konsep visual, lalu tim meninjau QA dan campaign sebelum mengevaluasi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produk mengikuti materi sumber. Samantha Strategist dan Kai Creative Flow telah didemonstrasikan. Publish end-to-end Meta serta Autonomous Direction masih dalam validasi. Integrasi CRM penuh dan aturan scaling lanjut merupakan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b7071f69248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0ec0653664f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b20d7fe2a48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78f842b3b44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5c06da4ab45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eca4826de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373775-1E87-43E3-97FD-351A4F388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F41F1D-8831-4CDA-B1A9-FCE62655A9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FCFF23-9695-4C37-9CC1-BED78B1BB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85E3E2-D179-4D8C-AD91-C12310E5D3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0AD8A4-ED54-49CC-ABC0-2985177951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858DA7-6D6C-464E-BFD1-41ACE31B3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623A7E-5037-4DCA-A35F-BC7302CB54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141E2F-5D1D-47A9-AC4C-F4FF1BE614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685BDB-CC2D-4966-B3C0-F673ABE21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19615B-FA0C-40F0-BD86-7FB53D8E2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c2dd8cbc14440a" /><Relationship Type="http://schemas.openxmlformats.org/officeDocument/2006/relationships/slideLayout" Target="/ppt/slideLayouts/slideLayout1.xml" Id="R868adbe97c544352" /><Relationship Type="http://schemas.openxmlformats.org/officeDocument/2006/relationships/slideLayout" Target="/ppt/slideLayouts/slideLayout2.xml" Id="Rafcfa137a3be4555" /><Relationship Type="http://schemas.openxmlformats.org/officeDocument/2006/relationships/slideLayout" Target="/ppt/slideLayouts/slideLayout3.xml" Id="Re7a566c8726e44c2" /><Relationship Type="http://schemas.openxmlformats.org/officeDocument/2006/relationships/slideLayout" Target="/ppt/slideLayouts/slideLayout4.xml" Id="Rd0fe742fea1344b1" /><Relationship Type="http://schemas.openxmlformats.org/officeDocument/2006/relationships/slideLayout" Target="/ppt/slideLayouts/slideLayout5.xml" Id="Ra5d2df87766242f8" /><Relationship Type="http://schemas.openxmlformats.org/officeDocument/2006/relationships/slideLayout" Target="/ppt/slideLayouts/slideLayout6.xml" Id="Rca9647d8f27f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8adbe97c544352"/>
    <p:sldLayoutId xmlns:r="http://schemas.openxmlformats.org/officeDocument/2006/relationships" id="2147483650" r:id="Rafcfa137a3be4555"/>
    <p:sldLayoutId xmlns:r="http://schemas.openxmlformats.org/officeDocument/2006/relationships" id="2147483651" r:id="Re7a566c8726e44c2"/>
    <p:sldLayoutId xmlns:r="http://schemas.openxmlformats.org/officeDocument/2006/relationships" id="2147483652" r:id="Rd0fe742fea1344b1"/>
    <p:sldLayoutId xmlns:r="http://schemas.openxmlformats.org/officeDocument/2006/relationships" id="2147483653" r:id="Ra5d2df87766242f8"/>
    <p:sldLayoutId xmlns:r="http://schemas.openxmlformats.org/officeDocument/2006/relationships" id="2147483654" r:id="Rca9647d8f27f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738c623487478c" /><Relationship Type="http://schemas.openxmlformats.org/officeDocument/2006/relationships/image" Target="/ppt/media/image.png" Id="Rf84d68fc07c546b9" /><Relationship Type="http://schemas.openxmlformats.org/officeDocument/2006/relationships/notesSlide" Target="/ppt/notesSlides/notesSlide1.xml" Id="Rb684928cfdc34a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194760ff144ca" /><Relationship Type="http://schemas.openxmlformats.org/officeDocument/2006/relationships/notesSlide" Target="/ppt/notesSlides/notesSlide2.xml" Id="R0bf86ec5a3564f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d5a09c29e4fe2" /><Relationship Type="http://schemas.openxmlformats.org/officeDocument/2006/relationships/image" Target="/ppt/media/image2.png" Id="R47bce0c4010e48dc" /><Relationship Type="http://schemas.openxmlformats.org/officeDocument/2006/relationships/notesSlide" Target="/ppt/notesSlides/notesSlide3.xml" Id="Rc8d6a771e841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e3ad88e9b14b86" /><Relationship Type="http://schemas.openxmlformats.org/officeDocument/2006/relationships/notesSlide" Target="/ppt/notesSlides/notesSlide4.xml" Id="R1b43747da91946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a6a9badb54f1b" /><Relationship Type="http://schemas.openxmlformats.org/officeDocument/2006/relationships/image" Target="/ppt/media/image3.png" Id="R627597ddce954a3d" /><Relationship Type="http://schemas.openxmlformats.org/officeDocument/2006/relationships/notesSlide" Target="/ppt/notesSlides/notesSlide5.xml" Id="Rcc94798b868942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d37c8ada9b4032" /><Relationship Type="http://schemas.openxmlformats.org/officeDocument/2006/relationships/notesSlide" Target="/ppt/notesSlides/notesSlide6.xml" Id="Rf69742c846424d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f0db5bc474af4" /><Relationship Type="http://schemas.openxmlformats.org/officeDocument/2006/relationships/notesSlide" Target="/ppt/notesSlides/notesSlide7.xml" Id="R146a55abc20e45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32d484e1a4643" /><Relationship Type="http://schemas.openxmlformats.org/officeDocument/2006/relationships/notesSlide" Target="/ppt/notesSlides/notesSlide8.xml" Id="R1c9d1a2eb5d041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7e93cb4194f80" /><Relationship Type="http://schemas.openxmlformats.org/officeDocument/2006/relationships/notesSlide" Target="/ppt/notesSlides/notesSlide9.xml" Id="R057f9e0cbfb04a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35e34fecd410b" /><Relationship Type="http://schemas.openxmlformats.org/officeDocument/2006/relationships/image" Target="/ppt/media/image4.png" Id="Ra8b8559853734185" /><Relationship Type="http://schemas.openxmlformats.org/officeDocument/2006/relationships/notesSlide" Target="/ppt/notesSlides/notesSlide10.xml" Id="R70602da1ad8147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c1bee62284cb6" /><Relationship Type="http://schemas.openxmlformats.org/officeDocument/2006/relationships/notesSlide" Target="/ppt/notesSlides/notesSlide11.xml" Id="Rf3064469bcae47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d6ecaef666472e" /><Relationship Type="http://schemas.openxmlformats.org/officeDocument/2006/relationships/image" Target="/ppt/media/image5.png" Id="Rcf3326df6aa24c19" /><Relationship Type="http://schemas.openxmlformats.org/officeDocument/2006/relationships/notesSlide" Target="/ppt/notesSlides/notesSlide12.xml" Id="Rcc661fa4c3704a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504a3954345c0" /><Relationship Type="http://schemas.openxmlformats.org/officeDocument/2006/relationships/image" Target="/ppt/media/image6.png" Id="R6ac1c5fc98174837" /><Relationship Type="http://schemas.openxmlformats.org/officeDocument/2006/relationships/notesSlide" Target="/ppt/notesSlides/notesSlide13.xml" Id="R3ed3af79d35a47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069b56d344e22" /><Relationship Type="http://schemas.openxmlformats.org/officeDocument/2006/relationships/image" Target="/ppt/media/image7.png" Id="R377f00925e6449e2" /><Relationship Type="http://schemas.openxmlformats.org/officeDocument/2006/relationships/notesSlide" Target="/ppt/notesSlides/notesSlide14.xml" Id="Rbbfd9617e19b48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f93c4adf74724" /><Relationship Type="http://schemas.openxmlformats.org/officeDocument/2006/relationships/notesSlide" Target="/ppt/notesSlides/notesSlide15.xml" Id="Rf82235e03b7e4f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81A37192-EED4-41B4-8748-08A8E603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327C6486-1559-45AF-8AB2-9834701F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PLATFORM IKLAN PROPERTI">
            <a:extLst xmlns:a="http://schemas.openxmlformats.org/drawingml/2006/main">
              <a:ext uri="{FF2B5EF4-FFF2-40B4-BE49-F238E27FC236}">
                <a16:creationId xmlns:a16="http://schemas.microsoft.com/office/drawing/2014/main" id="{E122BFB6-23EE-458A-A964-91A42028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PLATFORM IKLAN PROPERTI</a:t>
            </a:r>
          </a:p>
        </p:txBody>
      </p:sp>
      <p:sp>
        <p:nvSpPr>
          <p:cNvPr id="4" name="Tim AI iklan&#10;properti Anda">
            <a:extLst xmlns:a="http://schemas.openxmlformats.org/drawingml/2006/main">
              <a:ext uri="{FF2B5EF4-FFF2-40B4-BE49-F238E27FC236}">
                <a16:creationId xmlns:a16="http://schemas.microsoft.com/office/drawing/2014/main" id="{DF6A484A-6FBC-450E-865E-E8B6DE07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Tim AI iklan</a:t>
            </a:r>
          </a:p>
          <a:p xmlns:a="http://schemas.openxmlformats.org/drawingml/2006/main">
            <a:pPr>
              <a:defRPr sz="54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properti Anda</a:t>
            </a:r>
          </a:p>
        </p:txBody>
      </p:sp>
      <p:sp>
        <p:nvSpPr>
          <p:cNvPr id="5" name="Listing, strategi, creative, dan campaign&#10;dalam ">
            <a:extLst xmlns:a="http://schemas.openxmlformats.org/drawingml/2006/main">
              <a:ext uri="{FF2B5EF4-FFF2-40B4-BE49-F238E27FC236}">
                <a16:creationId xmlns:a16="http://schemas.microsoft.com/office/drawing/2014/main" id="{5069EBF7-9142-4D1B-BC03-7F7A65EA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Listing, strategi, creative, dan campaign</a:t>
            </a:r>
          </a:p>
          <a:p xmlns:a="http://schemas.openxmlformats.org/drawingml/2006/main">
            <a:pPr>
              <a:defRPr sz="21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dalam satu alur kerja.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7C671-60D1-4B47-9599-69038A1D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3149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3ED"/>
          </a:solidFill>
          <a:ln xmlns:a="http://schemas.openxmlformats.org/drawingml/2006/main" w="0">
            <a:noFill/>
          </a:ln>
        </p:spPr>
      </p:sp>
      <p:sp>
        <p:nvSpPr>
          <p:cNvPr id="7" name="SAMANTHA">
            <a:extLst xmlns:a="http://schemas.openxmlformats.org/drawingml/2006/main">
              <a:ext uri="{FF2B5EF4-FFF2-40B4-BE49-F238E27FC236}">
                <a16:creationId xmlns:a16="http://schemas.microsoft.com/office/drawing/2014/main" id="{CADD7669-78E7-4528-B2F9-6B01B6B4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SAMANTHA</a:t>
            </a:r>
          </a:p>
        </p:txBody>
      </p:sp>
      <p:sp>
        <p:nvSpPr>
          <p:cNvPr id="8" name="AI Campaign Strategist">
            <a:extLst xmlns:a="http://schemas.openxmlformats.org/drawingml/2006/main">
              <a:ext uri="{FF2B5EF4-FFF2-40B4-BE49-F238E27FC236}">
                <a16:creationId xmlns:a16="http://schemas.microsoft.com/office/drawing/2014/main" id="{C434D5AF-99D1-491F-BA5B-A7878C6A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AI Campaign Strategist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17412-6E36-4091-8FD6-FCD0F1D9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10150"/>
            <a:ext cx="54673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noFill/>
          </a:ln>
        </p:spPr>
      </p:sp>
      <p:sp>
        <p:nvSpPr>
          <p:cNvPr id="10" name="KAI">
            <a:extLst xmlns:a="http://schemas.openxmlformats.org/drawingml/2006/main">
              <a:ext uri="{FF2B5EF4-FFF2-40B4-BE49-F238E27FC236}">
                <a16:creationId xmlns:a16="http://schemas.microsoft.com/office/drawing/2014/main" id="{68661BCC-618F-4E6E-A4CC-7CDF1107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97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052CA"/>
                </a:solidFill>
                <a:latin typeface="Arial"/>
                <a:ea typeface="Arial"/>
                <a:cs typeface="Arial"/>
              </a:rPr>
              <a:t>KAI</a:t>
            </a:r>
          </a:p>
        </p:txBody>
      </p:sp>
      <p:sp>
        <p:nvSpPr>
          <p:cNvPr id="11" name="Creative Producer">
            <a:extLst xmlns:a="http://schemas.openxmlformats.org/drawingml/2006/main">
              <a:ext uri="{FF2B5EF4-FFF2-40B4-BE49-F238E27FC236}">
                <a16:creationId xmlns:a16="http://schemas.microsoft.com/office/drawing/2014/main" id="{97779034-6002-41A7-9152-A0CF4733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721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Creative Producer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5B977-8097-47A7-B60C-C19344038A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d68fc07c546b9"/>
          <a:stretch xmlns:a="http://schemas.openxmlformats.org/drawingml/2006/main"/>
        </p:blipFill>
        <p:spPr>
          <a:xfrm xmlns:a="http://schemas.openxmlformats.org/drawingml/2006/main">
            <a:off x="9533016" y="1666875"/>
            <a:ext cx="1603218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84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B74DB74C-B44D-4602-9381-5F77EB66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2A440255-B917-4D2B-9C07-28AEDA92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ANTANGAN INDUSTRI">
            <a:extLst xmlns:a="http://schemas.openxmlformats.org/drawingml/2006/main">
              <a:ext uri="{FF2B5EF4-FFF2-40B4-BE49-F238E27FC236}">
                <a16:creationId xmlns:a16="http://schemas.microsoft.com/office/drawing/2014/main" id="{2D216722-482F-45E3-8224-C7A73D39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TANTANGAN INDUSTRI</a:t>
            </a:r>
          </a:p>
        </p:txBody>
      </p:sp>
      <p:sp>
        <p:nvSpPr>
          <p:cNvPr id="4" name="Proses kerja yang terfragmentasi">
            <a:extLst xmlns:a="http://schemas.openxmlformats.org/drawingml/2006/main">
              <a:ext uri="{FF2B5EF4-FFF2-40B4-BE49-F238E27FC236}">
                <a16:creationId xmlns:a16="http://schemas.microsoft.com/office/drawing/2014/main" id="{DBA17F84-F45D-48A9-8C75-BBCE6DA9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Proses kerja yang terfragmentasi</a:t>
            </a:r>
          </a:p>
        </p:txBody>
      </p:sp>
      <p:sp>
        <p:nvSpPr>
          <p:cNvPr id="5" name="Informasi berpindah antarsistem. Tim mengulang p">
            <a:extLst xmlns:a="http://schemas.openxmlformats.org/drawingml/2006/main">
              <a:ext uri="{FF2B5EF4-FFF2-40B4-BE49-F238E27FC236}">
                <a16:creationId xmlns:a16="http://schemas.microsoft.com/office/drawing/2014/main" id="{BE0E1101-583D-4451-9A35-66472B8F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Informasi berpindah antarsistem. Tim mengulang pekerjaan yang sama.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7E217AFC-081A-484B-B279-CE1640D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Data tersebar">
            <a:extLst xmlns:a="http://schemas.openxmlformats.org/drawingml/2006/main">
              <a:ext uri="{FF2B5EF4-FFF2-40B4-BE49-F238E27FC236}">
                <a16:creationId xmlns:a16="http://schemas.microsoft.com/office/drawing/2014/main" id="{04BB34AE-D1DB-418A-9EBF-7DD2A6F1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Data tersebar</a:t>
            </a:r>
          </a:p>
        </p:txBody>
      </p:sp>
      <p:sp>
        <p:nvSpPr>
          <p:cNvPr id="8" name="Listing properti tidak terhubung langsung dengan">
            <a:extLst xmlns:a="http://schemas.openxmlformats.org/drawingml/2006/main">
              <a:ext uri="{FF2B5EF4-FFF2-40B4-BE49-F238E27FC236}">
                <a16:creationId xmlns:a16="http://schemas.microsoft.com/office/drawing/2014/main" id="{D3F3C5F7-F52A-4FE5-ABB8-979B2321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Listing properti tidak terhubung langsung dengan iklan.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6AEC242D-51B9-4803-8212-5935D9AA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roses berulang">
            <a:extLst xmlns:a="http://schemas.openxmlformats.org/drawingml/2006/main">
              <a:ext uri="{FF2B5EF4-FFF2-40B4-BE49-F238E27FC236}">
                <a16:creationId xmlns:a16="http://schemas.microsoft.com/office/drawing/2014/main" id="{B37BB271-DFB9-4D55-BF4F-EEAAC1A9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Proses berulang</a:t>
            </a:r>
          </a:p>
        </p:txBody>
      </p:sp>
      <p:sp>
        <p:nvSpPr>
          <p:cNvPr id="11" name="Brief dan aset creative dibuat manual setiap saa">
            <a:extLst xmlns:a="http://schemas.openxmlformats.org/drawingml/2006/main">
              <a:ext uri="{FF2B5EF4-FFF2-40B4-BE49-F238E27FC236}">
                <a16:creationId xmlns:a16="http://schemas.microsoft.com/office/drawing/2014/main" id="{3C359F96-A103-4F04-849E-751E622D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Brief dan aset creative dibuat manual setiap saat.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7D237088-5F3C-47D4-B287-E48D33C4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76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Evaluasi sulit">
            <a:extLst xmlns:a="http://schemas.openxmlformats.org/drawingml/2006/main">
              <a:ext uri="{FF2B5EF4-FFF2-40B4-BE49-F238E27FC236}">
                <a16:creationId xmlns:a16="http://schemas.microsoft.com/office/drawing/2014/main" id="{236AFB79-B24A-4D80-ACA0-FA1A654F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Evaluasi sulit</a:t>
            </a:r>
          </a:p>
        </p:txBody>
      </p:sp>
      <p:sp>
        <p:nvSpPr>
          <p:cNvPr id="14" name="Strategi dan setup campaign berjalan terpisah.">
            <a:extLst xmlns:a="http://schemas.openxmlformats.org/drawingml/2006/main">
              <a:ext uri="{FF2B5EF4-FFF2-40B4-BE49-F238E27FC236}">
                <a16:creationId xmlns:a16="http://schemas.microsoft.com/office/drawing/2014/main" id="{72B58371-5F82-4D3D-89C3-F2F07CD4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57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Strategi dan setup campaign berjalan terpisah.</a:t>
            </a:r>
          </a:p>
        </p:txBody>
      </p:sp>
    </p:spTree>
    <p:extLst>
      <p:ext uri="{BB962C8B-B14F-4D97-AF65-F5344CB8AC3E}">
        <p14:creationId xmlns:p14="http://schemas.microsoft.com/office/powerpoint/2010/main" val="970137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06B12A9D-FCB0-4B91-B610-8F500BF9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2A857B74-8D80-4E80-9318-81DB4542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PLATFORM TERPADU">
            <a:extLst xmlns:a="http://schemas.openxmlformats.org/drawingml/2006/main">
              <a:ext uri="{FF2B5EF4-FFF2-40B4-BE49-F238E27FC236}">
                <a16:creationId xmlns:a16="http://schemas.microsoft.com/office/drawing/2014/main" id="{910217C4-7884-47B1-8843-94CCFAB5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PLATFORM TERPADU</a:t>
            </a:r>
          </a:p>
        </p:txBody>
      </p:sp>
      <p:sp>
        <p:nvSpPr>
          <p:cNvPr id="4" name="Satu workspace terhubung">
            <a:extLst xmlns:a="http://schemas.openxmlformats.org/drawingml/2006/main">
              <a:ext uri="{FF2B5EF4-FFF2-40B4-BE49-F238E27FC236}">
                <a16:creationId xmlns:a16="http://schemas.microsoft.com/office/drawing/2014/main" id="{2CA8FF90-015B-46C0-A171-0735886E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Satu workspace terhubung</a:t>
            </a:r>
          </a:p>
        </p:txBody>
      </p:sp>
      <p:sp>
        <p:nvSpPr>
          <p:cNvPr id="5" name="Data terpusat">
            <a:extLst xmlns:a="http://schemas.openxmlformats.org/drawingml/2006/main">
              <a:ext uri="{FF2B5EF4-FFF2-40B4-BE49-F238E27FC236}">
                <a16:creationId xmlns:a16="http://schemas.microsoft.com/office/drawing/2014/main" id="{929A23FD-E8AF-4226-BB22-91E12019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Data terpusat</a:t>
            </a:r>
          </a:p>
        </p:txBody>
      </p:sp>
      <p:sp>
        <p:nvSpPr>
          <p:cNvPr id="6" name="Strategi otomatis">
            <a:extLst xmlns:a="http://schemas.openxmlformats.org/drawingml/2006/main">
              <a:ext uri="{FF2B5EF4-FFF2-40B4-BE49-F238E27FC236}">
                <a16:creationId xmlns:a16="http://schemas.microsoft.com/office/drawing/2014/main" id="{7B00CB5C-2007-4F0D-9470-132F0BEA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Strategi otomatis</a:t>
            </a:r>
          </a:p>
        </p:txBody>
      </p:sp>
      <p:sp>
        <p:nvSpPr>
          <p:cNvPr id="7" name="Produksi mandiri">
            <a:extLst xmlns:a="http://schemas.openxmlformats.org/drawingml/2006/main">
              <a:ext uri="{FF2B5EF4-FFF2-40B4-BE49-F238E27FC236}">
                <a16:creationId xmlns:a16="http://schemas.microsoft.com/office/drawing/2014/main" id="{79663B03-306B-421D-9493-1472D29D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Produksi mandiri</a:t>
            </a:r>
          </a:p>
        </p:txBody>
      </p:sp>
      <p:sp>
        <p:nvSpPr>
          <p:cNvPr id="8" name="Evaluasi transparan">
            <a:extLst xmlns:a="http://schemas.openxmlformats.org/drawingml/2006/main">
              <a:ext uri="{FF2B5EF4-FFF2-40B4-BE49-F238E27FC236}">
                <a16:creationId xmlns:a16="http://schemas.microsoft.com/office/drawing/2014/main" id="{2630484F-EE1B-4BC5-AAC1-161B3580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Evaluasi transparan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CD321-B859-414C-B607-116B268D7A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ce0c4010e48dc"/>
          <a:stretch xmlns:a="http://schemas.openxmlformats.org/drawingml/2006/main"/>
        </p:blipFill>
        <p:spPr>
          <a:xfrm xmlns:a="http://schemas.openxmlformats.org/drawingml/2006/main">
            <a:off x="4251244" y="2638425"/>
            <a:ext cx="7318537" cy="3743325"/>
          </a:xfrm>
          <a:prstGeom xmlns:a="http://schemas.openxmlformats.org/drawingml/2006/main" prst="rect">
            <a:avLst/>
          </a:prstGeom>
        </p:spPr>
      </p:pic>
      <p:sp>
        <p:nvSpPr>
          <p:cNvPr id="10" name="Ilustrasi Samantha Command Center">
            <a:extLst xmlns:a="http://schemas.openxmlformats.org/drawingml/2006/main">
              <a:ext uri="{FF2B5EF4-FFF2-40B4-BE49-F238E27FC236}">
                <a16:creationId xmlns:a16="http://schemas.microsoft.com/office/drawing/2014/main" id="{7AC11D45-ACDE-4C96-8BB9-8A1747C9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484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Ilustrasi Samantha Command Center</a:t>
            </a:r>
          </a:p>
        </p:txBody>
      </p:sp>
    </p:spTree>
    <p:extLst>
      <p:ext uri="{BB962C8B-B14F-4D97-AF65-F5344CB8AC3E}">
        <p14:creationId xmlns:p14="http://schemas.microsoft.com/office/powerpoint/2010/main" val="777864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2E3466B9-4961-4262-A55E-BA494C2A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9F6E299C-71C5-4BBA-867F-5426CF60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ALUR KERJA UTAMA">
            <a:extLst xmlns:a="http://schemas.openxmlformats.org/drawingml/2006/main">
              <a:ext uri="{FF2B5EF4-FFF2-40B4-BE49-F238E27FC236}">
                <a16:creationId xmlns:a16="http://schemas.microsoft.com/office/drawing/2014/main" id="{E6947D88-F54E-466A-8C00-42B8FDEB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ALUR KERJA UTAMA</a:t>
            </a:r>
          </a:p>
        </p:txBody>
      </p:sp>
      <p:sp>
        <p:nvSpPr>
          <p:cNvPr id="4" name="Lima tahap dalam satu workflow">
            <a:extLst xmlns:a="http://schemas.openxmlformats.org/drawingml/2006/main">
              <a:ext uri="{FF2B5EF4-FFF2-40B4-BE49-F238E27FC236}">
                <a16:creationId xmlns:a16="http://schemas.microsoft.com/office/drawing/2014/main" id="{D7A3CD0C-0726-40CD-97F7-BAA3CC02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Lima tahap dalam satu workflow</a:t>
            </a:r>
          </a:p>
        </p:txBody>
      </p:sp>
      <p:sp>
        <p:nvSpPr>
          <p:cNvPr id="5" name="Setiap tahap memiliki input dan output yang dapa">
            <a:extLst xmlns:a="http://schemas.openxmlformats.org/drawingml/2006/main">
              <a:ext uri="{FF2B5EF4-FFF2-40B4-BE49-F238E27FC236}">
                <a16:creationId xmlns:a16="http://schemas.microsoft.com/office/drawing/2014/main" id="{D1DAA9CF-E919-4794-A303-C3E20A86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Setiap tahap memiliki input dan output yang dapat ditelusuri.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0F38D-CA21-4DE0-9F0A-781673B8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057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0F0EB"/>
          </a:solidFill>
          <a:ln xmlns:a="http://schemas.openxmlformats.org/drawingml/2006/main" w="0">
            <a:noFill/>
          </a:ln>
        </p:spPr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174ED5E9-4016-42D6-A87D-D655736A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Data input">
            <a:extLst xmlns:a="http://schemas.openxmlformats.org/drawingml/2006/main">
              <a:ext uri="{FF2B5EF4-FFF2-40B4-BE49-F238E27FC236}">
                <a16:creationId xmlns:a16="http://schemas.microsoft.com/office/drawing/2014/main" id="{B439B707-2BFF-408D-A1F6-3CFD4EBE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Data input</a:t>
            </a:r>
          </a:p>
        </p:txBody>
      </p:sp>
      <p:sp>
        <p:nvSpPr>
          <p:cNvPr id="9" name="Listing &amp;&#10;knowledge">
            <a:extLst xmlns:a="http://schemas.openxmlformats.org/drawingml/2006/main">
              <a:ext uri="{FF2B5EF4-FFF2-40B4-BE49-F238E27FC236}">
                <a16:creationId xmlns:a16="http://schemas.microsoft.com/office/drawing/2014/main" id="{DC157998-2FBE-4226-9404-597ABAAB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Listing &amp;</a:t>
            </a:r>
          </a:p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9295D-A824-4FCA-B711-9ED3BEF6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76625"/>
            <a:ext cx="2057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0F0EB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787D5FC0-0DEE-446E-A50E-A6DC55AE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67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Strategi">
            <a:extLst xmlns:a="http://schemas.openxmlformats.org/drawingml/2006/main">
              <a:ext uri="{FF2B5EF4-FFF2-40B4-BE49-F238E27FC236}">
                <a16:creationId xmlns:a16="http://schemas.microsoft.com/office/drawing/2014/main" id="{E0CEDF6A-3132-4382-AF48-5FC140E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95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Strategi</a:t>
            </a:r>
          </a:p>
        </p:txBody>
      </p:sp>
      <p:sp>
        <p:nvSpPr>
          <p:cNvPr id="13" name="Samantha&#10;Plan">
            <a:extLst xmlns:a="http://schemas.openxmlformats.org/drawingml/2006/main">
              <a:ext uri="{FF2B5EF4-FFF2-40B4-BE49-F238E27FC236}">
                <a16:creationId xmlns:a16="http://schemas.microsoft.com/office/drawing/2014/main" id="{F0A527D9-F485-4EF7-9793-E4E7794E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9107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Samantha</a:t>
            </a:r>
          </a:p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3DE8B-42B5-42C2-B79C-337B4AEC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76625"/>
            <a:ext cx="2057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0F0EB"/>
          </a:solidFill>
          <a:ln xmlns:a="http://schemas.openxmlformats.org/drawingml/2006/main" w="0">
            <a:noFill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33BE8DDD-6E4D-46F1-AC1A-5C409981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67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Produksi">
            <a:extLst xmlns:a="http://schemas.openxmlformats.org/drawingml/2006/main">
              <a:ext uri="{FF2B5EF4-FFF2-40B4-BE49-F238E27FC236}">
                <a16:creationId xmlns:a16="http://schemas.microsoft.com/office/drawing/2014/main" id="{F77F1C99-4D06-4B5F-AB05-074D9EB7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95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Produksi</a:t>
            </a:r>
          </a:p>
        </p:txBody>
      </p:sp>
      <p:sp>
        <p:nvSpPr>
          <p:cNvPr id="17" name="Kai brief&#10;&amp; aset">
            <a:extLst xmlns:a="http://schemas.openxmlformats.org/drawingml/2006/main">
              <a:ext uri="{FF2B5EF4-FFF2-40B4-BE49-F238E27FC236}">
                <a16:creationId xmlns:a16="http://schemas.microsoft.com/office/drawing/2014/main" id="{C36FE62E-32D1-4CD3-BF48-23334575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9107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Kai brief</a:t>
            </a:r>
          </a:p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&amp; aset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BF517-59A1-4BD5-8337-320F425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76625"/>
            <a:ext cx="2057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0F0EB"/>
          </a:solidFill>
          <a:ln xmlns:a="http://schemas.openxmlformats.org/drawingml/2006/main" w="0">
            <a:noFill/>
          </a:ln>
        </p:spPr>
      </p:sp>
      <p:sp>
        <p:nvSpPr>
          <p:cNvPr id="19" name="04">
            <a:extLst xmlns:a="http://schemas.openxmlformats.org/drawingml/2006/main">
              <a:ext uri="{FF2B5EF4-FFF2-40B4-BE49-F238E27FC236}">
                <a16:creationId xmlns:a16="http://schemas.microsoft.com/office/drawing/2014/main" id="{942217DF-0C9C-481C-AAB1-2E054DB0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Validasi">
            <a:extLst xmlns:a="http://schemas.openxmlformats.org/drawingml/2006/main">
              <a:ext uri="{FF2B5EF4-FFF2-40B4-BE49-F238E27FC236}">
                <a16:creationId xmlns:a16="http://schemas.microsoft.com/office/drawing/2014/main" id="{08788C45-3D12-4FC0-BD01-860EFC28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95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21" name="QA &amp;&#10;simulasi">
            <a:extLst xmlns:a="http://schemas.openxmlformats.org/drawingml/2006/main">
              <a:ext uri="{FF2B5EF4-FFF2-40B4-BE49-F238E27FC236}">
                <a16:creationId xmlns:a16="http://schemas.microsoft.com/office/drawing/2014/main" id="{1D51A6A0-47E4-41FA-8BD3-EAE0E760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9107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QA &amp;</a:t>
            </a:r>
          </a:p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simulasi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77A60-9CCE-4D57-AF81-96FD9B7F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2057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E9F3ED"/>
          </a:solidFill>
          <a:ln xmlns:a="http://schemas.openxmlformats.org/drawingml/2006/main" w="0">
            <a:noFill/>
          </a:ln>
        </p:spPr>
      </p:sp>
      <p:sp>
        <p:nvSpPr>
          <p:cNvPr id="23" name="05">
            <a:extLst xmlns:a="http://schemas.openxmlformats.org/drawingml/2006/main">
              <a:ext uri="{FF2B5EF4-FFF2-40B4-BE49-F238E27FC236}">
                <a16:creationId xmlns:a16="http://schemas.microsoft.com/office/drawing/2014/main" id="{95FAE751-7140-4F98-BD3B-FA6C39EB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67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Eksekusi">
            <a:extLst xmlns:a="http://schemas.openxmlformats.org/drawingml/2006/main">
              <a:ext uri="{FF2B5EF4-FFF2-40B4-BE49-F238E27FC236}">
                <a16:creationId xmlns:a16="http://schemas.microsoft.com/office/drawing/2014/main" id="{BB712818-0BDD-41E7-8E22-1485D5BA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95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Eksekusi</a:t>
            </a:r>
          </a:p>
        </p:txBody>
      </p:sp>
      <p:sp>
        <p:nvSpPr>
          <p:cNvPr id="25" name="Preflight&#10;&amp; publish">
            <a:extLst xmlns:a="http://schemas.openxmlformats.org/drawingml/2006/main">
              <a:ext uri="{FF2B5EF4-FFF2-40B4-BE49-F238E27FC236}">
                <a16:creationId xmlns:a16="http://schemas.microsoft.com/office/drawing/2014/main" id="{F345B355-C417-4355-81F6-06BFD2AE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9107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Preflight</a:t>
            </a:r>
          </a:p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&amp; publish</a:t>
            </a:r>
          </a:p>
        </p:txBody>
      </p:sp>
      <p:sp>
        <p:nvSpPr>
          <p:cNvPr id="26" name="Integrasi end-to-end masih dalam validasi.">
            <a:extLst xmlns:a="http://schemas.openxmlformats.org/drawingml/2006/main">
              <a:ext uri="{FF2B5EF4-FFF2-40B4-BE49-F238E27FC236}">
                <a16:creationId xmlns:a16="http://schemas.microsoft.com/office/drawing/2014/main" id="{92FF63F4-F34F-40A7-AD11-0FDFB196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6A15"/>
                </a:solidFill>
                <a:latin typeface="Arial"/>
                <a:ea typeface="Arial"/>
                <a:cs typeface="Arial"/>
              </a:rPr>
              <a:t>Integrasi end-to-end masih dalam validasi.</a:t>
            </a:r>
          </a:p>
        </p:txBody>
      </p:sp>
    </p:spTree>
    <p:extLst>
      <p:ext uri="{BB962C8B-B14F-4D97-AF65-F5344CB8AC3E}">
        <p14:creationId xmlns:p14="http://schemas.microsoft.com/office/powerpoint/2010/main" val="1838686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8B6B5452-0575-4B11-8D64-435E2CA1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FE14C17F-0827-431C-BC32-D3EB80CE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FONDASI DATA">
            <a:extLst xmlns:a="http://schemas.openxmlformats.org/drawingml/2006/main">
              <a:ext uri="{FF2B5EF4-FFF2-40B4-BE49-F238E27FC236}">
                <a16:creationId xmlns:a16="http://schemas.microsoft.com/office/drawing/2014/main" id="{80E703F5-28E7-4C41-9B84-DD93F786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FONDASI DATA</a:t>
            </a:r>
          </a:p>
        </p:txBody>
      </p:sp>
      <p:sp>
        <p:nvSpPr>
          <p:cNvPr id="4" name="Listing dan knowledge bisnis">
            <a:extLst xmlns:a="http://schemas.openxmlformats.org/drawingml/2006/main">
              <a:ext uri="{FF2B5EF4-FFF2-40B4-BE49-F238E27FC236}">
                <a16:creationId xmlns:a16="http://schemas.microsoft.com/office/drawing/2014/main" id="{03F3BC1F-71E3-4692-9DEC-58AB9818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Listing dan knowledge bisnis</a:t>
            </a:r>
          </a:p>
        </p:txBody>
      </p:sp>
      <p:sp>
        <p:nvSpPr>
          <p:cNvPr id="5" name="Sumber fakta&#10;untuk campaign">
            <a:extLst xmlns:a="http://schemas.openxmlformats.org/drawingml/2006/main">
              <a:ext uri="{FF2B5EF4-FFF2-40B4-BE49-F238E27FC236}">
                <a16:creationId xmlns:a16="http://schemas.microsoft.com/office/drawing/2014/main" id="{7BD1BB38-AB84-403B-A5FF-114CD748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Sumber fakta</a:t>
            </a:r>
          </a:p>
          <a:p xmlns:a="http://schemas.openxmlformats.org/drawingml/2006/main">
            <a:pPr>
              <a:defRPr sz="26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untuk campaign</a:t>
            </a:r>
          </a:p>
        </p:txBody>
      </p:sp>
      <p:sp>
        <p:nvSpPr>
          <p:cNvPr id="6" name="Harga, lokasi, dan spesifikasi properti yang aku">
            <a:extLst xmlns:a="http://schemas.openxmlformats.org/drawingml/2006/main">
              <a:ext uri="{FF2B5EF4-FFF2-40B4-BE49-F238E27FC236}">
                <a16:creationId xmlns:a16="http://schemas.microsoft.com/office/drawing/2014/main" id="{BDFC34FF-4ACA-44DE-B9AA-420A1AA3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Harga, lokasi, dan spesifikasi properti yang akurat.</a:t>
            </a:r>
          </a:p>
        </p:txBody>
      </p:sp>
      <p:sp>
        <p:nvSpPr>
          <p:cNvPr id="7" name="Hybrid retrieval menggabungkan pencarian semanti">
            <a:extLst xmlns:a="http://schemas.openxmlformats.org/drawingml/2006/main">
              <a:ext uri="{FF2B5EF4-FFF2-40B4-BE49-F238E27FC236}">
                <a16:creationId xmlns:a16="http://schemas.microsoft.com/office/drawing/2014/main" id="{072BDB1D-739A-46A0-B06E-37CEA325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Hybrid retrieval menggabungkan pencarian semantic dan keyword.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FAD8A-48F3-43D0-A64C-89D9D9AE3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597ddce954a3d"/>
          <a:stretch xmlns:a="http://schemas.openxmlformats.org/drawingml/2006/main"/>
        </p:blipFill>
        <p:spPr>
          <a:xfrm xmlns:a="http://schemas.openxmlformats.org/drawingml/2006/main">
            <a:off x="4261128" y="2667000"/>
            <a:ext cx="7308294" cy="3581400"/>
          </a:xfrm>
          <a:prstGeom xmlns:a="http://schemas.openxmlformats.org/drawingml/2006/main" prst="rect">
            <a:avLst/>
          </a:prstGeom>
        </p:spPr>
      </p:pic>
      <p:sp>
        <p:nvSpPr>
          <p:cNvPr id="9" name="Ilustrasi Property Workspace &amp; Listing Intellige">
            <a:extLst xmlns:a="http://schemas.openxmlformats.org/drawingml/2006/main">
              <a:ext uri="{FF2B5EF4-FFF2-40B4-BE49-F238E27FC236}">
                <a16:creationId xmlns:a16="http://schemas.microsoft.com/office/drawing/2014/main" id="{673C91BF-C0D7-439A-BFE2-2DE8125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Ilustrasi Property Workspace &amp; Listing Intelligence</a:t>
            </a:r>
          </a:p>
        </p:txBody>
      </p:sp>
    </p:spTree>
    <p:extLst>
      <p:ext uri="{BB962C8B-B14F-4D97-AF65-F5344CB8AC3E}">
        <p14:creationId xmlns:p14="http://schemas.microsoft.com/office/powerpoint/2010/main" val="1525363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BE31E23E-AF1C-49DB-A307-E6EFE648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E784707C-E630-48F8-B130-D371CEB9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SAMANTHA">
            <a:extLst xmlns:a="http://schemas.openxmlformats.org/drawingml/2006/main">
              <a:ext uri="{FF2B5EF4-FFF2-40B4-BE49-F238E27FC236}">
                <a16:creationId xmlns:a16="http://schemas.microsoft.com/office/drawing/2014/main" id="{347D3588-22C6-4181-8A77-125F97BB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SAMANTHA</a:t>
            </a:r>
          </a:p>
        </p:txBody>
      </p:sp>
      <p:sp>
        <p:nvSpPr>
          <p:cNvPr id="4" name="AI Campaign Strategist">
            <a:extLst xmlns:a="http://schemas.openxmlformats.org/drawingml/2006/main">
              <a:ext uri="{FF2B5EF4-FFF2-40B4-BE49-F238E27FC236}">
                <a16:creationId xmlns:a16="http://schemas.microsoft.com/office/drawing/2014/main" id="{07367083-4EA7-42A7-8116-533CDE0C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AI Campaign Strategist</a:t>
            </a:r>
          </a:p>
        </p:txBody>
      </p:sp>
      <p:sp>
        <p:nvSpPr>
          <p:cNvPr id="5" name="Draf strategi berdasarkan data listing, siap unt">
            <a:extLst xmlns:a="http://schemas.openxmlformats.org/drawingml/2006/main">
              <a:ext uri="{FF2B5EF4-FFF2-40B4-BE49-F238E27FC236}">
                <a16:creationId xmlns:a16="http://schemas.microsoft.com/office/drawing/2014/main" id="{E1FD3E5B-CC78-485F-9605-1D688B2D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Draf strategi berdasarkan data listing, siap untuk Anda tinjau.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DB623-363F-41FC-8C12-4E64F502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5238750" cy="2352675"/>
          </a:xfrm>
          <a:prstGeom xmlns:a="http://schemas.openxmlformats.org/drawingml/2006/main" prst="roundRect">
            <a:avLst>
              <a:gd name="adj" fmla="val 5668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</p:sp>
      <p:sp>
        <p:nvSpPr>
          <p:cNvPr id="7" name="INPUT">
            <a:extLst xmlns:a="http://schemas.openxmlformats.org/drawingml/2006/main">
              <a:ext uri="{FF2B5EF4-FFF2-40B4-BE49-F238E27FC236}">
                <a16:creationId xmlns:a16="http://schemas.microsoft.com/office/drawing/2014/main" id="{E4B07E8C-9336-42FA-AF55-BBD96612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Data listing&#10;Harga properti&#10;Data Meta">
            <a:extLst xmlns:a="http://schemas.openxmlformats.org/drawingml/2006/main">
              <a:ext uri="{FF2B5EF4-FFF2-40B4-BE49-F238E27FC236}">
                <a16:creationId xmlns:a16="http://schemas.microsoft.com/office/drawing/2014/main" id="{BD6DFE89-E8B3-407A-B1B8-F288AB8C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Data listing</a:t>
            </a:r>
          </a:p>
          <a:p xmlns:a="http://schemas.openxmlformats.org/drawingml/2006/main">
            <a:pPr>
              <a:defRPr sz="22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Harga properti</a:t>
            </a:r>
          </a:p>
          <a:p xmlns:a="http://schemas.openxmlformats.org/drawingml/2006/main">
            <a:pPr>
              <a:defRPr sz="22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Data Meta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1846C-52E9-41E8-87C8-DE4DF245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19475"/>
            <a:ext cx="5467350" cy="2352675"/>
          </a:xfrm>
          <a:prstGeom xmlns:a="http://schemas.openxmlformats.org/drawingml/2006/main" prst="roundRect">
            <a:avLst>
              <a:gd name="adj" fmla="val 5668"/>
            </a:avLst>
          </a:prstGeom>
          <a:solidFill xmlns:a="http://schemas.openxmlformats.org/drawingml/2006/main">
            <a:srgbClr val="E9F3ED"/>
          </a:solidFill>
          <a:ln xmlns:a="http://schemas.openxmlformats.org/drawingml/2006/main" w="0">
            <a:noFill/>
          </a:ln>
        </p:spPr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D05EE658-6F90-4E93-8527-FB2DB8FB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671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Rencana campaign&#10;Objective &amp; audiens&#10;Creative di">
            <a:extLst xmlns:a="http://schemas.openxmlformats.org/drawingml/2006/main">
              <a:ext uri="{FF2B5EF4-FFF2-40B4-BE49-F238E27FC236}">
                <a16:creationId xmlns:a16="http://schemas.microsoft.com/office/drawing/2014/main" id="{B2ADBEC9-5376-46EF-B89E-E3548CE6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4991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Rencana campaign</a:t>
            </a:r>
          </a:p>
          <a:p xmlns:a="http://schemas.openxmlformats.org/drawingml/2006/main">
            <a:pPr>
              <a:defRPr sz="21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Objective &amp; audiens</a:t>
            </a:r>
          </a:p>
          <a:p xmlns:a="http://schemas.openxmlformats.org/drawingml/2006/main">
            <a:pPr>
              <a:defRPr sz="21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Creative direction &amp; teks iklan</a:t>
            </a:r>
          </a:p>
        </p:txBody>
      </p:sp>
      <p:sp>
        <p:nvSpPr>
          <p:cNvPr id="12" name="Targeting akhir mengikuti ketersediaan dan atura">
            <a:extLst xmlns:a="http://schemas.openxmlformats.org/drawingml/2006/main">
              <a:ext uri="{FF2B5EF4-FFF2-40B4-BE49-F238E27FC236}">
                <a16:creationId xmlns:a16="http://schemas.microsoft.com/office/drawing/2014/main" id="{C60A0563-8490-4944-A202-2DC84B15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Targeting akhir mengikuti ketersediaan dan aturan Meta.</a:t>
            </a:r>
          </a:p>
        </p:txBody>
      </p:sp>
    </p:spTree>
    <p:extLst>
      <p:ext uri="{BB962C8B-B14F-4D97-AF65-F5344CB8AC3E}">
        <p14:creationId xmlns:p14="http://schemas.microsoft.com/office/powerpoint/2010/main" val="1094782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F30F9D5B-B325-4F3E-99BF-D92D729B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30F4267B-0563-4C2D-BE15-1469A343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SETUP IKLAN">
            <a:extLst xmlns:a="http://schemas.openxmlformats.org/drawingml/2006/main">
              <a:ext uri="{FF2B5EF4-FFF2-40B4-BE49-F238E27FC236}">
                <a16:creationId xmlns:a16="http://schemas.microsoft.com/office/drawing/2014/main" id="{654E51A7-DF1F-4342-8E38-60F3A0D9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SETUP IKLAN</a:t>
            </a:r>
          </a:p>
        </p:txBody>
      </p:sp>
      <p:sp>
        <p:nvSpPr>
          <p:cNvPr id="4" name="Campaign Builder">
            <a:extLst xmlns:a="http://schemas.openxmlformats.org/drawingml/2006/main">
              <a:ext uri="{FF2B5EF4-FFF2-40B4-BE49-F238E27FC236}">
                <a16:creationId xmlns:a16="http://schemas.microsoft.com/office/drawing/2014/main" id="{A9CA67C1-C195-43C6-8B6D-F762601B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Campaign Builder</a:t>
            </a:r>
          </a:p>
        </p:txBody>
      </p:sp>
      <p:sp>
        <p:nvSpPr>
          <p:cNvPr id="5" name="Strategi menjadi&#10;konfigurasi campaign">
            <a:extLst xmlns:a="http://schemas.openxmlformats.org/drawingml/2006/main">
              <a:ext uri="{FF2B5EF4-FFF2-40B4-BE49-F238E27FC236}">
                <a16:creationId xmlns:a16="http://schemas.microsoft.com/office/drawing/2014/main" id="{BE3E5A27-404A-4563-A0B7-926515AA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Strategi menjadi</a:t>
            </a:r>
          </a:p>
          <a:p xmlns:a="http://schemas.openxmlformats.org/drawingml/2006/main">
            <a:pPr>
              <a:defRPr sz="26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konfigurasi campaign</a:t>
            </a:r>
          </a:p>
        </p:txBody>
      </p:sp>
      <p:sp>
        <p:nvSpPr>
          <p:cNvPr id="6" name="Budget dan jadwal&#10;&#10;Audiens dan Page&#10;&#10;WhatsApp de">
            <a:extLst xmlns:a="http://schemas.openxmlformats.org/drawingml/2006/main">
              <a:ext uri="{FF2B5EF4-FFF2-40B4-BE49-F238E27FC236}">
                <a16:creationId xmlns:a16="http://schemas.microsoft.com/office/drawing/2014/main" id="{55B84743-5DF2-459C-823B-B89E8165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90525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Budget dan jadwal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Audiens dan 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WhatsApp destination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3D907-1035-44FC-8014-9FC3B6B4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57475"/>
            <a:ext cx="6248400" cy="339090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9CD"/>
            </a:solidFill>
          </a:ln>
        </p:spPr>
      </p:sp>
      <p:sp>
        <p:nvSpPr>
          <p:cNvPr id="8" name="KONFIGURASI CAMPAIGN">
            <a:extLst xmlns:a="http://schemas.openxmlformats.org/drawingml/2006/main">
              <a:ext uri="{FF2B5EF4-FFF2-40B4-BE49-F238E27FC236}">
                <a16:creationId xmlns:a16="http://schemas.microsoft.com/office/drawing/2014/main" id="{E391C0B3-4708-4522-8808-C4634721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860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KONFIGURASI CAMPAIGN</a:t>
            </a:r>
          </a:p>
        </p:txBody>
      </p:sp>
      <p:sp>
        <p:nvSpPr>
          <p:cNvPr id="9" name="Listing">
            <a:extLst xmlns:a="http://schemas.openxmlformats.org/drawingml/2006/main">
              <a:ext uri="{FF2B5EF4-FFF2-40B4-BE49-F238E27FC236}">
                <a16:creationId xmlns:a16="http://schemas.microsoft.com/office/drawing/2014/main" id="{4640D613-73C9-4111-87D5-AADA44C4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76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Listing</a:t>
            </a:r>
          </a:p>
        </p:txBody>
      </p:sp>
      <p:sp>
        <p:nvSpPr>
          <p:cNvPr id="10" name="Cluster Vanya Park">
            <a:extLst xmlns:a="http://schemas.openxmlformats.org/drawingml/2006/main">
              <a:ext uri="{FF2B5EF4-FFF2-40B4-BE49-F238E27FC236}">
                <a16:creationId xmlns:a16="http://schemas.microsoft.com/office/drawing/2014/main" id="{88526B83-001A-4CC0-8F4F-4358FF72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766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Cluster Vanya Park</a:t>
            </a:r>
          </a:p>
        </p:txBody>
      </p:sp>
      <p:sp>
        <p:nvSpPr>
          <p:cNvPr id="11" name="Objective">
            <a:extLst xmlns:a="http://schemas.openxmlformats.org/drawingml/2006/main">
              <a:ext uri="{FF2B5EF4-FFF2-40B4-BE49-F238E27FC236}">
                <a16:creationId xmlns:a16="http://schemas.microsoft.com/office/drawing/2014/main" id="{069FA85A-2295-491B-981F-85C461CB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57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12" name="WhatsApp Leads">
            <a:extLst xmlns:a="http://schemas.openxmlformats.org/drawingml/2006/main">
              <a:ext uri="{FF2B5EF4-FFF2-40B4-BE49-F238E27FC236}">
                <a16:creationId xmlns:a16="http://schemas.microsoft.com/office/drawing/2014/main" id="{B1F5E364-9EE5-46D2-A71B-BE065857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576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WhatsApp Leads</a:t>
            </a:r>
          </a:p>
        </p:txBody>
      </p:sp>
      <p:sp>
        <p:nvSpPr>
          <p:cNvPr id="13" name="Budget">
            <a:extLst xmlns:a="http://schemas.openxmlformats.org/drawingml/2006/main">
              <a:ext uri="{FF2B5EF4-FFF2-40B4-BE49-F238E27FC236}">
                <a16:creationId xmlns:a16="http://schemas.microsoft.com/office/drawing/2014/main" id="{86C3F7E2-1E22-4898-BB46-88831A33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386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14" name="Rp 1.000.000 / hari">
            <a:extLst xmlns:a="http://schemas.openxmlformats.org/drawingml/2006/main">
              <a:ext uri="{FF2B5EF4-FFF2-40B4-BE49-F238E27FC236}">
                <a16:creationId xmlns:a16="http://schemas.microsoft.com/office/drawing/2014/main" id="{2BC7DC88-9A64-4582-B89D-2E66989C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386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Rp 1.000.000 / hari</a:t>
            </a:r>
          </a:p>
        </p:txBody>
      </p:sp>
      <p:sp>
        <p:nvSpPr>
          <p:cNvPr id="15" name="Rekomendasi Samantha">
            <a:extLst xmlns:a="http://schemas.openxmlformats.org/drawingml/2006/main">
              <a:ext uri="{FF2B5EF4-FFF2-40B4-BE49-F238E27FC236}">
                <a16:creationId xmlns:a16="http://schemas.microsoft.com/office/drawing/2014/main" id="{D64C3F79-4D6F-4069-BA82-52DEC0F6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Rekomendasi Samantha</a:t>
            </a:r>
          </a:p>
        </p:txBody>
      </p:sp>
      <p:sp>
        <p:nvSpPr>
          <p:cNvPr id="16" name="Applied">
            <a:extLst xmlns:a="http://schemas.openxmlformats.org/drawingml/2006/main">
              <a:ext uri="{FF2B5EF4-FFF2-40B4-BE49-F238E27FC236}">
                <a16:creationId xmlns:a16="http://schemas.microsoft.com/office/drawing/2014/main" id="{64564513-C558-44C0-98F8-3410265F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2197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Applied</a:t>
            </a:r>
          </a:p>
        </p:txBody>
      </p:sp>
      <p:sp>
        <p:nvSpPr>
          <p:cNvPr id="17" name="Ilustrasi konfigurasi, bukan rekomendasi anggara">
            <a:extLst xmlns:a="http://schemas.openxmlformats.org/drawingml/2006/main">
              <a:ext uri="{FF2B5EF4-FFF2-40B4-BE49-F238E27FC236}">
                <a16:creationId xmlns:a16="http://schemas.microsoft.com/office/drawing/2014/main" id="{B2D471C5-BB87-4F22-AD54-F486EBEC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257925"/>
            <a:ext cx="624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Ilustrasi konfigurasi, bukan rekomendasi anggaran.</a:t>
            </a:r>
          </a:p>
        </p:txBody>
      </p:sp>
    </p:spTree>
    <p:extLst>
      <p:ext uri="{BB962C8B-B14F-4D97-AF65-F5344CB8AC3E}">
        <p14:creationId xmlns:p14="http://schemas.microsoft.com/office/powerpoint/2010/main" val="1464551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6AD40C52-7020-4B53-A109-5260DAC5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F749BF86-296F-44DB-8651-72AF2DA8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KAI">
            <a:extLst xmlns:a="http://schemas.openxmlformats.org/drawingml/2006/main">
              <a:ext uri="{FF2B5EF4-FFF2-40B4-BE49-F238E27FC236}">
                <a16:creationId xmlns:a16="http://schemas.microsoft.com/office/drawing/2014/main" id="{960AEBAB-509B-4E7A-9ED9-0FB94FF6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KAI</a:t>
            </a:r>
          </a:p>
        </p:txBody>
      </p:sp>
      <p:sp>
        <p:nvSpPr>
          <p:cNvPr id="4" name="Creative Producer">
            <a:extLst xmlns:a="http://schemas.openxmlformats.org/drawingml/2006/main">
              <a:ext uri="{FF2B5EF4-FFF2-40B4-BE49-F238E27FC236}">
                <a16:creationId xmlns:a16="http://schemas.microsoft.com/office/drawing/2014/main" id="{61C00045-0814-4FB2-A6D6-90AC6055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Creative Producer</a:t>
            </a:r>
          </a:p>
        </p:txBody>
      </p:sp>
      <p:sp>
        <p:nvSpPr>
          <p:cNvPr id="5" name="Satu alur produksi untuk tiga format creative.">
            <a:extLst xmlns:a="http://schemas.openxmlformats.org/drawingml/2006/main">
              <a:ext uri="{FF2B5EF4-FFF2-40B4-BE49-F238E27FC236}">
                <a16:creationId xmlns:a16="http://schemas.microsoft.com/office/drawing/2014/main" id="{A887FE5B-2DAA-48FF-94F8-41F42758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Satu alur produksi untuk tiga format creative.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C360C-6DA3-4846-9285-80D85AA2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3486150" cy="2124075"/>
          </a:xfrm>
          <a:prstGeom xmlns:a="http://schemas.openxmlformats.org/drawingml/2006/main" prst="roundRect">
            <a:avLst>
              <a:gd name="adj" fmla="val 6278"/>
            </a:avLst>
          </a:prstGeom>
          <a:solidFill xmlns:a="http://schemas.openxmlformats.org/drawingml/2006/main">
            <a:srgbClr val="F2EDF8"/>
          </a:solidFill>
          <a:ln xmlns:a="http://schemas.openxmlformats.org/drawingml/2006/main" w="0">
            <a:noFill/>
          </a:ln>
        </p:spPr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96F9E50C-BC33-4101-9174-1E238537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052C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mage Studio">
            <a:extLst xmlns:a="http://schemas.openxmlformats.org/drawingml/2006/main">
              <a:ext uri="{FF2B5EF4-FFF2-40B4-BE49-F238E27FC236}">
                <a16:creationId xmlns:a16="http://schemas.microsoft.com/office/drawing/2014/main" id="{4021A691-EF70-46F0-91FE-12CCE95B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Image Studio</a:t>
            </a:r>
          </a:p>
        </p:txBody>
      </p:sp>
      <p:sp>
        <p:nvSpPr>
          <p:cNvPr id="9" name="Gambar statis dengan layout optimal.">
            <a:extLst xmlns:a="http://schemas.openxmlformats.org/drawingml/2006/main">
              <a:ext uri="{FF2B5EF4-FFF2-40B4-BE49-F238E27FC236}">
                <a16:creationId xmlns:a16="http://schemas.microsoft.com/office/drawing/2014/main" id="{77FB0009-0012-4499-8C2A-2F0032AC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Gambar statis dengan layout optimal.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E30C5-89BA-4A29-B691-779D92FD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62325"/>
            <a:ext cx="3486150" cy="2124075"/>
          </a:xfrm>
          <a:prstGeom xmlns:a="http://schemas.openxmlformats.org/drawingml/2006/main" prst="roundRect">
            <a:avLst>
              <a:gd name="adj" fmla="val 6278"/>
            </a:avLst>
          </a:prstGeom>
          <a:solidFill xmlns:a="http://schemas.openxmlformats.org/drawingml/2006/main">
            <a:srgbClr val="EAE2F6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32E5E1BF-7BCC-429E-91D8-1AF46D33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81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052C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Video Studio">
            <a:extLst xmlns:a="http://schemas.openxmlformats.org/drawingml/2006/main">
              <a:ext uri="{FF2B5EF4-FFF2-40B4-BE49-F238E27FC236}">
                <a16:creationId xmlns:a16="http://schemas.microsoft.com/office/drawing/2014/main" id="{126298E1-5518-4EB8-8E27-B1FBEBEE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71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Video Studio</a:t>
            </a:r>
          </a:p>
        </p:txBody>
      </p:sp>
      <p:sp>
        <p:nvSpPr>
          <p:cNvPr id="13" name="Kombinasi media, teks, dan audio.">
            <a:extLst xmlns:a="http://schemas.openxmlformats.org/drawingml/2006/main">
              <a:ext uri="{FF2B5EF4-FFF2-40B4-BE49-F238E27FC236}">
                <a16:creationId xmlns:a16="http://schemas.microsoft.com/office/drawing/2014/main" id="{B3AB60BE-E177-4091-A841-9F2491FB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339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Kombinasi media, teks, dan audio.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A2BE5-285F-45A4-8D17-B52C7790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62325"/>
            <a:ext cx="3486150" cy="2124075"/>
          </a:xfrm>
          <a:prstGeom xmlns:a="http://schemas.openxmlformats.org/drawingml/2006/main" prst="roundRect">
            <a:avLst>
              <a:gd name="adj" fmla="val 6278"/>
            </a:avLst>
          </a:prstGeom>
          <a:solidFill xmlns:a="http://schemas.openxmlformats.org/drawingml/2006/main">
            <a:srgbClr val="F2EDF8"/>
          </a:solidFill>
          <a:ln xmlns:a="http://schemas.openxmlformats.org/drawingml/2006/main" w="0">
            <a:noFill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C768E02F-BE5C-47E9-9F4F-484CA1A9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052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Carousel Studio">
            <a:extLst xmlns:a="http://schemas.openxmlformats.org/drawingml/2006/main">
              <a:ext uri="{FF2B5EF4-FFF2-40B4-BE49-F238E27FC236}">
                <a16:creationId xmlns:a16="http://schemas.microsoft.com/office/drawing/2014/main" id="{87D4CA4F-8287-40D7-A763-861321E3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Carousel Studio</a:t>
            </a:r>
          </a:p>
        </p:txBody>
      </p:sp>
      <p:sp>
        <p:nvSpPr>
          <p:cNvPr id="17" name="Seri gambar untuk multi-pesan.">
            <a:extLst xmlns:a="http://schemas.openxmlformats.org/drawingml/2006/main">
              <a:ext uri="{FF2B5EF4-FFF2-40B4-BE49-F238E27FC236}">
                <a16:creationId xmlns:a16="http://schemas.microsoft.com/office/drawing/2014/main" id="{83F5C081-12A1-4A4A-98B1-19592489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339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Seri gambar untuk multi-pesan.</a:t>
            </a:r>
          </a:p>
        </p:txBody>
      </p:sp>
      <p:sp>
        <p:nvSpPr>
          <p:cNvPr id="18" name="Brief   /   Konsep   /   Storyboard   /   Genera">
            <a:extLst xmlns:a="http://schemas.openxmlformats.org/drawingml/2006/main">
              <a:ext uri="{FF2B5EF4-FFF2-40B4-BE49-F238E27FC236}">
                <a16:creationId xmlns:a16="http://schemas.microsoft.com/office/drawing/2014/main" id="{C5721661-58DF-4880-8CA4-72D6370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CA"/>
                </a:solidFill>
                <a:latin typeface="Arial"/>
                <a:ea typeface="Arial"/>
                <a:cs typeface="Arial"/>
              </a:rPr>
              <a:t>Brief   /   Konsep   /   Storyboard   /   Generate   /   Final</a:t>
            </a:r>
          </a:p>
        </p:txBody>
      </p:sp>
    </p:spTree>
    <p:extLst>
      <p:ext uri="{BB962C8B-B14F-4D97-AF65-F5344CB8AC3E}">
        <p14:creationId xmlns:p14="http://schemas.microsoft.com/office/powerpoint/2010/main" val="1953537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C1B22380-8FF9-4DDB-B4DE-D8B0EB9B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A87ABF01-C8FE-43CC-BAC9-09877F60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MANAJEMEN ASET">
            <a:extLst xmlns:a="http://schemas.openxmlformats.org/drawingml/2006/main">
              <a:ext uri="{FF2B5EF4-FFF2-40B4-BE49-F238E27FC236}">
                <a16:creationId xmlns:a16="http://schemas.microsoft.com/office/drawing/2014/main" id="{68C01B91-5F50-4A05-BD74-1FDE1C9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MANAJEMEN ASET</a:t>
            </a:r>
          </a:p>
        </p:txBody>
      </p:sp>
      <p:sp>
        <p:nvSpPr>
          <p:cNvPr id="4" name="Production Queue &amp; Library">
            <a:extLst xmlns:a="http://schemas.openxmlformats.org/drawingml/2006/main">
              <a:ext uri="{FF2B5EF4-FFF2-40B4-BE49-F238E27FC236}">
                <a16:creationId xmlns:a16="http://schemas.microsoft.com/office/drawing/2014/main" id="{15E7A852-BF8D-42E1-98E6-16247B5D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Production Queue &amp; Library</a:t>
            </a:r>
          </a:p>
        </p:txBody>
      </p:sp>
      <p:sp>
        <p:nvSpPr>
          <p:cNvPr id="5" name="Status job, hasil generasi, dan versi revisi dal">
            <a:extLst xmlns:a="http://schemas.openxmlformats.org/drawingml/2006/main">
              <a:ext uri="{FF2B5EF4-FFF2-40B4-BE49-F238E27FC236}">
                <a16:creationId xmlns:a16="http://schemas.microsoft.com/office/drawing/2014/main" id="{9EC34046-D591-4FC0-B25A-58D22929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Status job, hasil generasi, dan versi revisi dalam satu tempat.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9D95F-B62F-4186-9EFB-1CDA1658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8615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F0F0EB"/>
          </a:solidFill>
          <a:ln xmlns:a="http://schemas.openxmlformats.org/drawingml/2006/main" w="0">
            <a:noFill/>
          </a:ln>
        </p:spPr>
      </p:sp>
      <p:sp>
        <p:nvSpPr>
          <p:cNvPr id="7" name="Generating">
            <a:extLst xmlns:a="http://schemas.openxmlformats.org/drawingml/2006/main">
              <a:ext uri="{FF2B5EF4-FFF2-40B4-BE49-F238E27FC236}">
                <a16:creationId xmlns:a16="http://schemas.microsoft.com/office/drawing/2014/main" id="{733E9AD7-C455-4B2E-9886-94D55524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Generating</a:t>
            </a:r>
          </a:p>
        </p:txBody>
      </p:sp>
      <p:sp>
        <p:nvSpPr>
          <p:cNvPr id="8" name="2 job">
            <a:extLst xmlns:a="http://schemas.openxmlformats.org/drawingml/2006/main">
              <a:ext uri="{FF2B5EF4-FFF2-40B4-BE49-F238E27FC236}">
                <a16:creationId xmlns:a16="http://schemas.microsoft.com/office/drawing/2014/main" id="{22E70519-CF2E-4C99-B0C6-D334A13C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2 job</a:t>
            </a:r>
          </a:p>
        </p:txBody>
      </p:sp>
      <p:sp>
        <p:nvSpPr>
          <p:cNvPr id="9" name="Video: Promo DP">
            <a:extLst xmlns:a="http://schemas.openxmlformats.org/drawingml/2006/main">
              <a:ext uri="{FF2B5EF4-FFF2-40B4-BE49-F238E27FC236}">
                <a16:creationId xmlns:a16="http://schemas.microsoft.com/office/drawing/2014/main" id="{116E3747-E46A-447B-9D7E-EC22A97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Video: Promo DP</a:t>
            </a:r>
          </a:p>
        </p:txBody>
      </p:sp>
      <p:sp>
        <p:nvSpPr>
          <p:cNvPr id="10" name="Rendering scene 3/5…">
            <a:extLst xmlns:a="http://schemas.openxmlformats.org/drawingml/2006/main">
              <a:ext uri="{FF2B5EF4-FFF2-40B4-BE49-F238E27FC236}">
                <a16:creationId xmlns:a16="http://schemas.microsoft.com/office/drawing/2014/main" id="{3DB241B7-765E-4AA0-B1AE-B9878D16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Rendering scene 3/5…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9E016-8649-4012-A9C8-41FE2CBA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81375"/>
            <a:ext cx="348615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F0F0EB"/>
          </a:solidFill>
          <a:ln xmlns:a="http://schemas.openxmlformats.org/drawingml/2006/main" w="0">
            <a:noFill/>
          </a:ln>
        </p:spPr>
      </p:sp>
      <p:sp>
        <p:nvSpPr>
          <p:cNvPr id="12" name="Needs Review">
            <a:extLst xmlns:a="http://schemas.openxmlformats.org/drawingml/2006/main">
              <a:ext uri="{FF2B5EF4-FFF2-40B4-BE49-F238E27FC236}">
                <a16:creationId xmlns:a16="http://schemas.microsoft.com/office/drawing/2014/main" id="{2282A35B-6545-4F77-9810-36D36225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004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66A15"/>
                </a:solidFill>
                <a:latin typeface="Arial"/>
                <a:ea typeface="Arial"/>
                <a:cs typeface="Arial"/>
              </a:rPr>
              <a:t>Needs Review</a:t>
            </a:r>
          </a:p>
        </p:txBody>
      </p:sp>
      <p:sp>
        <p:nvSpPr>
          <p:cNvPr id="13" name="1 aset">
            <a:extLst xmlns:a="http://schemas.openxmlformats.org/drawingml/2006/main">
              <a:ext uri="{FF2B5EF4-FFF2-40B4-BE49-F238E27FC236}">
                <a16:creationId xmlns:a16="http://schemas.microsoft.com/office/drawing/2014/main" id="{9E16669D-9E2E-436F-8171-E59DDE2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719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1 aset</a:t>
            </a:r>
          </a:p>
        </p:txBody>
      </p:sp>
      <p:sp>
        <p:nvSpPr>
          <p:cNvPr id="14" name="Image: Eksterior">
            <a:extLst xmlns:a="http://schemas.openxmlformats.org/drawingml/2006/main">
              <a:ext uri="{FF2B5EF4-FFF2-40B4-BE49-F238E27FC236}">
                <a16:creationId xmlns:a16="http://schemas.microsoft.com/office/drawing/2014/main" id="{9B1281EE-A5B5-488A-8A26-55AB8C18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Image: Eksterior</a:t>
            </a:r>
          </a:p>
        </p:txBody>
      </p:sp>
      <p:sp>
        <p:nvSpPr>
          <p:cNvPr id="15" name="Menunggu persetujuan QA.">
            <a:extLst xmlns:a="http://schemas.openxmlformats.org/drawingml/2006/main">
              <a:ext uri="{FF2B5EF4-FFF2-40B4-BE49-F238E27FC236}">
                <a16:creationId xmlns:a16="http://schemas.microsoft.com/office/drawing/2014/main" id="{D57CE829-6E2E-4911-9619-D5FEB7BA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673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Menunggu persetujuan QA.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D2A61-A960-453B-8661-D0D87FBE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348615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F0F0EB"/>
          </a:solidFill>
          <a:ln xmlns:a="http://schemas.openxmlformats.org/drawingml/2006/main" w="0">
            <a:noFill/>
          </a:ln>
        </p:spPr>
      </p:sp>
      <p:sp>
        <p:nvSpPr>
          <p:cNvPr id="17" name="Approved">
            <a:extLst xmlns:a="http://schemas.openxmlformats.org/drawingml/2006/main">
              <a:ext uri="{FF2B5EF4-FFF2-40B4-BE49-F238E27FC236}">
                <a16:creationId xmlns:a16="http://schemas.microsoft.com/office/drawing/2014/main" id="{F0063284-2982-49F7-BABB-5D3FC896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18" name="4 aset">
            <a:extLst xmlns:a="http://schemas.openxmlformats.org/drawingml/2006/main">
              <a:ext uri="{FF2B5EF4-FFF2-40B4-BE49-F238E27FC236}">
                <a16:creationId xmlns:a16="http://schemas.microsoft.com/office/drawing/2014/main" id="{8A68A4C7-F08A-4DC3-AC3F-6E216075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4 aset</a:t>
            </a:r>
          </a:p>
        </p:txBody>
      </p:sp>
      <p:sp>
        <p:nvSpPr>
          <p:cNvPr id="19" name="Carousel: Tipe Rumah">
            <a:extLst xmlns:a="http://schemas.openxmlformats.org/drawingml/2006/main">
              <a:ext uri="{FF2B5EF4-FFF2-40B4-BE49-F238E27FC236}">
                <a16:creationId xmlns:a16="http://schemas.microsoft.com/office/drawing/2014/main" id="{6E2C6030-815E-4BB1-AA0D-6A34F6D9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Carousel: Tipe Rumah</a:t>
            </a:r>
          </a:p>
        </p:txBody>
      </p:sp>
      <p:sp>
        <p:nvSpPr>
          <p:cNvPr id="20" name="Siap untuk campaign.">
            <a:extLst xmlns:a="http://schemas.openxmlformats.org/drawingml/2006/main">
              <a:ext uri="{FF2B5EF4-FFF2-40B4-BE49-F238E27FC236}">
                <a16:creationId xmlns:a16="http://schemas.microsoft.com/office/drawing/2014/main" id="{912AE0F2-CD17-458C-9025-E6EFF67B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Siap untuk campaign.</a:t>
            </a:r>
          </a:p>
        </p:txBody>
      </p:sp>
      <p:sp>
        <p:nvSpPr>
          <p:cNvPr id="21" name="Contoh status dan jumlah aset.">
            <a:extLst xmlns:a="http://schemas.openxmlformats.org/drawingml/2006/main">
              <a:ext uri="{FF2B5EF4-FFF2-40B4-BE49-F238E27FC236}">
                <a16:creationId xmlns:a16="http://schemas.microsoft.com/office/drawing/2014/main" id="{4DC7B652-5DDE-41AC-871B-D2F9C5F4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Contoh status dan jumlah aset.</a:t>
            </a:r>
          </a:p>
        </p:txBody>
      </p:sp>
    </p:spTree>
    <p:extLst>
      <p:ext uri="{BB962C8B-B14F-4D97-AF65-F5344CB8AC3E}">
        <p14:creationId xmlns:p14="http://schemas.microsoft.com/office/powerpoint/2010/main" val="434743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CF93C17C-5EF5-4802-A60E-9067DCD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AFA43E1D-ABBA-49FB-B685-259598D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VALIDASI KUALITAS">
            <a:extLst xmlns:a="http://schemas.openxmlformats.org/drawingml/2006/main">
              <a:ext uri="{FF2B5EF4-FFF2-40B4-BE49-F238E27FC236}">
                <a16:creationId xmlns:a16="http://schemas.microsoft.com/office/drawing/2014/main" id="{61A3C623-4326-4471-82B4-ECB4A989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VALIDASI KUALITAS</a:t>
            </a:r>
          </a:p>
        </p:txBody>
      </p:sp>
      <p:sp>
        <p:nvSpPr>
          <p:cNvPr id="4" name="QA &amp; simulasi creative">
            <a:extLst xmlns:a="http://schemas.openxmlformats.org/drawingml/2006/main">
              <a:ext uri="{FF2B5EF4-FFF2-40B4-BE49-F238E27FC236}">
                <a16:creationId xmlns:a16="http://schemas.microsoft.com/office/drawing/2014/main" id="{8FA09419-B252-4EA1-84ED-31205B3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QA &amp; simulasi creative</a:t>
            </a:r>
          </a:p>
        </p:txBody>
      </p:sp>
      <p:sp>
        <p:nvSpPr>
          <p:cNvPr id="5" name="Hook, offer,&#10;CTA, dan trust">
            <a:extLst xmlns:a="http://schemas.openxmlformats.org/drawingml/2006/main">
              <a:ext uri="{FF2B5EF4-FFF2-40B4-BE49-F238E27FC236}">
                <a16:creationId xmlns:a16="http://schemas.microsoft.com/office/drawing/2014/main" id="{FB4AE7E9-56B8-4BE8-AB47-9EA2B019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Hook, offer,</a:t>
            </a:r>
          </a:p>
          <a:p xmlns:a="http://schemas.openxmlformats.org/drawingml/2006/main">
            <a:pPr>
              <a:defRPr sz="27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CTA, dan trust</a:t>
            </a:r>
          </a:p>
        </p:txBody>
      </p:sp>
      <p:sp>
        <p:nvSpPr>
          <p:cNvPr id="6" name="Fakta harga&#10;Kesesuaian brand brief&#10;Teks visual">
            <a:extLst xmlns:a="http://schemas.openxmlformats.org/drawingml/2006/main">
              <a:ext uri="{FF2B5EF4-FFF2-40B4-BE49-F238E27FC236}">
                <a16:creationId xmlns:a16="http://schemas.microsoft.com/office/drawing/2014/main" id="{4CEAD69A-833F-464D-95F1-790129A8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Fakta harga</a:t>
            </a:r>
          </a:p>
          <a:p xmlns:a="http://schemas.openxmlformats.org/drawingml/2006/main">
            <a:pPr>
              <a:defRPr sz="18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Kesesuaian brand brief</a:t>
            </a:r>
          </a:p>
          <a:p xmlns:a="http://schemas.openxmlformats.org/drawingml/2006/main">
            <a:pPr>
              <a:defRPr sz="18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Teks visual</a:t>
            </a:r>
          </a:p>
        </p:txBody>
      </p:sp>
      <p:sp>
        <p:nvSpPr>
          <p:cNvPr id="7" name="Compare Runs&#10;untuk melihat revisi">
            <a:extLst xmlns:a="http://schemas.openxmlformats.org/drawingml/2006/main">
              <a:ext uri="{FF2B5EF4-FFF2-40B4-BE49-F238E27FC236}">
                <a16:creationId xmlns:a16="http://schemas.microsoft.com/office/drawing/2014/main" id="{87869D3E-C745-4C4A-8D1F-53028ECE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52CA"/>
                </a:solidFill>
                <a:latin typeface="Arial"/>
                <a:ea typeface="Arial"/>
                <a:cs typeface="Arial"/>
              </a:rPr>
              <a:t>Compare Runs</a:t>
            </a:r>
          </a:p>
          <a:p xmlns:a="http://schemas.openxmlformats.org/drawingml/2006/main">
            <a:pPr>
              <a:defRPr sz="180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52CA"/>
                </a:solidFill>
                <a:latin typeface="Arial"/>
                <a:ea typeface="Arial"/>
                <a:cs typeface="Arial"/>
              </a:rPr>
              <a:t>untuk melihat revisi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757FF-2F52-458F-8434-B6BF53408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8559853734185"/>
          <a:stretch xmlns:a="http://schemas.openxmlformats.org/drawingml/2006/main"/>
        </p:blipFill>
        <p:spPr>
          <a:xfrm xmlns:a="http://schemas.openxmlformats.org/drawingml/2006/main">
            <a:off x="4229100" y="2718480"/>
            <a:ext cx="7353300" cy="3764189"/>
          </a:xfrm>
          <a:prstGeom xmlns:a="http://schemas.openxmlformats.org/drawingml/2006/main" prst="rect">
            <a:avLst/>
          </a:prstGeom>
        </p:spPr>
      </p:pic>
      <p:sp>
        <p:nvSpPr>
          <p:cNvPr id="9" name="Indikator kesiapan berdasarkan best practice, bu">
            <a:extLst xmlns:a="http://schemas.openxmlformats.org/drawingml/2006/main">
              <a:ext uri="{FF2B5EF4-FFF2-40B4-BE49-F238E27FC236}">
                <a16:creationId xmlns:a16="http://schemas.microsoft.com/office/drawing/2014/main" id="{E0C82601-F24B-485E-831A-6A925E51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Indikator kesiapan berdasarkan best practice, bukan jaminan hasil campaign.</a:t>
            </a:r>
          </a:p>
        </p:txBody>
      </p:sp>
    </p:spTree>
    <p:extLst>
      <p:ext uri="{BB962C8B-B14F-4D97-AF65-F5344CB8AC3E}">
        <p14:creationId xmlns:p14="http://schemas.microsoft.com/office/powerpoint/2010/main" val="14506284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203E8FF8-5104-4068-9D99-7478BBD2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1FB8B8FD-FD75-47E9-989D-E8BB8E1B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EKSEKUSI TERAKHIR">
            <a:extLst xmlns:a="http://schemas.openxmlformats.org/drawingml/2006/main">
              <a:ext uri="{FF2B5EF4-FFF2-40B4-BE49-F238E27FC236}">
                <a16:creationId xmlns:a16="http://schemas.microsoft.com/office/drawing/2014/main" id="{8925B478-E3BE-45F4-8207-2283E420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EKSEKUSI TERAKHIR</a:t>
            </a:r>
          </a:p>
        </p:txBody>
      </p:sp>
      <p:sp>
        <p:nvSpPr>
          <p:cNvPr id="4" name="Meta Preflight">
            <a:extLst xmlns:a="http://schemas.openxmlformats.org/drawingml/2006/main">
              <a:ext uri="{FF2B5EF4-FFF2-40B4-BE49-F238E27FC236}">
                <a16:creationId xmlns:a16="http://schemas.microsoft.com/office/drawing/2014/main" id="{4D13F4CE-692C-4EFD-AA6A-5D6ADA43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Meta Preflight</a:t>
            </a:r>
          </a:p>
        </p:txBody>
      </p:sp>
      <p:sp>
        <p:nvSpPr>
          <p:cNvPr id="5" name="Pengecekan kelayakan sebelum iklan diterbitkan k">
            <a:extLst xmlns:a="http://schemas.openxmlformats.org/drawingml/2006/main">
              <a:ext uri="{FF2B5EF4-FFF2-40B4-BE49-F238E27FC236}">
                <a16:creationId xmlns:a16="http://schemas.microsoft.com/office/drawing/2014/main" id="{298DFF64-375E-4393-B05A-31B2FD4C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Pengecekan kelayakan sebelum iklan diterbitkan ke Meta.</a:t>
            </a:r>
          </a:p>
        </p:txBody>
      </p:sp>
      <p:sp>
        <p:nvSpPr>
          <p:cNvPr id="6" name="Dalam&#10;validasi">
            <a:extLst xmlns:a="http://schemas.openxmlformats.org/drawingml/2006/main">
              <a:ext uri="{FF2B5EF4-FFF2-40B4-BE49-F238E27FC236}">
                <a16:creationId xmlns:a16="http://schemas.microsoft.com/office/drawing/2014/main" id="{6FE339CD-3144-47F0-80F2-1DA27B7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66A15"/>
                </a:solidFill>
                <a:latin typeface="Arial"/>
                <a:ea typeface="Arial"/>
                <a:cs typeface="Arial"/>
              </a:rPr>
              <a:t>Dalam</a:t>
            </a:r>
          </a:p>
          <a:p xmlns:a="http://schemas.openxmlformats.org/drawingml/2006/main">
            <a:pPr>
              <a:defRPr sz="3900" b="1">
                <a:solidFill>
                  <a:srgbClr val="A66A1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66A15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7" name="Policy blocker menampilkan alasan yang perlu dip">
            <a:extLst xmlns:a="http://schemas.openxmlformats.org/drawingml/2006/main">
              <a:ext uri="{FF2B5EF4-FFF2-40B4-BE49-F238E27FC236}">
                <a16:creationId xmlns:a16="http://schemas.microsoft.com/office/drawing/2014/main" id="{FDBB75B0-201F-45FA-B9A9-144B963D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Policy blocker menampilkan alasan yang perlu diperbaiki.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748F8-070F-4261-AD52-0094FC38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33750"/>
            <a:ext cx="6686550" cy="276225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6"/>
            </a:solidFill>
          </a:ln>
        </p:spPr>
      </p:sp>
      <p:sp>
        <p:nvSpPr>
          <p:cNvPr id="9" name="PREFLIGHT CHECKLIST (ILUSTRASI)">
            <a:extLst xmlns:a="http://schemas.openxmlformats.org/drawingml/2006/main">
              <a:ext uri="{FF2B5EF4-FFF2-40B4-BE49-F238E27FC236}">
                <a16:creationId xmlns:a16="http://schemas.microsoft.com/office/drawing/2014/main" id="{39003B19-02F5-4A40-9679-783DCB64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90925"/>
            <a:ext cx="615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PREFLIGHT CHECKLIST (ILUSTRASI)</a:t>
            </a:r>
          </a:p>
        </p:txBody>
      </p:sp>
      <p:sp>
        <p:nvSpPr>
          <p:cNvPr id="10" name="Account &amp; Page akses">
            <a:extLst xmlns:a="http://schemas.openxmlformats.org/drawingml/2006/main">
              <a:ext uri="{FF2B5EF4-FFF2-40B4-BE49-F238E27FC236}">
                <a16:creationId xmlns:a16="http://schemas.microsoft.com/office/drawing/2014/main" id="{F1A6FAD5-29ED-402A-B60F-53E3F1E0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33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Account &amp; Page akses</a:t>
            </a:r>
          </a:p>
        </p:txBody>
      </p:sp>
      <p:sp>
        <p:nvSpPr>
          <p:cNvPr id="11" name="Budget &amp; audience setup">
            <a:extLst xmlns:a="http://schemas.openxmlformats.org/drawingml/2006/main">
              <a:ext uri="{FF2B5EF4-FFF2-40B4-BE49-F238E27FC236}">
                <a16:creationId xmlns:a16="http://schemas.microsoft.com/office/drawing/2014/main" id="{B47CE732-54E2-4102-804B-B1FC7928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672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Budget &amp; audience setup</a:t>
            </a:r>
          </a:p>
        </p:txBody>
      </p:sp>
      <p:sp>
        <p:nvSpPr>
          <p:cNvPr id="12" name="Policy checks: tertahan">
            <a:extLst xmlns:a="http://schemas.openxmlformats.org/drawingml/2006/main">
              <a:ext uri="{FF2B5EF4-FFF2-40B4-BE49-F238E27FC236}">
                <a16:creationId xmlns:a16="http://schemas.microsoft.com/office/drawing/2014/main" id="{797EF9D2-5C87-4E84-8B47-950A1AAE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006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24C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24C41"/>
                </a:solidFill>
                <a:latin typeface="Arial"/>
                <a:ea typeface="Arial"/>
                <a:cs typeface="Arial"/>
              </a:rPr>
              <a:t>Policy checks: tertahan</a:t>
            </a:r>
          </a:p>
        </p:txBody>
      </p:sp>
      <p:sp>
        <p:nvSpPr>
          <p:cNvPr id="13" name="Gambar memuat tombol palsu.">
            <a:extLst xmlns:a="http://schemas.openxmlformats.org/drawingml/2006/main">
              <a:ext uri="{FF2B5EF4-FFF2-40B4-BE49-F238E27FC236}">
                <a16:creationId xmlns:a16="http://schemas.microsoft.com/office/drawing/2014/main" id="{C6A20F43-56F5-4976-B92B-0A03AD01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197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Gambar memuat tombol palsu.</a:t>
            </a:r>
          </a:p>
        </p:txBody>
      </p:sp>
    </p:spTree>
    <p:extLst>
      <p:ext uri="{BB962C8B-B14F-4D97-AF65-F5344CB8AC3E}">
        <p14:creationId xmlns:p14="http://schemas.microsoft.com/office/powerpoint/2010/main" val="7936769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284625E2-4B7C-400B-9AC0-78A6ACA8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8299DB44-924C-4210-A356-AF2B6F9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COPILOT &amp; PERSETUJUAN">
            <a:extLst xmlns:a="http://schemas.openxmlformats.org/drawingml/2006/main">
              <a:ext uri="{FF2B5EF4-FFF2-40B4-BE49-F238E27FC236}">
                <a16:creationId xmlns:a16="http://schemas.microsoft.com/office/drawing/2014/main" id="{B5233BB6-9CF8-423E-B88D-71AD4434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COPILOT &amp; PERSETUJUAN</a:t>
            </a:r>
          </a:p>
        </p:txBody>
      </p:sp>
      <p:sp>
        <p:nvSpPr>
          <p:cNvPr id="4" name="Anda memegang kendali">
            <a:extLst xmlns:a="http://schemas.openxmlformats.org/drawingml/2006/main">
              <a:ext uri="{FF2B5EF4-FFF2-40B4-BE49-F238E27FC236}">
                <a16:creationId xmlns:a16="http://schemas.microsoft.com/office/drawing/2014/main" id="{9A667D04-C91C-4D34-9532-2CED9E66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Anda memegang kendali</a:t>
            </a:r>
          </a:p>
        </p:txBody>
      </p:sp>
      <p:sp>
        <p:nvSpPr>
          <p:cNvPr id="5" name="Samantha memberi&#10;rekomendasi.&#10;Anda memutuskan.">
            <a:extLst xmlns:a="http://schemas.openxmlformats.org/drawingml/2006/main">
              <a:ext uri="{FF2B5EF4-FFF2-40B4-BE49-F238E27FC236}">
                <a16:creationId xmlns:a16="http://schemas.microsoft.com/office/drawing/2014/main" id="{04C2A84D-535B-42F9-9EBC-BC5E721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667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Samantha memberi</a:t>
            </a:r>
          </a:p>
          <a:p xmlns:a="http://schemas.openxmlformats.org/drawingml/2006/main">
            <a:pPr>
              <a:defRPr sz="26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rekomendasi.</a:t>
            </a:r>
          </a:p>
          <a:p xmlns:a="http://schemas.openxmlformats.org/drawingml/2006/main">
            <a:pPr>
              <a:defRPr sz="26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Anda memutuskan.</a:t>
            </a:r>
          </a:p>
        </p:txBody>
      </p:sp>
      <p:sp>
        <p:nvSpPr>
          <p:cNvPr id="6" name="Tinjau alasan scale budget&#10;&#10;Pause creative yang ">
            <a:extLst xmlns:a="http://schemas.openxmlformats.org/drawingml/2006/main">
              <a:ext uri="{FF2B5EF4-FFF2-40B4-BE49-F238E27FC236}">
                <a16:creationId xmlns:a16="http://schemas.microsoft.com/office/drawing/2014/main" id="{1328AB6A-21DE-4BFF-BA8E-10E596CC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6671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Tinjau alasan scale budget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Pause creative yang jenuh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Minta variasi baru ke Kai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32350-85C7-4D3E-B217-C101A23071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326df6aa24c19"/>
          <a:stretch xmlns:a="http://schemas.openxmlformats.org/drawingml/2006/main"/>
        </p:blipFill>
        <p:spPr>
          <a:xfrm xmlns:a="http://schemas.openxmlformats.org/drawingml/2006/main">
            <a:off x="4457700" y="2820987"/>
            <a:ext cx="7124700" cy="3492500"/>
          </a:xfrm>
          <a:prstGeom xmlns:a="http://schemas.openxmlformats.org/drawingml/2006/main" prst="rect">
            <a:avLst/>
          </a:prstGeom>
        </p:spPr>
      </p:pic>
      <p:sp>
        <p:nvSpPr>
          <p:cNvPr id="8" name="Ilustrasi Samantha Decision Queue &amp; Copilot">
            <a:extLst xmlns:a="http://schemas.openxmlformats.org/drawingml/2006/main">
              <a:ext uri="{FF2B5EF4-FFF2-40B4-BE49-F238E27FC236}">
                <a16:creationId xmlns:a16="http://schemas.microsoft.com/office/drawing/2014/main" id="{656DF604-E7BF-498B-BB6A-202D7C8D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67475"/>
            <a:ext cx="712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Ilustrasi Samantha Decision Queue &amp; Copilot</a:t>
            </a:r>
          </a:p>
        </p:txBody>
      </p:sp>
    </p:spTree>
    <p:extLst>
      <p:ext uri="{BB962C8B-B14F-4D97-AF65-F5344CB8AC3E}">
        <p14:creationId xmlns:p14="http://schemas.microsoft.com/office/powerpoint/2010/main" val="4784288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1CBBE1F8-86C4-4CC9-9B46-95633FB3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EB0631B1-BC46-4B9F-B31C-F8E2CD07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KEBIJAKAN OPTIMASI">
            <a:extLst xmlns:a="http://schemas.openxmlformats.org/drawingml/2006/main">
              <a:ext uri="{FF2B5EF4-FFF2-40B4-BE49-F238E27FC236}">
                <a16:creationId xmlns:a16="http://schemas.microsoft.com/office/drawing/2014/main" id="{C83E6ACC-2621-4F7C-A585-105D5BB8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KEBIJAKAN OPTIMASI</a:t>
            </a:r>
          </a:p>
        </p:txBody>
      </p:sp>
      <p:sp>
        <p:nvSpPr>
          <p:cNvPr id="4" name="Growth Settings &amp; Guardrails">
            <a:extLst xmlns:a="http://schemas.openxmlformats.org/drawingml/2006/main">
              <a:ext uri="{FF2B5EF4-FFF2-40B4-BE49-F238E27FC236}">
                <a16:creationId xmlns:a16="http://schemas.microsoft.com/office/drawing/2014/main" id="{5E3B9A82-F3DB-4FF0-8D1B-8597E6E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Growth Settings &amp; Guardrails</a:t>
            </a:r>
          </a:p>
        </p:txBody>
      </p:sp>
      <p:sp>
        <p:nvSpPr>
          <p:cNvPr id="5" name="Copilot Mode">
            <a:extLst xmlns:a="http://schemas.openxmlformats.org/drawingml/2006/main">
              <a:ext uri="{FF2B5EF4-FFF2-40B4-BE49-F238E27FC236}">
                <a16:creationId xmlns:a16="http://schemas.microsoft.com/office/drawing/2014/main" id="{31CBB0C6-3DD8-48CF-B206-ABD361AE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Copilot Mode</a:t>
            </a:r>
          </a:p>
        </p:txBody>
      </p:sp>
      <p:sp>
        <p:nvSpPr>
          <p:cNvPr id="6" name="Semua tindakan membutuhkan persetujuan manusia.">
            <a:extLst xmlns:a="http://schemas.openxmlformats.org/drawingml/2006/main">
              <a:ext uri="{FF2B5EF4-FFF2-40B4-BE49-F238E27FC236}">
                <a16:creationId xmlns:a16="http://schemas.microsoft.com/office/drawing/2014/main" id="{1FDF82B7-EA1F-4078-BA4F-D506C452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Semua tindakan membutuhkan persetujuan manusia.</a:t>
            </a:r>
          </a:p>
        </p:txBody>
      </p:sp>
      <p:sp>
        <p:nvSpPr>
          <p:cNvPr id="7" name="Autonomous Direction">
            <a:extLst xmlns:a="http://schemas.openxmlformats.org/drawingml/2006/main">
              <a:ext uri="{FF2B5EF4-FFF2-40B4-BE49-F238E27FC236}">
                <a16:creationId xmlns:a16="http://schemas.microsoft.com/office/drawing/2014/main" id="{0D35EF5A-D234-4AF9-9F09-92601699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76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Autonomous Direction</a:t>
            </a:r>
          </a:p>
        </p:txBody>
      </p:sp>
      <p:sp>
        <p:nvSpPr>
          <p:cNvPr id="8" name="Tindakan otomatis dalam batas kebijakan, setelah">
            <a:extLst xmlns:a="http://schemas.openxmlformats.org/drawingml/2006/main">
              <a:ext uri="{FF2B5EF4-FFF2-40B4-BE49-F238E27FC236}">
                <a16:creationId xmlns:a16="http://schemas.microsoft.com/office/drawing/2014/main" id="{F6A1D5DD-7FFA-4BF9-A07A-E46D8ACA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Tindakan otomatis dalam batas kebijakan, setelah tervalidasi.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63A90-D686-4483-A8BA-DAD92A60AF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1c5fc98174837"/>
          <a:stretch xmlns:a="http://schemas.openxmlformats.org/drawingml/2006/main"/>
        </p:blipFill>
        <p:spPr>
          <a:xfrm xmlns:a="http://schemas.openxmlformats.org/drawingml/2006/main">
            <a:off x="4448175" y="2783462"/>
            <a:ext cx="7134225" cy="3529451"/>
          </a:xfrm>
          <a:prstGeom xmlns:a="http://schemas.openxmlformats.org/drawingml/2006/main" prst="rect">
            <a:avLst/>
          </a:prstGeom>
        </p:spPr>
      </p:pic>
      <p:sp>
        <p:nvSpPr>
          <p:cNvPr id="10" name="Optimasi berdasarkan kualitas leads memerlukan i">
            <a:extLst xmlns:a="http://schemas.openxmlformats.org/drawingml/2006/main">
              <a:ext uri="{FF2B5EF4-FFF2-40B4-BE49-F238E27FC236}">
                <a16:creationId xmlns:a16="http://schemas.microsoft.com/office/drawing/2014/main" id="{933412BE-C353-4A87-B518-0D32A581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5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Optimasi berdasarkan kualitas leads memerlukan integrasi data CRM.</a:t>
            </a:r>
          </a:p>
        </p:txBody>
      </p:sp>
    </p:spTree>
    <p:extLst>
      <p:ext uri="{BB962C8B-B14F-4D97-AF65-F5344CB8AC3E}">
        <p14:creationId xmlns:p14="http://schemas.microsoft.com/office/powerpoint/2010/main" val="11964305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2631C676-2A54-4E47-AE9B-1AB4DAD2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6465A80A-153D-459F-A808-E47D8019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CONTOH ALUR">
            <a:extLst xmlns:a="http://schemas.openxmlformats.org/drawingml/2006/main">
              <a:ext uri="{FF2B5EF4-FFF2-40B4-BE49-F238E27FC236}">
                <a16:creationId xmlns:a16="http://schemas.microsoft.com/office/drawing/2014/main" id="{F5762726-113D-4232-BA41-B256F3B3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CONTOH ALUR</a:t>
            </a:r>
          </a:p>
        </p:txBody>
      </p:sp>
      <p:sp>
        <p:nvSpPr>
          <p:cNvPr id="4" name="Satu listing, satu alur kerja">
            <a:extLst xmlns:a="http://schemas.openxmlformats.org/drawingml/2006/main">
              <a:ext uri="{FF2B5EF4-FFF2-40B4-BE49-F238E27FC236}">
                <a16:creationId xmlns:a16="http://schemas.microsoft.com/office/drawing/2014/main" id="{20D279F3-A30A-4283-A29F-6E31DF24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Satu listing, satu alur kerja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EECC01B-F552-4CCC-A903-5B60A3E1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Listing &amp; price list masuk">
            <a:extLst xmlns:a="http://schemas.openxmlformats.org/drawingml/2006/main">
              <a:ext uri="{FF2B5EF4-FFF2-40B4-BE49-F238E27FC236}">
                <a16:creationId xmlns:a16="http://schemas.microsoft.com/office/drawing/2014/main" id="{EA43FE07-7912-4E82-A7C3-CBAA96D4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3686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1"/>
                </a:solidFill>
                <a:latin typeface="Arial"/>
                <a:ea typeface="Arial"/>
                <a:cs typeface="Arial"/>
              </a:rPr>
              <a:t>Listing &amp; price list masuk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AC6C16B-9837-4827-BFE1-D09F71E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amantha menyusun strategi">
            <a:extLst xmlns:a="http://schemas.openxmlformats.org/drawingml/2006/main">
              <a:ext uri="{FF2B5EF4-FFF2-40B4-BE49-F238E27FC236}">
                <a16:creationId xmlns:a16="http://schemas.microsoft.com/office/drawing/2014/main" id="{A84BE800-7E7F-4AFB-AF10-EF5F991F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3686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521"/>
                </a:solidFill>
                <a:latin typeface="Arial"/>
                <a:ea typeface="Arial"/>
                <a:cs typeface="Arial"/>
              </a:rPr>
              <a:t>Samantha menyusun strategi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3DAE6428-3DDB-4E66-8607-083F55BA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052C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52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Kai menghasilkan konsep visual">
            <a:extLst xmlns:a="http://schemas.openxmlformats.org/drawingml/2006/main">
              <a:ext uri="{FF2B5EF4-FFF2-40B4-BE49-F238E27FC236}">
                <a16:creationId xmlns:a16="http://schemas.microsoft.com/office/drawing/2014/main" id="{B8BB7002-B89F-4650-9D3A-292FA9AA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91000"/>
            <a:ext cx="3686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521"/>
                </a:solidFill>
                <a:latin typeface="Arial"/>
                <a:ea typeface="Arial"/>
                <a:cs typeface="Arial"/>
              </a:rPr>
              <a:t>Kai menghasilkan konsep visual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D086F22C-810A-4F0A-88CF-9CD616DA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QA &amp; campaign ditinjau">
            <a:extLst xmlns:a="http://schemas.openxmlformats.org/drawingml/2006/main">
              <a:ext uri="{FF2B5EF4-FFF2-40B4-BE49-F238E27FC236}">
                <a16:creationId xmlns:a16="http://schemas.microsoft.com/office/drawing/2014/main" id="{33387524-F682-47A3-9B44-BA1ACFCF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3686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521"/>
                </a:solidFill>
                <a:latin typeface="Arial"/>
                <a:ea typeface="Arial"/>
                <a:cs typeface="Arial"/>
              </a:rPr>
              <a:t>QA &amp; campaign ditinjau</a:t>
            </a:r>
          </a:p>
        </p:txBody>
      </p:sp>
      <p:sp>
        <p:nvSpPr>
          <p:cNvPr id="13" name="05">
            <a:extLst xmlns:a="http://schemas.openxmlformats.org/drawingml/2006/main">
              <a:ext uri="{FF2B5EF4-FFF2-40B4-BE49-F238E27FC236}">
                <a16:creationId xmlns:a16="http://schemas.microsoft.com/office/drawing/2014/main" id="{9ACC9768-925F-412E-AE86-1B0FB6C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F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Evaluasi &amp; pelacakan output">
            <a:extLst xmlns:a="http://schemas.openxmlformats.org/drawingml/2006/main">
              <a:ext uri="{FF2B5EF4-FFF2-40B4-BE49-F238E27FC236}">
                <a16:creationId xmlns:a16="http://schemas.microsoft.com/office/drawing/2014/main" id="{851213F9-41E6-492A-805F-8E01CCAD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24500"/>
            <a:ext cx="3686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5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521"/>
                </a:solidFill>
                <a:latin typeface="Arial"/>
                <a:ea typeface="Arial"/>
                <a:cs typeface="Arial"/>
              </a:rPr>
              <a:t>Evaluasi &amp; pelacakan output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107DD-9016-4172-963D-2A55B42E28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f00925e6449e2"/>
          <a:stretch xmlns:a="http://schemas.openxmlformats.org/drawingml/2006/main"/>
        </p:blipFill>
        <p:spPr>
          <a:xfrm xmlns:a="http://schemas.openxmlformats.org/drawingml/2006/main">
            <a:off x="5305425" y="3154854"/>
            <a:ext cx="6276975" cy="2681893"/>
          </a:xfrm>
          <a:prstGeom xmlns:a="http://schemas.openxmlformats.org/drawingml/2006/main" prst="rect">
            <a:avLst/>
          </a:prstGeom>
        </p:spPr>
      </p:pic>
      <p:sp>
        <p:nvSpPr>
          <p:cNvPr id="16" name="Ilustrasi Performa Campaign &amp; Portfolio Health">
            <a:extLst xmlns:a="http://schemas.openxmlformats.org/drawingml/2006/main">
              <a:ext uri="{FF2B5EF4-FFF2-40B4-BE49-F238E27FC236}">
                <a16:creationId xmlns:a16="http://schemas.microsoft.com/office/drawing/2014/main" id="{E7EA2B43-8C45-4D13-9B4D-9D9A05E0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38900"/>
            <a:ext cx="627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4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46F"/>
                </a:solidFill>
                <a:latin typeface="Arial"/>
                <a:ea typeface="Arial"/>
                <a:cs typeface="Arial"/>
              </a:rPr>
              <a:t>Ilustrasi Performa Campaign &amp; Portfolio Health</a:t>
            </a:r>
          </a:p>
        </p:txBody>
      </p:sp>
    </p:spTree>
    <p:extLst>
      <p:ext uri="{BB962C8B-B14F-4D97-AF65-F5344CB8AC3E}">
        <p14:creationId xmlns:p14="http://schemas.microsoft.com/office/powerpoint/2010/main" val="10644254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3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AC0B4BEE-CADE-46EF-999A-8D686362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D3E9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D3E9D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9DE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AA4ED7C7-279C-43E4-AF9C-40151A33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7C7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7C7B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C7B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STATUS PRODUK">
            <a:extLst xmlns:a="http://schemas.openxmlformats.org/drawingml/2006/main">
              <a:ext uri="{FF2B5EF4-FFF2-40B4-BE49-F238E27FC236}">
                <a16:creationId xmlns:a16="http://schemas.microsoft.com/office/drawing/2014/main" id="{1B2246C4-1511-44F4-8518-46EAD237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>
                <a:solidFill>
                  <a:srgbClr val="8CD6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CD6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D6B7"/>
                </a:solidFill>
                <a:latin typeface="Arial"/>
                <a:ea typeface="Arial"/>
                <a:cs typeface="Arial"/>
              </a:rPr>
              <a:t>STATUS PRODUK</a:t>
            </a:r>
          </a:p>
        </p:txBody>
      </p:sp>
      <p:sp>
        <p:nvSpPr>
          <p:cNvPr id="4" name="Mulai dari satu listing&#10;dan satu campaign">
            <a:extLst xmlns:a="http://schemas.openxmlformats.org/drawingml/2006/main">
              <a:ext uri="{FF2B5EF4-FFF2-40B4-BE49-F238E27FC236}">
                <a16:creationId xmlns:a16="http://schemas.microsoft.com/office/drawing/2014/main" id="{9BFBC810-0FC5-4701-B498-3D2B7F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Mulai dari satu listing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dan satu campaign</a:t>
            </a:r>
          </a:p>
        </p:txBody>
      </p:sp>
      <p:sp>
        <p:nvSpPr>
          <p:cNvPr id="5" name="Strategi, creative, dan optimasi iklan properti ">
            <a:extLst xmlns:a="http://schemas.openxmlformats.org/drawingml/2006/main">
              <a:ext uri="{FF2B5EF4-FFF2-40B4-BE49-F238E27FC236}">
                <a16:creationId xmlns:a16="http://schemas.microsoft.com/office/drawing/2014/main" id="{51D2541B-4961-4BC3-B65E-DE6C1475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D1E1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1E1D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E1D9"/>
                </a:solidFill>
                <a:latin typeface="Arial"/>
                <a:ea typeface="Arial"/>
                <a:cs typeface="Arial"/>
              </a:rPr>
              <a:t>Strategi, creative, dan optimasi iklan properti dalam satu platform.</a:t>
            </a:r>
          </a:p>
        </p:txBody>
      </p:sp>
      <p:sp>
        <p:nvSpPr>
          <p:cNvPr id="6" name="Didemonstrasikan">
            <a:extLst xmlns:a="http://schemas.openxmlformats.org/drawingml/2006/main">
              <a:ext uri="{FF2B5EF4-FFF2-40B4-BE49-F238E27FC236}">
                <a16:creationId xmlns:a16="http://schemas.microsoft.com/office/drawing/2014/main" id="{3576323A-4429-4EAD-8999-4732227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B5E3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B5E3C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5E3CB"/>
                </a:solidFill>
                <a:latin typeface="Arial"/>
                <a:ea typeface="Arial"/>
                <a:cs typeface="Arial"/>
              </a:rPr>
              <a:t>Didemonstrasikan</a:t>
            </a:r>
          </a:p>
        </p:txBody>
      </p:sp>
      <p:sp>
        <p:nvSpPr>
          <p:cNvPr id="7" name="Samantha Strategist&#10;Kai Creative Flow">
            <a:extLst xmlns:a="http://schemas.openxmlformats.org/drawingml/2006/main">
              <a:ext uri="{FF2B5EF4-FFF2-40B4-BE49-F238E27FC236}">
                <a16:creationId xmlns:a16="http://schemas.microsoft.com/office/drawing/2014/main" id="{A2B5DFF4-7A57-4329-97E3-3042A535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476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Samantha Strategist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Kai Creative Flow</a:t>
            </a:r>
          </a:p>
        </p:txBody>
      </p:sp>
      <p:sp>
        <p:nvSpPr>
          <p:cNvPr id="8" name="Dalam validasi">
            <a:extLst xmlns:a="http://schemas.openxmlformats.org/drawingml/2006/main">
              <a:ext uri="{FF2B5EF4-FFF2-40B4-BE49-F238E27FC236}">
                <a16:creationId xmlns:a16="http://schemas.microsoft.com/office/drawing/2014/main" id="{0992CCEC-796F-4E2C-877F-D5766BA4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338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D1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1D19C"/>
                </a:solidFill>
                <a:latin typeface="Arial"/>
                <a:ea typeface="Arial"/>
                <a:cs typeface="Arial"/>
              </a:rPr>
              <a:t>Dalam validasi</a:t>
            </a:r>
          </a:p>
        </p:txBody>
      </p:sp>
      <p:sp>
        <p:nvSpPr>
          <p:cNvPr id="9" name="Publish end-to-end Meta&#10;Autonomous Direction">
            <a:extLst xmlns:a="http://schemas.openxmlformats.org/drawingml/2006/main">
              <a:ext uri="{FF2B5EF4-FFF2-40B4-BE49-F238E27FC236}">
                <a16:creationId xmlns:a16="http://schemas.microsoft.com/office/drawing/2014/main" id="{1ADCFCD3-60EB-4F7F-BB5F-5AB280F8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72000"/>
            <a:ext cx="3476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 end-to-end Meta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Autonomous Direction</a:t>
            </a:r>
          </a:p>
        </p:txBody>
      </p:sp>
      <p:sp>
        <p:nvSpPr>
          <p:cNvPr id="10" name="Roadmap / next">
            <a:extLst xmlns:a="http://schemas.openxmlformats.org/drawingml/2006/main">
              <a:ext uri="{FF2B5EF4-FFF2-40B4-BE49-F238E27FC236}">
                <a16:creationId xmlns:a16="http://schemas.microsoft.com/office/drawing/2014/main" id="{82F8F6EC-7365-4F15-80CD-1DB4EBE1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338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FBD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FBDEA"/>
                </a:solidFill>
                <a:latin typeface="Arial"/>
                <a:ea typeface="Arial"/>
                <a:cs typeface="Arial"/>
              </a:rPr>
              <a:t>Roadmap / next</a:t>
            </a:r>
          </a:p>
        </p:txBody>
      </p:sp>
      <p:sp>
        <p:nvSpPr>
          <p:cNvPr id="11" name="Integrasi CRM penuh&#10;Aturan scaling lanjut">
            <a:extLst xmlns:a="http://schemas.openxmlformats.org/drawingml/2006/main">
              <a:ext uri="{FF2B5EF4-FFF2-40B4-BE49-F238E27FC236}">
                <a16:creationId xmlns:a16="http://schemas.microsoft.com/office/drawing/2014/main" id="{8D6F4014-8A27-4686-B1AA-3E1A10ED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72000"/>
            <a:ext cx="3476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Integrasi CRM penuh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Aturan scaling lanjut</a:t>
            </a:r>
          </a:p>
        </p:txBody>
      </p:sp>
    </p:spTree>
    <p:extLst>
      <p:ext uri="{BB962C8B-B14F-4D97-AF65-F5344CB8AC3E}">
        <p14:creationId xmlns:p14="http://schemas.microsoft.com/office/powerpoint/2010/main" val="2014889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2026-10-19T10:17:32.6330000Z</dcterms:created>
  <dcterms:modified xsi:type="dcterms:W3CDTF">2026-10-19T10:17:32.6330000Z</dcterms:modified>
</coreProperties>
</file>